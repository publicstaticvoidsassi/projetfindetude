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JetBrains Mono"/>
              </a:defRPr>
            </a:pPr>
            <a:r>
              <a:t>PROJET DE FIN D'ÉTUDES — SOUTENANCE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JetBrains Mono"/>
              </a:defRPr>
            </a:pPr>
            <a:r>
              <a:t>Conception et réalisation d'un module CRM pour la plateforme UniFlow-Suite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JetBrains Mono"/>
              </a:defRPr>
            </a:pPr>
            <a:r>
              <a:t>Une solution SaaS de gestion de la relation client, hébergée en Algérie et intégrée à l'écosystème logiciel d'ITComp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Présenté par: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Aimen Sassi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Encadreur: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Mr Farouk Belhoucine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Promotrice: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Mme Faiza Allaoua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Organisme d'accueil: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ITComp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Année: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2563EB"/>
                </a:solidFill>
                <a:latin typeface="JetBrains Mono"/>
              </a:rPr>
              <a:t>01  </a:t>
            </a:r>
            <a:r>
              <a:rPr b="1" sz="2200">
                <a:solidFill>
                  <a:srgbClr val="111827"/>
                </a:solidFill>
                <a:latin typeface="JetBrains Mono"/>
              </a:rPr>
              <a:t>Étude préalable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Contexte, problématique, objectifs, périmètre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1031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2563EB"/>
                </a:solidFill>
                <a:latin typeface="JetBrains Mono"/>
              </a:rPr>
              <a:t>02  </a:t>
            </a:r>
            <a:r>
              <a:rPr b="1" sz="2200">
                <a:solidFill>
                  <a:srgbClr val="111827"/>
                </a:solidFill>
                <a:latin typeface="JetBrains Mono"/>
              </a:rPr>
              <a:t>Analyse des besoins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Méthodologie UP, acteurs, processus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2563EB"/>
                </a:solidFill>
                <a:latin typeface="JetBrains Mono"/>
              </a:rPr>
              <a:t>03  </a:t>
            </a:r>
            <a:r>
              <a:rPr b="1" sz="2200">
                <a:solidFill>
                  <a:srgbClr val="111827"/>
                </a:solidFill>
                <a:latin typeface="JetBrains Mono"/>
              </a:rPr>
              <a:t>Conception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Dictionnaire de données, modèle du domaine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747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2563EB"/>
                </a:solidFill>
                <a:latin typeface="JetBrains Mono"/>
              </a:rPr>
              <a:t>04  </a:t>
            </a:r>
            <a:r>
              <a:rPr b="1" sz="2200">
                <a:solidFill>
                  <a:srgbClr val="111827"/>
                </a:solidFill>
                <a:latin typeface="JetBrains Mono"/>
              </a:rPr>
              <a:t>Réalisation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Architecture, implémentation, application livrée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5120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3154680"/>
            <a:ext cx="5120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Étude préalable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Contexte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Présentation de l'organisme d'accueil ITComp et intégration à la plateforme UniFlow-Suite.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Problématique : </a:t>
            </a:r>
            <a:r>
              <a:rPr sz="1600">
                <a:solidFill>
                  <a:srgbClr val="94A3B8"/>
                </a:solidFill>
                <a:latin typeface="JetBrains Mono"/>
              </a:rPr>
              <a:t>Fragmentation des données clients et inefficacité des processus commerciaux manuels.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Objectifs : </a:t>
            </a:r>
            <a:r>
              <a:rPr sz="1600">
                <a:solidFill>
                  <a:srgbClr val="94A3B8"/>
                </a:solidFill>
                <a:latin typeface="JetBrains Mono"/>
              </a:rPr>
              <a:t>Déploiement d'une solution SaaS CRM centralisée et hébergée en Algérie.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Périmètre : </a:t>
            </a:r>
            <a:r>
              <a:rPr sz="1600">
                <a:solidFill>
                  <a:srgbClr val="94A3B8"/>
                </a:solidFill>
                <a:latin typeface="JetBrains Mono"/>
              </a:rPr>
              <a:t>Délimitation des fonctionnalités clés couvertes par le projet.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ÉTUDE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L'organisme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JetBrains Mono"/>
              </a:defRPr>
            </a:pPr>
            <a:r>
              <a:t>ITComp est une société de services informatiques algérienne. Son offre s'articule autour de quatre métiers.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2563EB"/>
                </a:solidFill>
                <a:latin typeface="JetBrains Mono"/>
              </a:rPr>
              <a:t>01  </a:t>
            </a:r>
            <a:r>
              <a:rPr sz="1700">
                <a:solidFill>
                  <a:srgbClr val="111827"/>
                </a:solidFill>
                <a:latin typeface="JetBrains Mono"/>
              </a:rPr>
              <a:t>Conseil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563EB"/>
                </a:solidFill>
                <a:latin typeface="JetBrains Mono"/>
              </a:rPr>
              <a:t>02  </a:t>
            </a:r>
            <a:r>
              <a:rPr sz="1700">
                <a:solidFill>
                  <a:srgbClr val="111827"/>
                </a:solidFill>
                <a:latin typeface="JetBrains Mono"/>
              </a:rPr>
              <a:t>Formation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563EB"/>
                </a:solidFill>
                <a:latin typeface="JetBrains Mono"/>
              </a:rPr>
              <a:t>03  </a:t>
            </a:r>
            <a:r>
              <a:rPr sz="1700">
                <a:solidFill>
                  <a:srgbClr val="111827"/>
                </a:solidFill>
                <a:latin typeface="JetBrains Mono"/>
              </a:rPr>
              <a:t>Développement et intégration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563EB"/>
                </a:solidFill>
                <a:latin typeface="JetBrains Mono"/>
              </a:rPr>
              <a:t>04  </a:t>
            </a:r>
            <a:r>
              <a:rPr sz="1700">
                <a:solidFill>
                  <a:srgbClr val="111827"/>
                </a:solidFill>
                <a:latin typeface="JetBrains Mono"/>
              </a:rPr>
              <a:t>Assistance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212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RESPONSABLES HIÉRARCHIQUES</a:t>
            </a:r>
          </a:p>
          <a:p>
            <a:pPr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Bachir Mihoubi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Directeur Général</a:t>
            </a:r>
          </a:p>
          <a:p>
            <a:pPr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Lazhar Guendouz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Directeur Commercial — utilisateur final du CRM</a:t>
            </a:r>
          </a:p>
          <a:p>
            <a:pPr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Rachid Kaci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Directeur Technique — encadrement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  <a:r>
              <a:t>Source : Mémoire, chapitre 2, « Qui sommes-nous ? » et organigramme général.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ÉTUDE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JetBrains Mono"/>
              </a:defRPr>
            </a:pPr>
            <a:r>
              <a:t>L'information client est dispersée entre papier, fichiers Excel et échanges informels. Aucun outil transverse ne pilote la relation commerciale.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19659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01</a:t>
            </a:r>
          </a:p>
          <a:p>
            <a:pPr>
              <a:defRPr sz="1250">
                <a:solidFill>
                  <a:srgbClr val="111827"/>
                </a:solidFill>
                <a:latin typeface="JetBrains Mono"/>
              </a:defRPr>
            </a:pPr>
            <a:r>
              <a:t>Dispersion des informations sur des supports hétérogènes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16936" y="2834640"/>
            <a:ext cx="19659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6936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02</a:t>
            </a:r>
          </a:p>
          <a:p>
            <a:pPr>
              <a:defRPr sz="1250">
                <a:solidFill>
                  <a:srgbClr val="111827"/>
                </a:solidFill>
                <a:latin typeface="JetBrains Mono"/>
              </a:defRPr>
            </a:pPr>
            <a:r>
              <a:t>Partage difficile entre commerciaux et intervenants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2352" y="2834640"/>
            <a:ext cx="19659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03</a:t>
            </a:r>
          </a:p>
          <a:p>
            <a:pPr>
              <a:defRPr sz="1250">
                <a:solidFill>
                  <a:srgbClr val="111827"/>
                </a:solidFill>
                <a:latin typeface="JetBrains Mono"/>
              </a:defRPr>
            </a:pPr>
            <a:r>
              <a:t>Historique des interactions client impossible à reconstituer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7768" y="2834640"/>
            <a:ext cx="19659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04</a:t>
            </a:r>
          </a:p>
          <a:p>
            <a:pPr>
              <a:defRPr sz="1250">
                <a:solidFill>
                  <a:srgbClr val="111827"/>
                </a:solidFill>
                <a:latin typeface="JetBrains Mono"/>
              </a:defRPr>
            </a:pPr>
            <a:r>
              <a:t>Oublis de relances, de rendez-vous et de tâches commerciales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73184" y="2834640"/>
            <a:ext cx="196596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3184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05</a:t>
            </a:r>
          </a:p>
          <a:p>
            <a:pPr>
              <a:defRPr sz="1250">
                <a:solidFill>
                  <a:srgbClr val="111827"/>
                </a:solidFill>
                <a:latin typeface="JetBrains Mono"/>
              </a:defRPr>
            </a:pPr>
            <a:r>
              <a:t>Aucune visibilité sur l'avancement des opportunités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56032"/>
          <a:lstStyle/>
          <a:p>
            <a:pPr algn="ctr"/>
            <a:r>
              <a:rPr sz="1200">
                <a:solidFill>
                  <a:srgbClr val="94A3B8"/>
                </a:solidFill>
                <a:latin typeface="JetBrains Mono"/>
              </a:rPr>
              <a:t>CONSÉQUENCE   </a:t>
            </a:r>
            <a:r>
              <a:rPr sz="1600" b="1">
                <a:solidFill>
                  <a:srgbClr val="FFFFFF"/>
                </a:solidFill>
                <a:latin typeface="JetBrains Mono"/>
              </a:rPr>
              <a:t>Perte d'opportunités d'affaires par retard, oubli ou suivi insuffisant.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  <a:r>
              <a:t>Source : Mémoire, chapitre 1, section « Problématique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ÉTUDE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JetBrains Mono"/>
              </a:defRPr>
            </a:pPr>
            <a:r>
              <a:t>Doter UniFlow-Suite d'un module CRM moderne, sécurisé et évolutif, intégré aux autres modules de la plateforme.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15081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JetBrains Mono"/>
              </a:defRPr>
            </a:pPr>
            <a:r>
              <a:t>OBJECTIFS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515081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515081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—  </a:t>
            </a:r>
            <a:r>
              <a:rPr sz="1400">
                <a:solidFill>
                  <a:srgbClr val="111827"/>
                </a:solidFill>
                <a:latin typeface="JetBrains Mono"/>
              </a:rPr>
              <a:t>Centraliser prospects, contacts et organisations dans une plateforme unique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—  </a:t>
            </a:r>
            <a:r>
              <a:rPr sz="1400">
                <a:solidFill>
                  <a:srgbClr val="111827"/>
                </a:solidFill>
                <a:latin typeface="JetBrains Mono"/>
              </a:rPr>
              <a:t>Outiller le cycle commercial, de la qualification du prospect au suivi de l'opportunité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—  </a:t>
            </a:r>
            <a:r>
              <a:rPr sz="1400">
                <a:solidFill>
                  <a:srgbClr val="111827"/>
                </a:solidFill>
                <a:latin typeface="JetBrains Mono"/>
              </a:rPr>
              <a:t>Tracer toutes les interactions pour une vision à 360° de chaque tiers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—  </a:t>
            </a:r>
            <a:r>
              <a:rPr sz="1400">
                <a:solidFill>
                  <a:srgbClr val="111827"/>
                </a:solidFill>
                <a:latin typeface="JetBrains Mono"/>
              </a:rPr>
              <a:t>Fournir tableaux de bord et indicateurs d'aide à la décision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834640"/>
            <a:ext cx="515081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JetBrains Mono"/>
              </a:defRPr>
            </a:pPr>
            <a:r>
              <a:t>OBJECTIFS TECHNIQUES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154680"/>
            <a:ext cx="515081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337560"/>
            <a:ext cx="515081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T1  </a:t>
            </a:r>
            <a:r>
              <a:rPr sz="1400">
                <a:solidFill>
                  <a:srgbClr val="111827"/>
                </a:solidFill>
                <a:latin typeface="JetBrains Mono"/>
              </a:rPr>
              <a:t>Sécurité générique par rôles et permissions (RBAC)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T2  </a:t>
            </a:r>
            <a:r>
              <a:rPr sz="1400">
                <a:solidFill>
                  <a:srgbClr val="111827"/>
                </a:solidFill>
                <a:latin typeface="JetBrains Mono"/>
              </a:rPr>
              <a:t>Audit générique de toutes les créations, modifications et suppressions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T3  </a:t>
            </a:r>
            <a:r>
              <a:rPr sz="1400">
                <a:solidFill>
                  <a:srgbClr val="111827"/>
                </a:solidFill>
                <a:latin typeface="JetBrains Mono"/>
              </a:rPr>
              <a:t>Architecture extensible à de nouveaux types de clients et d'activités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2563EB"/>
                </a:solidFill>
                <a:latin typeface="JetBrains Mono"/>
              </a:rPr>
              <a:t>T4  </a:t>
            </a:r>
            <a:r>
              <a:rPr sz="1400">
                <a:solidFill>
                  <a:srgbClr val="111827"/>
                </a:solidFill>
                <a:latin typeface="JetBrains Mono"/>
              </a:rPr>
              <a:t>Sécurité, cohérence et intégrité des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  <a:r>
              <a:t>Source : Mémoire, chapitre 1, section « Objectifs du projet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Analyse des besoins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Contexte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Présentation de l'organisme d'accueil ITComp et intégration à la plateforme UniFlow-Suite.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Conception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Contexte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Présentation de l'organisme d'accueil ITComp et intégration à la plateforme UniFlow-Suite.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Réalisation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Contexte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Présentation de l'organisme d'accueil ITComp et intégration à la plateforme UniFlow-Suite.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hellow world</a:t>
            </a:r>
          </a:p>
        </p:txBody>
      </p:sp>
      <p:pic>
        <p:nvPicPr>
          <p:cNvPr id="4" name="Picture 3" descr="2026-02-17_16.08.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Authentification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Se connecter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920240"/>
            <a:ext cx="8558784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Conclusion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1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Présentation de l'organisme d'accueil ITComp et intégration à la plateforme UniFlow-Suite.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2563EB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2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Présentation de l'organisme d'accueil ITComp et intégration à la plateforme UniFlow-Suite.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Ce que ce projet apporte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JetBrains Mono"/>
              </a:defRPr>
            </a:pPr>
            <a:r>
              <a:t>CHERCHÉ À FAIRE</a:t>
            </a:r>
          </a:p>
          <a:p>
            <a:pPr>
              <a:defRPr sz="1350">
                <a:solidFill>
                  <a:srgbClr val="111827"/>
                </a:solidFill>
                <a:latin typeface="JetBrains Mono"/>
              </a:defRPr>
            </a:pPr>
            <a:r>
              <a:t>Doter UniFlow-Suite d'un CRM moderne, sécurisé et évolutif, hébergeable en Algérie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40"/>
            <a:ext cx="1371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9184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JetBrains Mono"/>
              </a:defRPr>
            </a:pPr>
            <a:r>
              <a:t>RÉALISÉ</a:t>
            </a:r>
          </a:p>
          <a:p>
            <a:pPr>
              <a:defRPr sz="1350">
                <a:solidFill>
                  <a:srgbClr val="111827"/>
                </a:solidFill>
                <a:latin typeface="JetBrains Mono"/>
              </a:defRPr>
            </a:pPr>
            <a:r>
              <a:t>Une application web complète couvrant le cycle commercial, les activités, l'audit et les analytiques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2918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OBTENU</a:t>
            </a:r>
          </a:p>
          <a:p>
            <a:pPr>
              <a:defRPr sz="1350">
                <a:solidFill>
                  <a:srgbClr val="111827"/>
                </a:solidFill>
                <a:latin typeface="JetBrains Mono"/>
              </a:defRPr>
            </a:pPr>
            <a:r>
              <a:t>Quatre objectifs techniques atteints et démontrables, objectifs métier outillés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JetBrains Mono"/>
              </a:defRPr>
            </a:pPr>
            <a:r>
              <a:t>Valeur ajoutée : un module intégré à un écosystème existant, hébergé en Algérie, porté par une architecture qui absorbera les évolutions sans être réécrite.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JetBrains Mono"/>
              </a:defRPr>
            </a:pPr>
            <a:r>
              <a:t>Merci de votre attention.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01</a:t>
            </a:r>
          </a:p>
          <a:p>
            <a:pPr>
              <a:spcAft>
                <a:spcPts val="600"/>
              </a:spcAft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Automatisation des campagnes d'e-mails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Envoi en masse de messages personnalisés, offres ciblées, reconquête des clients inactifs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2422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02</a:t>
            </a:r>
          </a:p>
          <a:p>
            <a:pPr>
              <a:spcAft>
                <a:spcPts val="600"/>
              </a:spcAft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Intelligence artificielle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Identification des clients à traiter en priorité pour mieux répartir l'effort commercial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20240"/>
            <a:ext cx="52422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79476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03</a:t>
            </a:r>
          </a:p>
          <a:p>
            <a:pPr>
              <a:spcAft>
                <a:spcPts val="600"/>
              </a:spcAft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Analyse décisionnelle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SQL Server Analysis Services et Power BI : rapports détaillés et analyses multidimensionnelles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52422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79476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04</a:t>
            </a:r>
          </a:p>
          <a:p>
            <a:pPr>
              <a:spcAft>
                <a:spcPts val="600"/>
              </a:spcAft>
              <a:defRPr b="1" sz="1600">
                <a:solidFill>
                  <a:srgbClr val="111827"/>
                </a:solidFill>
                <a:latin typeface="JetBrains Mono"/>
              </a:defRPr>
            </a:pPr>
            <a:r>
              <a:t>Infrastructure de communication et de sécurité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Serveur SMTP propre et certificat SSL délivré par une autorité reconnue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94760"/>
            <a:ext cx="52422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  <a:r>
              <a:t>Source : Mémoire, conclusion générale, section « Perspectives futures 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JetBrains Mono"/>
              </a:defRPr>
            </a:pPr>
            <a: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11827"/>
                </a:solidFill>
                <a:latin typeface="JetBrains Mono"/>
              </a:defRPr>
            </a:pPr>
            <a:r>
              <a:t>Difficultés rencontrées et arbitrages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3284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Difficulté 1</a:t>
            </a:r>
          </a:p>
          <a:p>
            <a:pPr>
              <a:spcAft>
                <a:spcPts val="800"/>
              </a:spcAft>
              <a:defRPr b="1" sz="1800">
                <a:solidFill>
                  <a:srgbClr val="111827"/>
                </a:solidFill>
                <a:latin typeface="JetBrains Mono"/>
              </a:defRPr>
            </a:pPr>
            <a:r>
              <a:t>Diversité des canaux de communication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Téléphone, e-mail, réseaux sociaux, messagerie : les préférences des clients varient fortement.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328416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332841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JetBrains Mono"/>
              </a:defRPr>
            </a:pPr>
            <a:r>
              <a:t>ARBITRAGE</a:t>
            </a:r>
          </a:p>
          <a:p>
            <a:pPr>
              <a:defRPr sz="1300">
                <a:solidFill>
                  <a:srgbClr val="111827"/>
                </a:solidFill>
                <a:latin typeface="JetBrains Mono"/>
              </a:defRPr>
            </a:pPr>
            <a:r>
              <a:t>Application réservée aux équipes marketing : le client garde son canal, l'outil centralise le suivi.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5696" y="1920240"/>
            <a:ext cx="33284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Difficulté 2</a:t>
            </a:r>
          </a:p>
          <a:p>
            <a:pPr>
              <a:spcAft>
                <a:spcPts val="800"/>
              </a:spcAft>
              <a:defRPr b="1" sz="1800">
                <a:solidFill>
                  <a:srgbClr val="111827"/>
                </a:solidFill>
                <a:latin typeface="JetBrains Mono"/>
              </a:defRPr>
            </a:pPr>
            <a:r>
              <a:t>Certificat HTTPS de production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Un certificat délivré par une autorité reconnue n'a pas pu être acquis dans le cadre du projet.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696" y="4114800"/>
            <a:ext cx="3328416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4297680"/>
            <a:ext cx="332841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JetBrains Mono"/>
              </a:defRPr>
            </a:pPr>
            <a:r>
              <a:t>ARBITRAGE</a:t>
            </a:r>
          </a:p>
          <a:p>
            <a:pPr>
              <a:defRPr sz="1300">
                <a:solidFill>
                  <a:srgbClr val="111827"/>
                </a:solidFill>
                <a:latin typeface="JetBrains Mono"/>
              </a:defRPr>
            </a:pPr>
            <a:r>
              <a:t>Certificat auto-signé : les échanges sont chiffrés, mais le navigateur affiche un avertissement.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1920240"/>
            <a:ext cx="33284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563EB"/>
                </a:solidFill>
                <a:latin typeface="JetBrains Mono"/>
              </a:defRPr>
            </a:pPr>
            <a:r>
              <a:t>Difficulté 3</a:t>
            </a:r>
          </a:p>
          <a:p>
            <a:pPr>
              <a:spcAft>
                <a:spcPts val="800"/>
              </a:spcAft>
              <a:defRPr b="1" sz="1800">
                <a:solidFill>
                  <a:srgbClr val="111827"/>
                </a:solidFill>
                <a:latin typeface="JetBrains Mono"/>
              </a:defRPr>
            </a:pPr>
            <a:r>
              <a:t>Service d'envoi d'e-mails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Une adresse par utilisateur exigerait que chacun possède et configure un compte Google.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4114800"/>
            <a:ext cx="3328416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4297680"/>
            <a:ext cx="332841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JetBrains Mono"/>
              </a:defRPr>
            </a:pPr>
            <a:r>
              <a:t>ARBITRAGE</a:t>
            </a:r>
          </a:p>
          <a:p>
            <a:pPr>
              <a:defRPr sz="1300">
                <a:solidFill>
                  <a:srgbClr val="111827"/>
                </a:solidFill>
                <a:latin typeface="JetBrains Mono"/>
              </a:defRPr>
            </a:pPr>
            <a:r>
              <a:t>Une seule adresse Gmail dédiée à l'application pour l'ensemble des envois.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  <a:r>
              <a:t>Source : Mémoire, conclusion générale, section « Difficultés rencontrées 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