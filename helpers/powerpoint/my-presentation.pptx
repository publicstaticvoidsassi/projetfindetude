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s/slide29.xml" ContentType="application/vnd.openxmlformats-officedocument.presentationml.slide+xml"/>
  <Override PartName="/ppt/slides/slide26.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49.xml" ContentType="application/vnd.openxmlformats-officedocument.presentationml.slide+xml"/>
  <Override PartName="/ppt/slides/slide27.xml" ContentType="application/vnd.openxmlformats-officedocument.presentationml.slide+xml"/>
  <Override PartName="/ppt/slides/slide46.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18.xml" ContentType="application/vnd.openxmlformats-officedocument.presentationml.slide+xml"/>
  <Override PartName="/ppt/slides/slide41.xml" ContentType="application/vnd.openxmlformats-officedocument.presentationml.slide+xml"/>
  <Override PartName="/ppt/slides/slide38.xml" ContentType="application/vnd.openxmlformats-officedocument.presentationml.slide+xml"/>
  <Override PartName="/ppt/slides/slide35.xml" ContentType="application/vnd.openxmlformats-officedocument.presentationml.slide+xml"/>
  <Override PartName="/ppt/slides/slide50.xml" ContentType="application/vnd.openxmlformats-officedocument.presentationml.slide+xml"/>
  <Override PartName="/ppt/slides/slide16.xml" ContentType="application/vnd.openxmlformats-officedocument.presentationml.slide+xml"/>
  <Override PartName="/ppt/slides/slide40.xml" ContentType="application/vnd.openxmlformats-officedocument.presentationml.slide+xml"/>
  <Override PartName="/ppt/slides/slide2.xml" ContentType="application/vnd.openxmlformats-officedocument.presentationml.slide+xml"/>
  <Override PartName="/ppt/slides/slide23.xml" ContentType="application/vnd.openxmlformats-officedocument.presentationml.slide+xml"/>
  <Override PartName="/ppt/slides/slide5.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45.xml" ContentType="application/vnd.openxmlformats-officedocument.presentationml.slide+xml"/>
  <Override PartName="/ppt/slides/slide52.xml" ContentType="application/vnd.openxmlformats-officedocument.presentationml.slide+xml"/>
  <Override PartName="/ppt/slides/slide14.xml" ContentType="application/vnd.openxmlformats-officedocument.presentationml.slide+xml"/>
  <Override PartName="/ppt/slides/slide51.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42.xml" ContentType="application/vnd.openxmlformats-officedocument.presentationml.slide+xml"/>
  <Override PartName="/ppt/slides/slide53.xml" ContentType="application/vnd.openxmlformats-officedocument.presentationml.slide+xml"/>
  <Override PartName="/ppt/slides/slide24.xml" ContentType="application/vnd.openxmlformats-officedocument.presentationml.slide+xml"/>
  <Override PartName="/ppt/slides/slide47.xml" ContentType="application/vnd.openxmlformats-officedocument.presentationml.slide+xml"/>
  <Override PartName="/ppt/slides/slide37.xml" ContentType="application/vnd.openxmlformats-officedocument.presentationml.slide+xml"/>
  <Override PartName="/ppt/slides/slide54.xml" ContentType="application/vnd.openxmlformats-officedocument.presentationml.slide+xml"/>
  <Override PartName="/ppt/slides/slide36.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48.xml" ContentType="application/vnd.openxmlformats-officedocument.presentationml.slide+xml"/>
  <Override PartName="/ppt/slides/slide39.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Lst>
  <p:sldSz cx="121920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5DF2DC6-7DED-4762-93BE-20594CB2BD76}"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DD6CB1A-3BB0-4BB2-9D67-9D774F66B010}"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494980D-A00E-4FE9-890F-CE01F3BDC142}"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C94D23B-6962-4064-B809-CCCD36E5F454}"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80A48819-5A1F-4E9D-9419-D7A2E7A8E9D2}"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1D25A7C-D388-4B47-8112-985EB3636BCB}"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C0D8D4D-FC57-4E60-9FCE-8D89A69B6170}"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61E67BA-32DD-49E0-8CDA-2628BCFAFF5F}"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62D5437-8A2A-4A44-A23A-6ED1B0EC2319}"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Ovr>
    <a:masterClrMapping/>
  </p:clrMapOvr>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7D38D49-2008-42EE-976A-0964CC5E1A2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pic"/>
          </p:nvPr>
        </p:nvSpPr>
        <p:spPr>
          <a:xfrm>
            <a:off x="1792440" y="612720"/>
            <a:ext cx="5486040" cy="4114440"/>
          </a:xfrm>
          <a:prstGeom prst="rect">
            <a:avLst/>
          </a:prstGeom>
          <a:noFill/>
          <a:ln w="0">
            <a:noFill/>
          </a:ln>
        </p:spPr>
        <p:txBody>
          <a:bodyPr lIns="90000" tIns="45000" rIns="90000" bIns="45000" anchor="t">
            <a:noAutofit/>
          </a:bodyPr>
          <a:p>
            <a:pPr indent="0" algn="l">
              <a:buNone/>
            </a:pPr>
            <a:r>
              <a:rPr lang="en-US" sz="3200" b="0" u="none" strike="noStrike">
                <a:solidFill>
                  <a:srgbClr val="000000"/>
                </a:solidFill>
                <a:effectLst/>
                <a:uFillTx/>
                <a:latin typeface="Arial"/>
              </a:rPr>
              <a:t>Double-click to add an Image</a:t>
            </a:r>
            <a:endParaRPr lang="en-US" sz="3200" b="0" u="none" strike="noStrike">
              <a:solidFill>
                <a:srgbClr val="000000"/>
              </a:solidFill>
              <a:effectLst/>
              <a:uFillTx/>
              <a:latin typeface="Arial"/>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8AEE44FE-F721-408B-A365-7E98E11F30AB}"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7.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9.xml"/>
</Relationships>
</file>

<file path=ppt/slides/_rels/slide18.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9.xml"/>
</Relationships>
</file>

<file path=ppt/slides/_rels/slide19.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9.xml"/>
</Relationships>
</file>

<file path=ppt/slides/_rels/slide20.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9.xml"/>
</Relationships>
</file>

<file path=ppt/slides/_rels/slide21.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9.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9.xml"/>
</Relationships>
</file>

<file path=ppt/slides/_rels/slide2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9.xml"/>
</Relationships>
</file>

<file path=ppt/slides/_rels/slide2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9.xml"/>
</Relationships>
</file>

<file path=ppt/slides/_rels/slide2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9.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9.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9.xml"/>
</Relationships>
</file>

<file path=ppt/slides/_rels/slide30.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9.xml"/>
</Relationships>
</file>

<file path=ppt/slides/_rels/slide31.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9.xml"/>
</Relationships>
</file>

<file path=ppt/slides/_rels/slide32.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9.xml"/>
</Relationships>
</file>

<file path=ppt/slides/_rels/slide33.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9.xml"/>
</Relationships>
</file>

<file path=ppt/slides/_rels/slide34.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9.xml"/>
</Relationships>
</file>

<file path=ppt/slides/_rels/slide35.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9.xml"/>
</Relationships>
</file>

<file path=ppt/slides/_rels/slide36.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9.xml"/>
</Relationships>
</file>

<file path=ppt/slides/_rels/slide37.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9.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5.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slideLayout" Target="../slideLayouts/slideLayout9.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7.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9.xml"/>
</Relationships>
</file>

<file path=ppt/slides/_rels/slide48.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9.xml"/>
</Relationships>
</file>

<file path=ppt/slides/_rels/slide49.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9.xml"/>
</Relationships>
</file>

<file path=ppt/slides/_rels/slide50.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9.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F0000"/>
        </a:solidFill>
      </p:bgPr>
    </p:bg>
    <p:spTree>
      <p:nvGrpSpPr>
        <p:cNvPr id="1" name=""/>
        <p:cNvGrpSpPr/>
        <p:nvPr/>
      </p:nvGrpSpPr>
      <p:grpSpPr>
        <a:xfrm>
          <a:off x="0" y="0"/>
          <a:ext cx="0" cy="0"/>
          <a:chOff x="0" y="0"/>
          <a:chExt cx="0" cy="0"/>
        </a:xfrm>
      </p:grpSpPr>
      <p:sp>
        <p:nvSpPr>
          <p:cNvPr id="61" name="TextBox 1"/>
          <p:cNvSpPr/>
          <p:nvPr/>
        </p:nvSpPr>
        <p:spPr>
          <a:xfrm>
            <a:off x="731520" y="73152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0" u="none" strike="noStrike">
                <a:solidFill>
                  <a:srgbClr val="94A3B8"/>
                </a:solidFill>
                <a:effectLst/>
                <a:uFillTx/>
                <a:latin typeface="JetBrains Mono"/>
              </a:rPr>
              <a:t>PROJET DE FIN D'ÉTUDES — SOUTENANCE</a:t>
            </a:r>
            <a:endParaRPr lang="en-US" sz="1300" b="0" u="none" strike="noStrike">
              <a:solidFill>
                <a:srgbClr val="FFFFFF"/>
              </a:solidFill>
              <a:effectLst/>
              <a:uFillTx/>
              <a:latin typeface="Arial"/>
            </a:endParaRPr>
          </a:p>
        </p:txBody>
      </p:sp>
      <p:sp>
        <p:nvSpPr>
          <p:cNvPr id="62" name="Rectangle 2"/>
          <p:cNvSpPr/>
          <p:nvPr/>
        </p:nvSpPr>
        <p:spPr>
          <a:xfrm>
            <a:off x="731520" y="1280160"/>
            <a:ext cx="1096920" cy="4536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720" rIns="90000" bIns="720" anchor="ctr">
            <a:noAutofit/>
          </a:bodyPr>
          <a:p>
            <a:pPr/>
            <a:endParaRPr lang="en-US" sz="1800" b="0" u="none" strike="noStrike">
              <a:solidFill>
                <a:schemeClr val="lt1"/>
              </a:solidFill>
              <a:effectLst/>
              <a:uFillTx/>
              <a:latin typeface="Calibri"/>
            </a:endParaRPr>
          </a:p>
        </p:txBody>
      </p:sp>
      <p:sp>
        <p:nvSpPr>
          <p:cNvPr id="63" name="TextBox 3"/>
          <p:cNvSpPr/>
          <p:nvPr/>
        </p:nvSpPr>
        <p:spPr>
          <a:xfrm>
            <a:off x="731520" y="1645920"/>
            <a:ext cx="10515240" cy="20113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rgbClr val="FFFFFF"/>
                </a:solidFill>
                <a:effectLst/>
                <a:uFillTx/>
                <a:latin typeface="JetBrains Mono"/>
              </a:rPr>
              <a:t>Conception et réalisation d'un module CRM pour la plateforme UniFlow-Suite</a:t>
            </a:r>
            <a:endParaRPr lang="en-US" sz="3600" b="0" u="none" strike="noStrike">
              <a:solidFill>
                <a:srgbClr val="FFFFFF"/>
              </a:solidFill>
              <a:effectLst/>
              <a:uFillTx/>
              <a:latin typeface="Arial"/>
            </a:endParaRPr>
          </a:p>
        </p:txBody>
      </p:sp>
      <p:sp>
        <p:nvSpPr>
          <p:cNvPr id="64" name="TextBox 4"/>
          <p:cNvSpPr/>
          <p:nvPr/>
        </p:nvSpPr>
        <p:spPr>
          <a:xfrm>
            <a:off x="731520" y="3840480"/>
            <a:ext cx="1005804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94A3B8"/>
                </a:solidFill>
                <a:effectLst/>
                <a:uFillTx/>
                <a:latin typeface="JetBrains Mono"/>
              </a:rPr>
              <a:t>Une solution SaaS de gestion de la relation client, hébergée en Algérie et intégrée à l'écosystème logiciel d'ITComp</a:t>
            </a:r>
            <a:endParaRPr lang="en-US" sz="1800" b="0" u="none" strike="noStrike">
              <a:solidFill>
                <a:srgbClr val="FFFFFF"/>
              </a:solidFill>
              <a:effectLst/>
              <a:uFillTx/>
              <a:latin typeface="Arial"/>
            </a:endParaRPr>
          </a:p>
        </p:txBody>
      </p:sp>
      <p:sp>
        <p:nvSpPr>
          <p:cNvPr id="65" name="TextBox 5"/>
          <p:cNvSpPr/>
          <p:nvPr/>
        </p:nvSpPr>
        <p:spPr>
          <a:xfrm>
            <a:off x="731520" y="5120640"/>
            <a:ext cx="228564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1100" b="0" u="none" strike="noStrike">
                <a:solidFill>
                  <a:srgbClr val="94A3B8"/>
                </a:solidFill>
                <a:effectLst/>
                <a:uFillTx/>
                <a:latin typeface="JetBrains Mono"/>
              </a:rPr>
              <a:t>Présenté par:</a:t>
            </a:r>
            <a:endParaRPr lang="en-US" sz="1100" b="0" u="none" strike="noStrike">
              <a:solidFill>
                <a:srgbClr val="FFFFFF"/>
              </a:solidFill>
              <a:effectLst/>
              <a:uFillTx/>
              <a:latin typeface="Arial"/>
            </a:endParaRPr>
          </a:p>
          <a:p>
            <a:pPr defTabSz="457200">
              <a:lnSpc>
                <a:spcPct val="100000"/>
              </a:lnSpc>
            </a:pPr>
            <a:r>
              <a:rPr lang="en-US" sz="1200" b="0" u="none" strike="noStrike">
                <a:solidFill>
                  <a:srgbClr val="FFFFFF"/>
                </a:solidFill>
                <a:effectLst/>
                <a:uFillTx/>
                <a:latin typeface="JetBrains Mono"/>
              </a:rPr>
              <a:t>Aimen Sassi</a:t>
            </a:r>
            <a:endParaRPr lang="en-US" sz="1200" b="0" u="none" strike="noStrike">
              <a:solidFill>
                <a:srgbClr val="FFFFFF"/>
              </a:solidFill>
              <a:effectLst/>
              <a:uFillTx/>
              <a:latin typeface="Arial"/>
            </a:endParaRPr>
          </a:p>
        </p:txBody>
      </p:sp>
      <p:sp>
        <p:nvSpPr>
          <p:cNvPr id="66" name="TextBox 6"/>
          <p:cNvSpPr/>
          <p:nvPr/>
        </p:nvSpPr>
        <p:spPr>
          <a:xfrm>
            <a:off x="3108960" y="5120640"/>
            <a:ext cx="228564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1100" b="0" u="none" strike="noStrike">
                <a:solidFill>
                  <a:srgbClr val="94A3B8"/>
                </a:solidFill>
                <a:effectLst/>
                <a:uFillTx/>
                <a:latin typeface="JetBrains Mono"/>
              </a:rPr>
              <a:t>Encadreur:</a:t>
            </a:r>
            <a:endParaRPr lang="en-US" sz="1100" b="0" u="none" strike="noStrike">
              <a:solidFill>
                <a:srgbClr val="FFFFFF"/>
              </a:solidFill>
              <a:effectLst/>
              <a:uFillTx/>
              <a:latin typeface="Arial"/>
            </a:endParaRPr>
          </a:p>
          <a:p>
            <a:pPr defTabSz="457200">
              <a:lnSpc>
                <a:spcPct val="100000"/>
              </a:lnSpc>
            </a:pPr>
            <a:r>
              <a:rPr lang="en-US" sz="1200" b="0" u="none" strike="noStrike">
                <a:solidFill>
                  <a:srgbClr val="FFFFFF"/>
                </a:solidFill>
                <a:effectLst/>
                <a:uFillTx/>
                <a:latin typeface="JetBrains Mono"/>
              </a:rPr>
              <a:t>Mr Farouk Belhoucine</a:t>
            </a:r>
            <a:endParaRPr lang="en-US" sz="1200" b="0" u="none" strike="noStrike">
              <a:solidFill>
                <a:srgbClr val="FFFFFF"/>
              </a:solidFill>
              <a:effectLst/>
              <a:uFillTx/>
              <a:latin typeface="Arial"/>
            </a:endParaRPr>
          </a:p>
        </p:txBody>
      </p:sp>
      <p:sp>
        <p:nvSpPr>
          <p:cNvPr id="67" name="TextBox 7"/>
          <p:cNvSpPr/>
          <p:nvPr/>
        </p:nvSpPr>
        <p:spPr>
          <a:xfrm>
            <a:off x="5486400" y="5120640"/>
            <a:ext cx="228564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1100" b="0" u="none" strike="noStrike">
                <a:solidFill>
                  <a:srgbClr val="94A3B8"/>
                </a:solidFill>
                <a:effectLst/>
                <a:uFillTx/>
                <a:latin typeface="JetBrains Mono"/>
              </a:rPr>
              <a:t>Promotrice:</a:t>
            </a:r>
            <a:endParaRPr lang="en-US" sz="1100" b="0" u="none" strike="noStrike">
              <a:solidFill>
                <a:srgbClr val="FFFFFF"/>
              </a:solidFill>
              <a:effectLst/>
              <a:uFillTx/>
              <a:latin typeface="Arial"/>
            </a:endParaRPr>
          </a:p>
          <a:p>
            <a:pPr defTabSz="457200">
              <a:lnSpc>
                <a:spcPct val="100000"/>
              </a:lnSpc>
            </a:pPr>
            <a:r>
              <a:rPr lang="en-US" sz="1200" b="0" u="none" strike="noStrike">
                <a:solidFill>
                  <a:srgbClr val="FFFFFF"/>
                </a:solidFill>
                <a:effectLst/>
                <a:uFillTx/>
                <a:latin typeface="JetBrains Mono"/>
              </a:rPr>
              <a:t>Mme Faiza Allaoua</a:t>
            </a:r>
            <a:endParaRPr lang="en-US" sz="1200" b="0" u="none" strike="noStrike">
              <a:solidFill>
                <a:srgbClr val="FFFFFF"/>
              </a:solidFill>
              <a:effectLst/>
              <a:uFillTx/>
              <a:latin typeface="Arial"/>
            </a:endParaRPr>
          </a:p>
        </p:txBody>
      </p:sp>
      <p:sp>
        <p:nvSpPr>
          <p:cNvPr id="68" name="TextBox 8"/>
          <p:cNvSpPr/>
          <p:nvPr/>
        </p:nvSpPr>
        <p:spPr>
          <a:xfrm>
            <a:off x="7863840" y="5120640"/>
            <a:ext cx="228564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1100" b="0" u="none" strike="noStrike">
                <a:solidFill>
                  <a:srgbClr val="94A3B8"/>
                </a:solidFill>
                <a:effectLst/>
                <a:uFillTx/>
                <a:latin typeface="JetBrains Mono"/>
              </a:rPr>
              <a:t>Organisme d'accueil:</a:t>
            </a:r>
            <a:endParaRPr lang="en-US" sz="1100" b="0" u="none" strike="noStrike">
              <a:solidFill>
                <a:srgbClr val="FFFFFF"/>
              </a:solidFill>
              <a:effectLst/>
              <a:uFillTx/>
              <a:latin typeface="Arial"/>
            </a:endParaRPr>
          </a:p>
          <a:p>
            <a:pPr defTabSz="457200">
              <a:lnSpc>
                <a:spcPct val="100000"/>
              </a:lnSpc>
            </a:pPr>
            <a:r>
              <a:rPr lang="en-US" sz="1200" b="0" u="none" strike="noStrike">
                <a:solidFill>
                  <a:srgbClr val="FFFFFF"/>
                </a:solidFill>
                <a:effectLst/>
                <a:uFillTx/>
                <a:latin typeface="JetBrains Mono"/>
              </a:rPr>
              <a:t>ITComp</a:t>
            </a:r>
            <a:endParaRPr lang="en-US" sz="1200" b="0" u="none" strike="noStrike">
              <a:solidFill>
                <a:srgbClr val="FFFFFF"/>
              </a:solidFill>
              <a:effectLst/>
              <a:uFillTx/>
              <a:latin typeface="Arial"/>
            </a:endParaRPr>
          </a:p>
        </p:txBody>
      </p:sp>
      <p:sp>
        <p:nvSpPr>
          <p:cNvPr id="69" name="TextBox 9"/>
          <p:cNvSpPr/>
          <p:nvPr/>
        </p:nvSpPr>
        <p:spPr>
          <a:xfrm>
            <a:off x="10241280" y="5120640"/>
            <a:ext cx="2285640" cy="10969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400"/>
              </a:spcAft>
            </a:pPr>
            <a:r>
              <a:rPr lang="en-US" sz="1100" b="0" u="none" strike="noStrike">
                <a:solidFill>
                  <a:srgbClr val="94A3B8"/>
                </a:solidFill>
                <a:effectLst/>
                <a:uFillTx/>
                <a:latin typeface="JetBrains Mono"/>
              </a:rPr>
              <a:t>Année:</a:t>
            </a:r>
            <a:endParaRPr lang="en-US" sz="1100" b="0" u="none" strike="noStrike">
              <a:solidFill>
                <a:srgbClr val="FFFFFF"/>
              </a:solidFill>
              <a:effectLst/>
              <a:uFillTx/>
              <a:latin typeface="Arial"/>
            </a:endParaRPr>
          </a:p>
          <a:p>
            <a:pPr defTabSz="457200">
              <a:lnSpc>
                <a:spcPct val="100000"/>
              </a:lnSpc>
            </a:pPr>
            <a:r>
              <a:rPr lang="en-US" sz="1200" b="0" u="none" strike="noStrike">
                <a:solidFill>
                  <a:srgbClr val="FFFFFF"/>
                </a:solidFill>
                <a:effectLst/>
                <a:uFillTx/>
                <a:latin typeface="JetBrains Mono"/>
              </a:rPr>
              <a:t>2026</a:t>
            </a:r>
            <a:endParaRPr lang="en-US" sz="1200" b="0" u="none" strike="noStrike">
              <a:solidFill>
                <a:srgbClr val="FFFFFF"/>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70"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SOMMAIRE</a:t>
            </a:r>
            <a:endParaRPr lang="en-US" sz="1300" b="0" u="none" strike="noStrike">
              <a:solidFill>
                <a:srgbClr val="000000"/>
              </a:solidFill>
              <a:effectLst/>
              <a:uFillTx/>
              <a:latin typeface="Arial"/>
            </a:endParaRPr>
          </a:p>
        </p:txBody>
      </p:sp>
      <p:sp>
        <p:nvSpPr>
          <p:cNvPr id="71" name="TextBox 2"/>
          <p:cNvSpPr/>
          <p:nvPr/>
        </p:nvSpPr>
        <p:spPr>
          <a:xfrm>
            <a:off x="731520" y="100584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Plan de la présentation</a:t>
            </a:r>
            <a:endParaRPr lang="en-US" sz="3600" b="0" u="none" strike="noStrike">
              <a:solidFill>
                <a:srgbClr val="000000"/>
              </a:solidFill>
              <a:effectLst/>
              <a:uFillTx/>
              <a:latin typeface="Arial"/>
            </a:endParaRPr>
          </a:p>
        </p:txBody>
      </p:sp>
      <p:sp>
        <p:nvSpPr>
          <p:cNvPr id="72" name="TextBox 3"/>
          <p:cNvSpPr/>
          <p:nvPr/>
        </p:nvSpPr>
        <p:spPr>
          <a:xfrm>
            <a:off x="731520" y="2103120"/>
            <a:ext cx="5120280" cy="1096920"/>
          </a:xfrm>
          <a:prstGeom prst="rect">
            <a:avLst/>
          </a:prstGeom>
          <a:noFill/>
          <a:ln w="0">
            <a:noFill/>
          </a:ln>
        </p:spPr>
        <p:style>
          <a:lnRef idx="0"/>
          <a:fillRef idx="0"/>
          <a:effectRef idx="0"/>
          <a:fontRef idx="minor"/>
        </p:style>
        <p:txBody>
          <a:bodyPr lIns="0" tIns="292680" rIns="0" bIns="292680" anchor="t">
            <a:spAutoFit/>
          </a:bodyPr>
          <a:p>
            <a:pPr defTabSz="457200">
              <a:lnSpc>
                <a:spcPct val="100000"/>
              </a:lnSpc>
              <a:spcAft>
                <a:spcPts val="400"/>
              </a:spcAft>
            </a:pPr>
            <a:r>
              <a:rPr lang="en-US" sz="2000" b="1" u="none" strike="noStrike">
                <a:solidFill>
                  <a:srgbClr val="EB0025"/>
                </a:solidFill>
                <a:effectLst/>
                <a:uFillTx/>
                <a:latin typeface="JetBrains Mono"/>
              </a:rPr>
              <a:t>01  </a:t>
            </a:r>
            <a:r>
              <a:rPr lang="en-US" sz="2200" b="1" u="none" strike="noStrike">
                <a:solidFill>
                  <a:srgbClr val="271811"/>
                </a:solidFill>
                <a:effectLst/>
                <a:uFillTx/>
                <a:latin typeface="JetBrains Mono"/>
              </a:rPr>
              <a:t>Étude préalable</a:t>
            </a:r>
            <a:endParaRPr lang="en-US" sz="2200" b="0" u="none" strike="noStrike">
              <a:solidFill>
                <a:srgbClr val="000000"/>
              </a:solidFill>
              <a:effectLst/>
              <a:uFillTx/>
              <a:latin typeface="Arial"/>
            </a:endParaRPr>
          </a:p>
          <a:p>
            <a:pPr defTabSz="457200">
              <a:lnSpc>
                <a:spcPct val="100000"/>
              </a:lnSpc>
            </a:pPr>
            <a:r>
              <a:rPr lang="en-US" sz="1300" b="0" u="none" strike="noStrike">
                <a:solidFill>
                  <a:srgbClr val="64748B"/>
                </a:solidFill>
                <a:effectLst/>
                <a:uFillTx/>
                <a:latin typeface="JetBrains Mono"/>
              </a:rPr>
              <a:t>Contexte, problématique, objectifs, périmètre</a:t>
            </a:r>
            <a:endParaRPr lang="en-US" sz="1300" b="0" u="none" strike="noStrike">
              <a:solidFill>
                <a:srgbClr val="000000"/>
              </a:solidFill>
              <a:effectLst/>
              <a:uFillTx/>
              <a:latin typeface="Arial"/>
            </a:endParaRPr>
          </a:p>
        </p:txBody>
      </p:sp>
      <p:sp>
        <p:nvSpPr>
          <p:cNvPr id="73" name="TextBox 4"/>
          <p:cNvSpPr/>
          <p:nvPr/>
        </p:nvSpPr>
        <p:spPr>
          <a:xfrm>
            <a:off x="6217920" y="2103120"/>
            <a:ext cx="5120280" cy="1096920"/>
          </a:xfrm>
          <a:prstGeom prst="rect">
            <a:avLst/>
          </a:prstGeom>
          <a:noFill/>
          <a:ln w="0">
            <a:noFill/>
          </a:ln>
        </p:spPr>
        <p:style>
          <a:lnRef idx="0"/>
          <a:fillRef idx="0"/>
          <a:effectRef idx="0"/>
          <a:fontRef idx="minor"/>
        </p:style>
        <p:txBody>
          <a:bodyPr lIns="0" tIns="292680" rIns="0" bIns="292680" anchor="t">
            <a:spAutoFit/>
          </a:bodyPr>
          <a:p>
            <a:pPr defTabSz="457200">
              <a:lnSpc>
                <a:spcPct val="100000"/>
              </a:lnSpc>
              <a:spcAft>
                <a:spcPts val="400"/>
              </a:spcAft>
            </a:pPr>
            <a:r>
              <a:rPr lang="en-US" sz="2000" b="1" u="none" strike="noStrike">
                <a:solidFill>
                  <a:srgbClr val="EB0025"/>
                </a:solidFill>
                <a:effectLst/>
                <a:uFillTx/>
                <a:latin typeface="JetBrains Mono"/>
              </a:rPr>
              <a:t>02  </a:t>
            </a:r>
            <a:r>
              <a:rPr lang="en-US" sz="2200" b="1" u="none" strike="noStrike">
                <a:solidFill>
                  <a:srgbClr val="271811"/>
                </a:solidFill>
                <a:effectLst/>
                <a:uFillTx/>
                <a:latin typeface="JetBrains Mono"/>
              </a:rPr>
              <a:t>Analyse des besoins</a:t>
            </a:r>
            <a:endParaRPr lang="en-US" sz="2200" b="0" u="none" strike="noStrike">
              <a:solidFill>
                <a:srgbClr val="000000"/>
              </a:solidFill>
              <a:effectLst/>
              <a:uFillTx/>
              <a:latin typeface="Arial"/>
            </a:endParaRPr>
          </a:p>
          <a:p>
            <a:pPr defTabSz="457200">
              <a:lnSpc>
                <a:spcPct val="100000"/>
              </a:lnSpc>
            </a:pPr>
            <a:r>
              <a:rPr lang="en-US" sz="1300" b="0" u="none" strike="noStrike">
                <a:solidFill>
                  <a:srgbClr val="64748B"/>
                </a:solidFill>
                <a:effectLst/>
                <a:uFillTx/>
                <a:latin typeface="JetBrains Mono"/>
              </a:rPr>
              <a:t>Méthodologie UP, acteurs, processus métier</a:t>
            </a:r>
            <a:endParaRPr lang="en-US" sz="1300" b="0" u="none" strike="noStrike">
              <a:solidFill>
                <a:srgbClr val="000000"/>
              </a:solidFill>
              <a:effectLst/>
              <a:uFillTx/>
              <a:latin typeface="Arial"/>
            </a:endParaRPr>
          </a:p>
        </p:txBody>
      </p:sp>
      <p:sp>
        <p:nvSpPr>
          <p:cNvPr id="74" name="TextBox 5"/>
          <p:cNvSpPr/>
          <p:nvPr/>
        </p:nvSpPr>
        <p:spPr>
          <a:xfrm>
            <a:off x="731520" y="3474720"/>
            <a:ext cx="5120280" cy="1096920"/>
          </a:xfrm>
          <a:prstGeom prst="rect">
            <a:avLst/>
          </a:prstGeom>
          <a:noFill/>
          <a:ln w="0">
            <a:noFill/>
          </a:ln>
        </p:spPr>
        <p:style>
          <a:lnRef idx="0"/>
          <a:fillRef idx="0"/>
          <a:effectRef idx="0"/>
          <a:fontRef idx="minor"/>
        </p:style>
        <p:txBody>
          <a:bodyPr lIns="0" tIns="292680" rIns="0" bIns="292680" anchor="t">
            <a:spAutoFit/>
          </a:bodyPr>
          <a:p>
            <a:pPr defTabSz="457200">
              <a:lnSpc>
                <a:spcPct val="100000"/>
              </a:lnSpc>
              <a:spcAft>
                <a:spcPts val="400"/>
              </a:spcAft>
            </a:pPr>
            <a:r>
              <a:rPr lang="en-US" sz="2000" b="1" u="none" strike="noStrike">
                <a:solidFill>
                  <a:srgbClr val="EB0025"/>
                </a:solidFill>
                <a:effectLst/>
                <a:uFillTx/>
                <a:latin typeface="JetBrains Mono"/>
              </a:rPr>
              <a:t>03  </a:t>
            </a:r>
            <a:r>
              <a:rPr lang="en-US" sz="2200" b="1" u="none" strike="noStrike">
                <a:solidFill>
                  <a:srgbClr val="271811"/>
                </a:solidFill>
                <a:effectLst/>
                <a:uFillTx/>
                <a:latin typeface="JetBrains Mono"/>
              </a:rPr>
              <a:t>Conception</a:t>
            </a:r>
            <a:endParaRPr lang="en-US" sz="2200" b="0" u="none" strike="noStrike">
              <a:solidFill>
                <a:srgbClr val="000000"/>
              </a:solidFill>
              <a:effectLst/>
              <a:uFillTx/>
              <a:latin typeface="Arial"/>
            </a:endParaRPr>
          </a:p>
          <a:p>
            <a:pPr defTabSz="457200">
              <a:lnSpc>
                <a:spcPct val="100000"/>
              </a:lnSpc>
            </a:pPr>
            <a:r>
              <a:rPr lang="en-US" sz="1300" b="0" u="none" strike="noStrike">
                <a:solidFill>
                  <a:srgbClr val="64748B"/>
                </a:solidFill>
                <a:effectLst/>
                <a:uFillTx/>
                <a:latin typeface="JetBrains Mono"/>
              </a:rPr>
              <a:t>Dictionnaire de données, modèle du domaine</a:t>
            </a:r>
            <a:endParaRPr lang="en-US" sz="1300" b="0" u="none" strike="noStrike">
              <a:solidFill>
                <a:srgbClr val="000000"/>
              </a:solidFill>
              <a:effectLst/>
              <a:uFillTx/>
              <a:latin typeface="Arial"/>
            </a:endParaRPr>
          </a:p>
        </p:txBody>
      </p:sp>
      <p:sp>
        <p:nvSpPr>
          <p:cNvPr id="75" name="TextBox 6"/>
          <p:cNvSpPr/>
          <p:nvPr/>
        </p:nvSpPr>
        <p:spPr>
          <a:xfrm>
            <a:off x="6217920" y="3474720"/>
            <a:ext cx="5120280" cy="1096920"/>
          </a:xfrm>
          <a:prstGeom prst="rect">
            <a:avLst/>
          </a:prstGeom>
          <a:noFill/>
          <a:ln w="0">
            <a:noFill/>
          </a:ln>
        </p:spPr>
        <p:style>
          <a:lnRef idx="0"/>
          <a:fillRef idx="0"/>
          <a:effectRef idx="0"/>
          <a:fontRef idx="minor"/>
        </p:style>
        <p:txBody>
          <a:bodyPr lIns="0" tIns="292680" rIns="0" bIns="292680" anchor="t">
            <a:spAutoFit/>
          </a:bodyPr>
          <a:p>
            <a:pPr defTabSz="457200">
              <a:lnSpc>
                <a:spcPct val="100000"/>
              </a:lnSpc>
              <a:spcAft>
                <a:spcPts val="400"/>
              </a:spcAft>
            </a:pPr>
            <a:r>
              <a:rPr lang="en-US" sz="2000" b="1" u="none" strike="noStrike">
                <a:solidFill>
                  <a:srgbClr val="EB0025"/>
                </a:solidFill>
                <a:effectLst/>
                <a:uFillTx/>
                <a:latin typeface="JetBrains Mono"/>
              </a:rPr>
              <a:t>04  </a:t>
            </a:r>
            <a:r>
              <a:rPr lang="en-US" sz="2200" b="1" u="none" strike="noStrike">
                <a:solidFill>
                  <a:srgbClr val="271811"/>
                </a:solidFill>
                <a:effectLst/>
                <a:uFillTx/>
                <a:latin typeface="JetBrains Mono"/>
              </a:rPr>
              <a:t>Réalisation</a:t>
            </a:r>
            <a:endParaRPr lang="en-US" sz="2200" b="0" u="none" strike="noStrike">
              <a:solidFill>
                <a:srgbClr val="000000"/>
              </a:solidFill>
              <a:effectLst/>
              <a:uFillTx/>
              <a:latin typeface="Arial"/>
            </a:endParaRPr>
          </a:p>
          <a:p>
            <a:pPr defTabSz="457200">
              <a:lnSpc>
                <a:spcPct val="100000"/>
              </a:lnSpc>
            </a:pPr>
            <a:r>
              <a:rPr lang="en-US" sz="1300" b="0" u="none" strike="noStrike">
                <a:solidFill>
                  <a:srgbClr val="64748B"/>
                </a:solidFill>
                <a:effectLst/>
                <a:uFillTx/>
                <a:latin typeface="JetBrains Mono"/>
              </a:rPr>
              <a:t>Architecture, implémentation, application livrée</a:t>
            </a:r>
            <a:endParaRPr lang="en-US" sz="1300" b="0" u="none" strike="noStrike">
              <a:solidFill>
                <a:srgbClr val="000000"/>
              </a:solidFill>
              <a:effectLst/>
              <a:uFillTx/>
              <a:latin typeface="Arial"/>
            </a:endParaRPr>
          </a:p>
        </p:txBody>
      </p:sp>
      <p:sp>
        <p:nvSpPr>
          <p:cNvPr id="76" name="Rectangle 7"/>
          <p:cNvSpPr/>
          <p:nvPr/>
        </p:nvSpPr>
        <p:spPr>
          <a:xfrm>
            <a:off x="731520" y="3154680"/>
            <a:ext cx="5120280" cy="864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pPr/>
            <a:endParaRPr lang="en-US" sz="1800" b="0" u="none" strike="noStrike">
              <a:solidFill>
                <a:schemeClr val="lt1"/>
              </a:solidFill>
              <a:effectLst/>
              <a:uFillTx/>
              <a:latin typeface="Calibri"/>
            </a:endParaRPr>
          </a:p>
        </p:txBody>
      </p:sp>
      <p:sp>
        <p:nvSpPr>
          <p:cNvPr id="77" name="Rectangle 8"/>
          <p:cNvSpPr/>
          <p:nvPr/>
        </p:nvSpPr>
        <p:spPr>
          <a:xfrm>
            <a:off x="6217920" y="3154680"/>
            <a:ext cx="5120280" cy="864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pPr/>
            <a:endParaRPr lang="en-US" sz="1800" b="0" u="none" strike="noStrike">
              <a:solidFill>
                <a:schemeClr val="lt1"/>
              </a:solidFill>
              <a:effectLst/>
              <a:uFillTx/>
              <a:latin typeface="Calibri"/>
            </a:endParaRPr>
          </a:p>
        </p:txBody>
      </p:sp>
    </p:spTree>
  </p:cSld>
  <mc:AlternateContent>
    <mc:Choice Requires="p14">
      <p:transition p14:dur="250">
        <p:fade thruBlk="true"/>
      </p:transition>
    </mc:Choice>
    <mc:Fallback>
      <p:transition>
        <p:fade thruBlk="tru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F0000"/>
        </a:solidFill>
      </p:bgPr>
    </p:bg>
    <p:spTree>
      <p:nvGrpSpPr>
        <p:cNvPr id="1" name=""/>
        <p:cNvGrpSpPr/>
        <p:nvPr/>
      </p:nvGrpSpPr>
      <p:grpSpPr>
        <a:xfrm>
          <a:off x="0" y="0"/>
          <a:ext cx="0" cy="0"/>
          <a:chOff x="0" y="0"/>
          <a:chExt cx="0" cy="0"/>
        </a:xfrm>
      </p:grpSpPr>
      <p:sp>
        <p:nvSpPr>
          <p:cNvPr id="78" name="Rectangle 1"/>
          <p:cNvSpPr/>
          <p:nvPr/>
        </p:nvSpPr>
        <p:spPr>
          <a:xfrm>
            <a:off x="1097280" y="1188720"/>
            <a:ext cx="1096920" cy="4536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720" rIns="90000" bIns="720" anchor="ctr">
            <a:noAutofit/>
          </a:bodyPr>
          <a:p>
            <a:pPr/>
            <a:endParaRPr lang="en-US" sz="1800" b="0" u="none" strike="noStrike">
              <a:solidFill>
                <a:schemeClr val="lt1"/>
              </a:solidFill>
              <a:effectLst/>
              <a:uFillTx/>
              <a:latin typeface="Calibri"/>
            </a:endParaRPr>
          </a:p>
        </p:txBody>
      </p:sp>
      <p:sp>
        <p:nvSpPr>
          <p:cNvPr id="79" name="TextBox 2"/>
          <p:cNvSpPr/>
          <p:nvPr/>
        </p:nvSpPr>
        <p:spPr>
          <a:xfrm>
            <a:off x="1097280" y="1463040"/>
            <a:ext cx="10058040" cy="27327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801"/>
              </a:spcAft>
            </a:pPr>
            <a:r>
              <a:rPr lang="en-US" sz="4400" b="1" u="none" strike="noStrike">
                <a:solidFill>
                  <a:srgbClr val="FFFFFF"/>
                </a:solidFill>
                <a:effectLst/>
                <a:uFillTx/>
                <a:latin typeface="JetBrains Mono"/>
              </a:rPr>
              <a:t>Étude préalable</a:t>
            </a:r>
            <a:endParaRPr lang="en-US" sz="44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rPr>
              <a:t>•  </a:t>
            </a:r>
            <a:r>
              <a:rPr lang="en-US" sz="1700" b="1" u="none" strike="noStrike">
                <a:solidFill>
                  <a:srgbClr val="FFFFFF"/>
                </a:solidFill>
                <a:effectLst/>
                <a:uFillTx/>
                <a:latin typeface="JetBrains Mono"/>
              </a:rPr>
              <a:t>1: </a:t>
            </a:r>
            <a:r>
              <a:rPr lang="en-US" sz="1600" b="0" u="none" strike="noStrike">
                <a:solidFill>
                  <a:srgbClr val="94A3B8"/>
                </a:solidFill>
                <a:effectLst/>
                <a:uFillTx/>
                <a:latin typeface="JetBrains Mono"/>
              </a:rPr>
              <a:t>Presentation De ITComp </a:t>
            </a:r>
            <a:endParaRPr lang="en-US" sz="16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ea typeface="Noto Sans"/>
              </a:rPr>
              <a:t>•  </a:t>
            </a:r>
            <a:r>
              <a:rPr lang="en-US" sz="1700" b="1" u="none" strike="noStrike">
                <a:solidFill>
                  <a:srgbClr val="FFFFFF"/>
                </a:solidFill>
                <a:effectLst/>
                <a:uFillTx/>
                <a:latin typeface="JetBrains Mono"/>
                <a:ea typeface="Noto Sans"/>
              </a:rPr>
              <a:t>2: </a:t>
            </a:r>
            <a:r>
              <a:rPr lang="en-US" sz="1600" b="0" u="none" strike="noStrike">
                <a:solidFill>
                  <a:srgbClr val="94A3B8"/>
                </a:solidFill>
                <a:effectLst/>
                <a:uFillTx/>
                <a:latin typeface="JetBrains Mono"/>
              </a:rPr>
              <a:t>Presentation De Uniflow suite</a:t>
            </a:r>
            <a:endParaRPr lang="en-US" sz="16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ea typeface="Noto Sans"/>
              </a:rPr>
              <a:t>•  </a:t>
            </a:r>
            <a:r>
              <a:rPr lang="en-US" sz="1700" b="1" u="none" strike="noStrike">
                <a:solidFill>
                  <a:srgbClr val="FFFFFF"/>
                </a:solidFill>
                <a:effectLst/>
                <a:uFillTx/>
                <a:latin typeface="JetBrains Mono"/>
                <a:ea typeface="Noto Sans"/>
              </a:rPr>
              <a:t>3: </a:t>
            </a:r>
            <a:r>
              <a:rPr lang="en-US" sz="1600" b="0" u="none" strike="noStrike">
                <a:solidFill>
                  <a:srgbClr val="94A3B8"/>
                </a:solidFill>
                <a:effectLst/>
                <a:uFillTx/>
                <a:latin typeface="JetBrains Mono"/>
              </a:rPr>
              <a:t>Le Problematique</a:t>
            </a:r>
            <a:endParaRPr lang="en-US" sz="16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ea typeface="Noto Sans"/>
              </a:rPr>
              <a:t>•  </a:t>
            </a:r>
            <a:r>
              <a:rPr lang="en-US" sz="1700" b="1" u="none" strike="noStrike">
                <a:solidFill>
                  <a:srgbClr val="FFFFFF"/>
                </a:solidFill>
                <a:effectLst/>
                <a:uFillTx/>
                <a:latin typeface="JetBrains Mono"/>
                <a:ea typeface="Noto Sans"/>
              </a:rPr>
              <a:t>4: </a:t>
            </a:r>
            <a:r>
              <a:rPr lang="en-US" sz="1600" b="0" u="none" strike="noStrike">
                <a:solidFill>
                  <a:srgbClr val="94A3B8"/>
                </a:solidFill>
                <a:effectLst/>
                <a:uFillTx/>
                <a:latin typeface="JetBrains Mono"/>
              </a:rPr>
              <a:t>Les Objectifs</a:t>
            </a:r>
            <a:endParaRPr lang="en-US" sz="1600" b="0" u="none" strike="noStrike">
              <a:solidFill>
                <a:srgbClr val="FFFFFF"/>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80"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Étude préalable</a:t>
            </a:r>
            <a:endParaRPr lang="en-US" sz="1300" b="0" u="none" strike="noStrike">
              <a:solidFill>
                <a:srgbClr val="000000"/>
              </a:solidFill>
              <a:effectLst/>
              <a:uFillTx/>
              <a:latin typeface="Arial"/>
            </a:endParaRPr>
          </a:p>
        </p:txBody>
      </p:sp>
      <p:sp>
        <p:nvSpPr>
          <p:cNvPr id="81" name="TextBox 2"/>
          <p:cNvSpPr/>
          <p:nvPr/>
        </p:nvSpPr>
        <p:spPr>
          <a:xfrm>
            <a:off x="731520" y="100584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Presentation d'ITComp</a:t>
            </a:r>
            <a:endParaRPr lang="en-US" sz="3600" b="0" u="none" strike="noStrike">
              <a:solidFill>
                <a:srgbClr val="000000"/>
              </a:solidFill>
              <a:effectLst/>
              <a:uFillTx/>
              <a:latin typeface="Arial"/>
            </a:endParaRPr>
          </a:p>
        </p:txBody>
      </p:sp>
      <p:sp>
        <p:nvSpPr>
          <p:cNvPr id="82" name="TextBox 3"/>
          <p:cNvSpPr/>
          <p:nvPr/>
        </p:nvSpPr>
        <p:spPr>
          <a:xfrm>
            <a:off x="5257800" y="2057400"/>
            <a:ext cx="6446160" cy="36543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400" b="1" u="none" strike="noStrike">
                <a:solidFill>
                  <a:srgbClr val="271811"/>
                </a:solidFill>
                <a:effectLst/>
                <a:uFillTx/>
                <a:latin typeface="JetBrainsMono NF SemiBold"/>
              </a:rPr>
              <a:t>ITComp </a:t>
            </a:r>
            <a:r>
              <a:rPr lang="en-US" sz="2400" b="1" u="none" strike="noStrike">
                <a:solidFill>
                  <a:srgbClr val="271811"/>
                </a:solidFill>
                <a:effectLst/>
                <a:uFillTx/>
                <a:latin typeface="JetBrainsMono NF SemiBold"/>
              </a:rPr>
              <a:t>est une </a:t>
            </a:r>
            <a:r>
              <a:rPr lang="en-US" sz="2400" b="1" u="none" strike="noStrike">
                <a:solidFill>
                  <a:srgbClr val="271811"/>
                </a:solidFill>
                <a:effectLst/>
                <a:uFillTx/>
                <a:latin typeface="JetBrainsMono NF SemiBold"/>
              </a:rPr>
              <a:t>Entrepr</a:t>
            </a:r>
            <a:r>
              <a:rPr lang="en-US" sz="2400" b="1" u="none" strike="noStrike">
                <a:solidFill>
                  <a:srgbClr val="271811"/>
                </a:solidFill>
                <a:effectLst/>
                <a:uFillTx/>
                <a:latin typeface="JetBrainsMono NF SemiBold"/>
              </a:rPr>
              <a:t>ise de </a:t>
            </a:r>
            <a:r>
              <a:rPr lang="en-US" sz="2400" b="1" u="none" strike="noStrike">
                <a:solidFill>
                  <a:srgbClr val="271811"/>
                </a:solidFill>
                <a:effectLst/>
                <a:uFillTx/>
                <a:latin typeface="JetBrainsMono NF SemiBold"/>
              </a:rPr>
              <a:t>Service</a:t>
            </a:r>
            <a:r>
              <a:rPr lang="en-US" sz="2400" b="1" u="none" strike="noStrike">
                <a:solidFill>
                  <a:srgbClr val="271811"/>
                </a:solidFill>
                <a:effectLst/>
                <a:uFillTx/>
                <a:latin typeface="JetBrainsMono NF SemiBold"/>
              </a:rPr>
              <a:t>s du </a:t>
            </a:r>
            <a:r>
              <a:rPr lang="en-US" sz="2400" b="1" u="none" strike="noStrike">
                <a:solidFill>
                  <a:srgbClr val="271811"/>
                </a:solidFill>
                <a:effectLst/>
                <a:uFillTx/>
                <a:latin typeface="JetBrainsMono NF SemiBold"/>
              </a:rPr>
              <a:t>Numériq</a:t>
            </a:r>
            <a:r>
              <a:rPr lang="en-US" sz="2400" b="1" u="none" strike="noStrike">
                <a:solidFill>
                  <a:srgbClr val="271811"/>
                </a:solidFill>
                <a:effectLst/>
                <a:uFillTx/>
                <a:latin typeface="JetBrainsMono NF SemiBold"/>
              </a:rPr>
              <a:t>ue </a:t>
            </a:r>
            <a:r>
              <a:rPr lang="en-US" sz="2400" b="1" u="none" strike="noStrike">
                <a:solidFill>
                  <a:srgbClr val="271811"/>
                </a:solidFill>
                <a:effectLst/>
                <a:uFillTx/>
                <a:latin typeface="JetBrainsMono NF SemiBold"/>
              </a:rPr>
              <a:t>(ESN) </a:t>
            </a:r>
            <a:r>
              <a:rPr lang="en-US" sz="2400" b="1" u="none" strike="noStrike">
                <a:solidFill>
                  <a:srgbClr val="271811"/>
                </a:solidFill>
                <a:effectLst/>
                <a:uFillTx/>
                <a:latin typeface="JetBrainsMono NF SemiBold"/>
              </a:rPr>
              <a:t>algérie</a:t>
            </a:r>
            <a:r>
              <a:rPr lang="en-US" sz="2400" b="1" u="none" strike="noStrike">
                <a:solidFill>
                  <a:srgbClr val="271811"/>
                </a:solidFill>
                <a:effectLst/>
                <a:uFillTx/>
                <a:latin typeface="JetBrainsMono NF SemiBold"/>
              </a:rPr>
              <a:t>nne,</a:t>
            </a:r>
            <a:br>
              <a:rPr sz="2400"/>
            </a:br>
            <a:r>
              <a:rPr lang="en-US" sz="2400" b="1" u="none" strike="noStrike">
                <a:solidFill>
                  <a:srgbClr val="271811"/>
                </a:solidFill>
                <a:effectLst/>
                <a:uFillTx/>
                <a:latin typeface="JetBrainsMono NF SemiBold"/>
              </a:rPr>
              <a:t>créée </a:t>
            </a:r>
            <a:r>
              <a:rPr lang="en-US" sz="2400" b="1" u="none" strike="noStrike">
                <a:solidFill>
                  <a:srgbClr val="271811"/>
                </a:solidFill>
                <a:effectLst/>
                <a:uFillTx/>
                <a:latin typeface="JetBrainsMono NF SemiBold"/>
              </a:rPr>
              <a:t>en 2003 </a:t>
            </a:r>
            <a:r>
              <a:rPr lang="en-US" sz="2400" b="1" u="none" strike="noStrike">
                <a:solidFill>
                  <a:srgbClr val="271811"/>
                </a:solidFill>
                <a:effectLst/>
                <a:uFillTx/>
                <a:latin typeface="JetBrainsMono NF SemiBold"/>
              </a:rPr>
              <a:t>après </a:t>
            </a:r>
            <a:r>
              <a:rPr lang="en-US" sz="2400" b="1" u="none" strike="noStrike">
                <a:solidFill>
                  <a:srgbClr val="271811"/>
                </a:solidFill>
                <a:effectLst/>
                <a:uFillTx/>
                <a:latin typeface="JetBrainsMono NF SemiBold"/>
              </a:rPr>
              <a:t>avoir </a:t>
            </a:r>
            <a:r>
              <a:rPr lang="en-US" sz="2400" b="1" u="none" strike="noStrike">
                <a:solidFill>
                  <a:srgbClr val="271811"/>
                </a:solidFill>
                <a:effectLst/>
                <a:uFillTx/>
                <a:latin typeface="JetBrainsMono NF SemiBold"/>
              </a:rPr>
              <a:t>débuté </a:t>
            </a:r>
            <a:r>
              <a:rPr lang="en-US" sz="2400" b="1" u="none" strike="noStrike">
                <a:solidFill>
                  <a:srgbClr val="271811"/>
                </a:solidFill>
                <a:effectLst/>
                <a:uFillTx/>
                <a:latin typeface="JetBrainsMono NF SemiBold"/>
              </a:rPr>
              <a:t>comme </a:t>
            </a:r>
            <a:r>
              <a:rPr lang="en-US" sz="2400" b="1" u="none" strike="noStrike">
                <a:solidFill>
                  <a:srgbClr val="271811"/>
                </a:solidFill>
                <a:effectLst/>
                <a:uFillTx/>
                <a:latin typeface="JetBrainsMono NF SemiBold"/>
              </a:rPr>
              <a:t>centre </a:t>
            </a:r>
            <a:r>
              <a:rPr lang="en-US" sz="2400" b="1" u="none" strike="noStrike">
                <a:solidFill>
                  <a:srgbClr val="271811"/>
                </a:solidFill>
                <a:effectLst/>
                <a:uFillTx/>
                <a:latin typeface="JetBrainsMono NF SemiBold"/>
              </a:rPr>
              <a:t>de </a:t>
            </a:r>
            <a:r>
              <a:rPr lang="en-US" sz="2400" b="1" u="none" strike="noStrike">
                <a:solidFill>
                  <a:srgbClr val="271811"/>
                </a:solidFill>
                <a:effectLst/>
                <a:uFillTx/>
                <a:latin typeface="JetBrainsMono NF SemiBold"/>
              </a:rPr>
              <a:t>formati</a:t>
            </a:r>
            <a:r>
              <a:rPr lang="en-US" sz="2400" b="1" u="none" strike="noStrike">
                <a:solidFill>
                  <a:srgbClr val="271811"/>
                </a:solidFill>
                <a:effectLst/>
                <a:uFillTx/>
                <a:latin typeface="JetBrainsMono NF SemiBold"/>
              </a:rPr>
              <a:t>on en </a:t>
            </a:r>
            <a:r>
              <a:rPr lang="en-US" sz="2400" b="1" u="none" strike="noStrike">
                <a:solidFill>
                  <a:srgbClr val="271811"/>
                </a:solidFill>
                <a:effectLst/>
                <a:uFillTx/>
                <a:latin typeface="JetBrainsMono NF SemiBold"/>
              </a:rPr>
              <a:t>1999.</a:t>
            </a:r>
            <a:br>
              <a:rPr sz="2400"/>
            </a:br>
            <a:r>
              <a:rPr lang="en-US" sz="2400" b="1" u="none" strike="noStrike">
                <a:solidFill>
                  <a:srgbClr val="271811"/>
                </a:solidFill>
                <a:effectLst/>
                <a:uFillTx/>
                <a:latin typeface="JetBrainsMono NF SemiBold"/>
              </a:rPr>
              <a:t>Elle </a:t>
            </a:r>
            <a:r>
              <a:rPr lang="en-US" sz="2400" b="1" u="none" strike="noStrike">
                <a:solidFill>
                  <a:srgbClr val="271811"/>
                </a:solidFill>
                <a:effectLst/>
                <a:uFillTx/>
                <a:latin typeface="JetBrainsMono NF SemiBold"/>
              </a:rPr>
              <a:t>accompa</a:t>
            </a:r>
            <a:r>
              <a:rPr lang="en-US" sz="2400" b="1" u="none" strike="noStrike">
                <a:solidFill>
                  <a:srgbClr val="271811"/>
                </a:solidFill>
                <a:effectLst/>
                <a:uFillTx/>
                <a:latin typeface="JetBrainsMono NF SemiBold"/>
              </a:rPr>
              <a:t>gne les </a:t>
            </a:r>
            <a:r>
              <a:rPr lang="en-US" sz="2400" b="1" u="none" strike="noStrike">
                <a:solidFill>
                  <a:srgbClr val="271811"/>
                </a:solidFill>
                <a:effectLst/>
                <a:uFillTx/>
                <a:latin typeface="JetBrainsMono NF SemiBold"/>
              </a:rPr>
              <a:t>organis</a:t>
            </a:r>
            <a:r>
              <a:rPr lang="en-US" sz="2400" b="1" u="none" strike="noStrike">
                <a:solidFill>
                  <a:srgbClr val="271811"/>
                </a:solidFill>
                <a:effectLst/>
                <a:uFillTx/>
                <a:latin typeface="JetBrainsMono NF SemiBold"/>
              </a:rPr>
              <a:t>ations </a:t>
            </a:r>
            <a:r>
              <a:rPr lang="en-US" sz="2400" b="1" u="none" strike="noStrike">
                <a:solidFill>
                  <a:srgbClr val="271811"/>
                </a:solidFill>
                <a:effectLst/>
                <a:uFillTx/>
                <a:latin typeface="JetBrainsMono NF SemiBold"/>
              </a:rPr>
              <a:t>dans </a:t>
            </a:r>
            <a:r>
              <a:rPr lang="en-US" sz="2400" b="1" u="none" strike="noStrike">
                <a:solidFill>
                  <a:srgbClr val="271811"/>
                </a:solidFill>
                <a:effectLst/>
                <a:uFillTx/>
                <a:latin typeface="JetBrainsMono NF SemiBold"/>
              </a:rPr>
              <a:t>leur </a:t>
            </a:r>
            <a:r>
              <a:rPr lang="en-US" sz="2400" b="1" u="none" strike="noStrike">
                <a:solidFill>
                  <a:srgbClr val="271811"/>
                </a:solidFill>
                <a:effectLst/>
                <a:uFillTx/>
                <a:latin typeface="JetBrainsMono NF SemiBold"/>
              </a:rPr>
              <a:t>numéris</a:t>
            </a:r>
            <a:r>
              <a:rPr lang="en-US" sz="2400" b="1" u="none" strike="noStrike">
                <a:solidFill>
                  <a:srgbClr val="271811"/>
                </a:solidFill>
                <a:effectLst/>
                <a:uFillTx/>
                <a:latin typeface="JetBrainsMono NF SemiBold"/>
              </a:rPr>
              <a:t>ation.</a:t>
            </a:r>
            <a:br>
              <a:rPr sz="2400"/>
            </a:br>
            <a:r>
              <a:rPr lang="en-US" sz="2400" b="1" u="none" strike="noStrike">
                <a:solidFill>
                  <a:srgbClr val="271811"/>
                </a:solidFill>
                <a:effectLst/>
                <a:uFillTx/>
                <a:latin typeface="JetBrainsMono NF SemiBold"/>
              </a:rPr>
              <a:t>Elle </a:t>
            </a:r>
            <a:r>
              <a:rPr lang="en-US" sz="2400" b="1" u="none" strike="noStrike">
                <a:solidFill>
                  <a:srgbClr val="271811"/>
                </a:solidFill>
                <a:effectLst/>
                <a:uFillTx/>
                <a:latin typeface="JetBrainsMono NF SemiBold"/>
              </a:rPr>
              <a:t>est </a:t>
            </a:r>
            <a:r>
              <a:rPr lang="en-US" sz="2400" b="1" u="none" strike="noStrike">
                <a:solidFill>
                  <a:srgbClr val="271811"/>
                </a:solidFill>
                <a:effectLst/>
                <a:uFillTx/>
                <a:latin typeface="JetBrainsMono NF SemiBold"/>
              </a:rPr>
              <a:t>aussi </a:t>
            </a:r>
            <a:r>
              <a:rPr lang="en-US" sz="2400" b="1" u="none" strike="noStrike">
                <a:solidFill>
                  <a:srgbClr val="271811"/>
                </a:solidFill>
                <a:effectLst/>
                <a:uFillTx/>
                <a:latin typeface="JetBrainsMono NF SemiBold"/>
              </a:rPr>
              <a:t>partena</a:t>
            </a:r>
            <a:r>
              <a:rPr lang="en-US" sz="2400" b="1" u="none" strike="noStrike">
                <a:solidFill>
                  <a:srgbClr val="271811"/>
                </a:solidFill>
                <a:effectLst/>
                <a:uFillTx/>
                <a:latin typeface="JetBrainsMono NF SemiBold"/>
              </a:rPr>
              <a:t>ire de </a:t>
            </a:r>
            <a:r>
              <a:rPr lang="en-US" sz="2400" b="1" u="none" strike="noStrike">
                <a:solidFill>
                  <a:srgbClr val="271811"/>
                </a:solidFill>
                <a:effectLst/>
                <a:uFillTx/>
                <a:latin typeface="JetBrainsMono NF SemiBold"/>
              </a:rPr>
              <a:t>grandes </a:t>
            </a:r>
            <a:r>
              <a:rPr lang="en-US" sz="2400" b="1" u="none" strike="noStrike">
                <a:solidFill>
                  <a:srgbClr val="271811"/>
                </a:solidFill>
                <a:effectLst/>
                <a:uFillTx/>
                <a:latin typeface="JetBrainsMono NF SemiBold"/>
              </a:rPr>
              <a:t>entrepr</a:t>
            </a:r>
            <a:r>
              <a:rPr lang="en-US" sz="2400" b="1" u="none" strike="noStrike">
                <a:solidFill>
                  <a:srgbClr val="271811"/>
                </a:solidFill>
                <a:effectLst/>
                <a:uFillTx/>
                <a:latin typeface="JetBrainsMono NF SemiBold"/>
              </a:rPr>
              <a:t>ises </a:t>
            </a:r>
            <a:r>
              <a:rPr lang="en-US" sz="2400" b="1" u="none" strike="noStrike">
                <a:solidFill>
                  <a:srgbClr val="271811"/>
                </a:solidFill>
                <a:effectLst/>
                <a:uFillTx/>
                <a:latin typeface="JetBrainsMono NF SemiBold"/>
              </a:rPr>
              <a:t>comme </a:t>
            </a:r>
            <a:r>
              <a:rPr lang="en-US" sz="2400" b="1" u="none" strike="noStrike">
                <a:solidFill>
                  <a:srgbClr val="271811"/>
                </a:solidFill>
                <a:effectLst/>
                <a:uFillTx/>
                <a:latin typeface="JetBrainsMono NF SemiBold"/>
              </a:rPr>
              <a:t>Microso</a:t>
            </a:r>
            <a:r>
              <a:rPr lang="en-US" sz="2400" b="1" u="none" strike="noStrike">
                <a:solidFill>
                  <a:srgbClr val="271811"/>
                </a:solidFill>
                <a:effectLst/>
                <a:uFillTx/>
                <a:latin typeface="JetBrainsMono NF SemiBold"/>
              </a:rPr>
              <a:t>ft et </a:t>
            </a:r>
            <a:r>
              <a:rPr lang="en-US" sz="2400" b="1" u="none" strike="noStrike">
                <a:solidFill>
                  <a:srgbClr val="271811"/>
                </a:solidFill>
                <a:effectLst/>
                <a:uFillTx/>
                <a:latin typeface="JetBrainsMono NF SemiBold"/>
              </a:rPr>
              <a:t>Oracle.</a:t>
            </a:r>
            <a:endParaRPr lang="en-US" sz="2400" b="1" u="none" strike="noStrike">
              <a:solidFill>
                <a:srgbClr val="000000"/>
              </a:solidFill>
              <a:effectLst/>
              <a:uFillTx/>
              <a:latin typeface="JetBrainsMono NF SemiBold"/>
            </a:endParaRPr>
          </a:p>
        </p:txBody>
      </p:sp>
      <p:pic>
        <p:nvPicPr>
          <p:cNvPr id="83" name=""/>
          <p:cNvPicPr/>
          <p:nvPr/>
        </p:nvPicPr>
        <p:blipFill>
          <a:blip r:embed="rId1"/>
          <a:stretch/>
        </p:blipFill>
        <p:spPr>
          <a:xfrm>
            <a:off x="1501560" y="2286000"/>
            <a:ext cx="2384640" cy="3429000"/>
          </a:xfrm>
          <a:prstGeom prst="rect">
            <a:avLst/>
          </a:prstGeom>
          <a:noFill/>
          <a:ln w="38160">
            <a:noFill/>
          </a:ln>
        </p:spPr>
      </p:pic>
      <p:sp>
        <p:nvSpPr>
          <p:cNvPr id="84" name="Rectangle 12"/>
          <p:cNvSpPr/>
          <p:nvPr/>
        </p:nvSpPr>
        <p:spPr>
          <a:xfrm rot="5400000">
            <a:off x="3125520" y="3961080"/>
            <a:ext cx="3886200" cy="7884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pPr/>
            <a:endParaRPr lang="en-US" sz="1800" b="0" u="none" strike="noStrike">
              <a:solidFill>
                <a:schemeClr val="lt1"/>
              </a:solidFill>
              <a:effectLst/>
              <a:uFillTx/>
              <a:latin typeface="Calibri"/>
            </a:endParaRPr>
          </a:p>
        </p:txBody>
      </p:sp>
    </p:spTree>
  </p:cSld>
  <mc:AlternateContent>
    <mc:Choice Requires="p14">
      <p:transition p14:dur="250">
        <p:fade thruBlk="true"/>
      </p:transition>
    </mc:Choice>
    <mc:Fallback>
      <p:transition>
        <p:fade thruBlk="tru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85"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ÉTUDE PRÉALABLE</a:t>
            </a:r>
            <a:endParaRPr lang="en-US" sz="1300" b="0" u="none" strike="noStrike">
              <a:solidFill>
                <a:srgbClr val="000000"/>
              </a:solidFill>
              <a:effectLst/>
              <a:uFillTx/>
              <a:latin typeface="Arial"/>
            </a:endParaRPr>
          </a:p>
        </p:txBody>
      </p:sp>
      <p:sp>
        <p:nvSpPr>
          <p:cNvPr id="86" name="TextBox 2"/>
          <p:cNvSpPr/>
          <p:nvPr/>
        </p:nvSpPr>
        <p:spPr>
          <a:xfrm>
            <a:off x="731520" y="100584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Nos Services</a:t>
            </a:r>
            <a:endParaRPr lang="en-US" sz="3600" b="0" u="none" strike="noStrike">
              <a:solidFill>
                <a:srgbClr val="000000"/>
              </a:solidFill>
              <a:effectLst/>
              <a:uFillTx/>
              <a:latin typeface="Arial"/>
            </a:endParaRPr>
          </a:p>
        </p:txBody>
      </p:sp>
      <p:sp>
        <p:nvSpPr>
          <p:cNvPr id="87" name="Rectangle 3"/>
          <p:cNvSpPr/>
          <p:nvPr/>
        </p:nvSpPr>
        <p:spPr>
          <a:xfrm>
            <a:off x="685800" y="1828800"/>
            <a:ext cx="5189040" cy="7884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pPr/>
            <a:endParaRPr lang="en-US" sz="1800" b="0" u="none" strike="noStrike">
              <a:solidFill>
                <a:schemeClr val="lt1"/>
              </a:solidFill>
              <a:effectLst/>
              <a:uFillTx/>
              <a:latin typeface="Calibri"/>
            </a:endParaRPr>
          </a:p>
        </p:txBody>
      </p:sp>
      <p:sp>
        <p:nvSpPr>
          <p:cNvPr id="88" name="TextBox 4"/>
          <p:cNvSpPr/>
          <p:nvPr/>
        </p:nvSpPr>
        <p:spPr>
          <a:xfrm>
            <a:off x="685800" y="2425680"/>
            <a:ext cx="5189040" cy="716040"/>
          </a:xfrm>
          <a:prstGeom prst="rect">
            <a:avLst/>
          </a:prstGeom>
          <a:noFill/>
          <a:ln w="0">
            <a:noFill/>
          </a:ln>
        </p:spPr>
        <p:style>
          <a:lnRef idx="0"/>
          <a:fillRef idx="0"/>
          <a:effectRef idx="0"/>
          <a:fontRef idx="minor"/>
        </p:style>
        <p:txBody>
          <a:bodyPr lIns="0" tIns="0" rIns="0" bIns="0" anchor="t" anchorCtr="1">
            <a:spAutoFit/>
          </a:bodyPr>
          <a:p>
            <a:pPr algn="ctr" defTabSz="457200">
              <a:lnSpc>
                <a:spcPct val="100000"/>
              </a:lnSpc>
              <a:spcAft>
                <a:spcPts val="601"/>
              </a:spcAft>
            </a:pPr>
            <a:r>
              <a:rPr lang="en-US" sz="2100" b="1" u="none" strike="noStrike">
                <a:solidFill>
                  <a:srgbClr val="64748B"/>
                </a:solidFill>
                <a:effectLst/>
                <a:uFillTx/>
                <a:latin typeface="JetBrains Mono"/>
              </a:rPr>
              <a:t>01</a:t>
            </a:r>
            <a:endParaRPr lang="en-US" sz="2100" b="1" u="none" strike="noStrike">
              <a:solidFill>
                <a:srgbClr val="000000"/>
              </a:solidFill>
              <a:effectLst/>
              <a:uFillTx/>
              <a:latin typeface="Arial"/>
            </a:endParaRPr>
          </a:p>
          <a:p>
            <a:pPr algn="ctr" defTabSz="457200">
              <a:lnSpc>
                <a:spcPct val="100000"/>
              </a:lnSpc>
            </a:pPr>
            <a:r>
              <a:rPr lang="en-US" sz="2100" b="1" u="none" strike="noStrike">
                <a:solidFill>
                  <a:srgbClr val="271811"/>
                </a:solidFill>
                <a:effectLst/>
                <a:uFillTx/>
                <a:latin typeface="JetBrains Mono"/>
              </a:rPr>
              <a:t>Conseils</a:t>
            </a:r>
            <a:endParaRPr lang="en-US" sz="2100" b="1" u="none" strike="noStrike">
              <a:solidFill>
                <a:srgbClr val="000000"/>
              </a:solidFill>
              <a:effectLst/>
              <a:uFillTx/>
              <a:latin typeface="Arial"/>
            </a:endParaRPr>
          </a:p>
        </p:txBody>
      </p:sp>
      <p:sp>
        <p:nvSpPr>
          <p:cNvPr id="89" name="Rectangle 5"/>
          <p:cNvSpPr/>
          <p:nvPr/>
        </p:nvSpPr>
        <p:spPr>
          <a:xfrm>
            <a:off x="6455880" y="1828800"/>
            <a:ext cx="5189760" cy="7884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4200" rIns="90000" bIns="34200" anchor="ctr">
            <a:noAutofit/>
          </a:bodyPr>
          <a:p>
            <a:pPr/>
            <a:endParaRPr lang="en-US" sz="1800" b="0" u="none" strike="noStrike">
              <a:solidFill>
                <a:schemeClr val="lt1"/>
              </a:solidFill>
              <a:effectLst/>
              <a:uFillTx/>
              <a:latin typeface="Calibri"/>
            </a:endParaRPr>
          </a:p>
        </p:txBody>
      </p:sp>
      <p:sp>
        <p:nvSpPr>
          <p:cNvPr id="90" name="TextBox 6"/>
          <p:cNvSpPr/>
          <p:nvPr/>
        </p:nvSpPr>
        <p:spPr>
          <a:xfrm>
            <a:off x="6455880" y="2425680"/>
            <a:ext cx="5189760" cy="685080"/>
          </a:xfrm>
          <a:prstGeom prst="rect">
            <a:avLst/>
          </a:prstGeom>
          <a:noFill/>
          <a:ln w="0">
            <a:noFill/>
          </a:ln>
        </p:spPr>
        <p:style>
          <a:lnRef idx="0"/>
          <a:fillRef idx="0"/>
          <a:effectRef idx="0"/>
          <a:fontRef idx="minor"/>
        </p:style>
        <p:txBody>
          <a:bodyPr lIns="0" tIns="0" rIns="0" bIns="0" anchor="t" anchorCtr="1">
            <a:spAutoFit/>
          </a:bodyPr>
          <a:p>
            <a:pPr algn="ctr" defTabSz="457200">
              <a:lnSpc>
                <a:spcPct val="100000"/>
              </a:lnSpc>
              <a:spcAft>
                <a:spcPts val="601"/>
              </a:spcAft>
            </a:pPr>
            <a:r>
              <a:rPr lang="en-US" sz="2000" b="1" u="none" strike="noStrike">
                <a:solidFill>
                  <a:srgbClr val="64748B"/>
                </a:solidFill>
                <a:effectLst/>
                <a:uFillTx/>
                <a:latin typeface="JetBrains Mono"/>
              </a:rPr>
              <a:t>02</a:t>
            </a:r>
            <a:endParaRPr lang="en-US" sz="2000" b="1" u="none" strike="noStrike">
              <a:solidFill>
                <a:srgbClr val="000000"/>
              </a:solidFill>
              <a:effectLst/>
              <a:uFillTx/>
              <a:latin typeface="Arial"/>
            </a:endParaRPr>
          </a:p>
          <a:p>
            <a:pPr algn="ctr" defTabSz="457200">
              <a:lnSpc>
                <a:spcPct val="100000"/>
              </a:lnSpc>
            </a:pPr>
            <a:r>
              <a:rPr lang="en-US" sz="2000" b="1" u="none" strike="noStrike">
                <a:solidFill>
                  <a:srgbClr val="271811"/>
                </a:solidFill>
                <a:effectLst/>
                <a:uFillTx/>
                <a:latin typeface="JetBrains Mono"/>
              </a:rPr>
              <a:t>Formations</a:t>
            </a:r>
            <a:endParaRPr lang="en-US" sz="2000" b="1" u="none" strike="noStrike">
              <a:solidFill>
                <a:srgbClr val="000000"/>
              </a:solidFill>
              <a:effectLst/>
              <a:uFillTx/>
              <a:latin typeface="Arial"/>
            </a:endParaRPr>
          </a:p>
        </p:txBody>
      </p:sp>
      <p:sp>
        <p:nvSpPr>
          <p:cNvPr id="91" name="Rectangle 7"/>
          <p:cNvSpPr/>
          <p:nvPr/>
        </p:nvSpPr>
        <p:spPr>
          <a:xfrm>
            <a:off x="698760" y="4314600"/>
            <a:ext cx="5189760" cy="7848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3840" rIns="90000" bIns="33840" anchor="ctr">
            <a:noAutofit/>
          </a:bodyPr>
          <a:p>
            <a:pPr/>
            <a:endParaRPr lang="en-US" sz="1800" b="0" u="none" strike="noStrike">
              <a:solidFill>
                <a:schemeClr val="lt1"/>
              </a:solidFill>
              <a:effectLst/>
              <a:uFillTx/>
              <a:latin typeface="Calibri"/>
            </a:endParaRPr>
          </a:p>
        </p:txBody>
      </p:sp>
      <p:sp>
        <p:nvSpPr>
          <p:cNvPr id="92" name="TextBox 8"/>
          <p:cNvSpPr/>
          <p:nvPr/>
        </p:nvSpPr>
        <p:spPr>
          <a:xfrm>
            <a:off x="698760" y="4911480"/>
            <a:ext cx="5189760" cy="716040"/>
          </a:xfrm>
          <a:prstGeom prst="rect">
            <a:avLst/>
          </a:prstGeom>
          <a:noFill/>
          <a:ln w="0">
            <a:noFill/>
          </a:ln>
        </p:spPr>
        <p:style>
          <a:lnRef idx="0"/>
          <a:fillRef idx="0"/>
          <a:effectRef idx="0"/>
          <a:fontRef idx="minor"/>
        </p:style>
        <p:txBody>
          <a:bodyPr lIns="0" tIns="0" rIns="0" bIns="0" anchor="t" anchorCtr="1">
            <a:spAutoFit/>
          </a:bodyPr>
          <a:p>
            <a:pPr algn="ctr" defTabSz="457200">
              <a:lnSpc>
                <a:spcPct val="100000"/>
              </a:lnSpc>
              <a:spcAft>
                <a:spcPts val="601"/>
              </a:spcAft>
            </a:pPr>
            <a:r>
              <a:rPr lang="en-US" sz="2100" b="1" u="none" strike="noStrike">
                <a:solidFill>
                  <a:srgbClr val="64748B"/>
                </a:solidFill>
                <a:effectLst/>
                <a:uFillTx/>
                <a:latin typeface="JetBrains Mono"/>
              </a:rPr>
              <a:t>03</a:t>
            </a:r>
            <a:endParaRPr lang="en-US" sz="2100" b="1" u="none" strike="noStrike">
              <a:solidFill>
                <a:srgbClr val="000000"/>
              </a:solidFill>
              <a:effectLst/>
              <a:uFillTx/>
              <a:latin typeface="Arial"/>
            </a:endParaRPr>
          </a:p>
          <a:p>
            <a:pPr algn="ctr" defTabSz="457200">
              <a:lnSpc>
                <a:spcPct val="100000"/>
              </a:lnSpc>
            </a:pPr>
            <a:r>
              <a:rPr lang="en-US" sz="2100" b="1" u="none" strike="noStrike">
                <a:solidFill>
                  <a:srgbClr val="271811"/>
                </a:solidFill>
                <a:effectLst/>
                <a:uFillTx/>
                <a:latin typeface="JetBrains Mono"/>
              </a:rPr>
              <a:t>Assistance Technique</a:t>
            </a:r>
            <a:endParaRPr lang="en-US" sz="2100" b="1" u="none" strike="noStrike">
              <a:solidFill>
                <a:srgbClr val="000000"/>
              </a:solidFill>
              <a:effectLst/>
              <a:uFillTx/>
              <a:latin typeface="Arial"/>
            </a:endParaRPr>
          </a:p>
        </p:txBody>
      </p:sp>
      <p:sp>
        <p:nvSpPr>
          <p:cNvPr id="93" name="Rectangle 9"/>
          <p:cNvSpPr/>
          <p:nvPr/>
        </p:nvSpPr>
        <p:spPr>
          <a:xfrm>
            <a:off x="6469560" y="4314600"/>
            <a:ext cx="5189040" cy="7848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3840" rIns="90000" bIns="33840" anchor="ctr">
            <a:noAutofit/>
          </a:bodyPr>
          <a:p>
            <a:pPr/>
            <a:endParaRPr lang="en-US" sz="1800" b="0" u="none" strike="noStrike">
              <a:solidFill>
                <a:schemeClr val="lt1"/>
              </a:solidFill>
              <a:effectLst/>
              <a:uFillTx/>
              <a:latin typeface="Calibri"/>
            </a:endParaRPr>
          </a:p>
        </p:txBody>
      </p:sp>
      <p:sp>
        <p:nvSpPr>
          <p:cNvPr id="94" name="TextBox 10"/>
          <p:cNvSpPr/>
          <p:nvPr/>
        </p:nvSpPr>
        <p:spPr>
          <a:xfrm>
            <a:off x="6469560" y="4911480"/>
            <a:ext cx="5189040" cy="731520"/>
          </a:xfrm>
          <a:prstGeom prst="rect">
            <a:avLst/>
          </a:prstGeom>
          <a:noFill/>
          <a:ln w="0">
            <a:noFill/>
          </a:ln>
        </p:spPr>
        <p:style>
          <a:lnRef idx="0"/>
          <a:fillRef idx="0"/>
          <a:effectRef idx="0"/>
          <a:fontRef idx="minor"/>
        </p:style>
        <p:txBody>
          <a:bodyPr lIns="0" tIns="0" rIns="0" bIns="0" anchor="t" anchorCtr="1">
            <a:spAutoFit/>
          </a:bodyPr>
          <a:p>
            <a:pPr algn="ctr" defTabSz="457200">
              <a:lnSpc>
                <a:spcPct val="100000"/>
              </a:lnSpc>
              <a:spcAft>
                <a:spcPts val="601"/>
              </a:spcAft>
            </a:pPr>
            <a:r>
              <a:rPr lang="en-US" sz="2100" b="1" u="none" strike="noStrike">
                <a:solidFill>
                  <a:srgbClr val="64748B"/>
                </a:solidFill>
                <a:effectLst/>
                <a:uFillTx/>
                <a:latin typeface="JetBrains Mono"/>
              </a:rPr>
              <a:t>04</a:t>
            </a:r>
            <a:endParaRPr lang="en-US" sz="2100" b="1" u="none" strike="noStrike">
              <a:solidFill>
                <a:srgbClr val="000000"/>
              </a:solidFill>
              <a:effectLst/>
              <a:uFillTx/>
              <a:latin typeface="Arial"/>
            </a:endParaRPr>
          </a:p>
          <a:p>
            <a:pPr algn="ctr" defTabSz="457200">
              <a:lnSpc>
                <a:spcPct val="100000"/>
              </a:lnSpc>
            </a:pPr>
            <a:r>
              <a:rPr lang="en-US" sz="2200" b="1" u="none" strike="noStrike">
                <a:solidFill>
                  <a:srgbClr val="271811"/>
                </a:solidFill>
                <a:effectLst/>
                <a:uFillTx/>
                <a:latin typeface="JetBrains Mono"/>
              </a:rPr>
              <a:t>Développement et Integration</a:t>
            </a:r>
            <a:endParaRPr lang="en-US" sz="2200" b="1" u="none" strike="noStrike">
              <a:solidFill>
                <a:srgbClr val="000000"/>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95"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Étude préalable</a:t>
            </a:r>
            <a:endParaRPr lang="en-US" sz="1300" b="0" u="none" strike="noStrike">
              <a:solidFill>
                <a:srgbClr val="000000"/>
              </a:solidFill>
              <a:effectLst/>
              <a:uFillTx/>
              <a:latin typeface="Arial"/>
            </a:endParaRPr>
          </a:p>
        </p:txBody>
      </p:sp>
      <p:sp>
        <p:nvSpPr>
          <p:cNvPr id="96" name="TextBox 2"/>
          <p:cNvSpPr/>
          <p:nvPr/>
        </p:nvSpPr>
        <p:spPr>
          <a:xfrm>
            <a:off x="731520" y="100584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UniFlow suite</a:t>
            </a:r>
            <a:endParaRPr lang="en-US" sz="3600" b="0" u="none" strike="noStrike">
              <a:solidFill>
                <a:srgbClr val="000000"/>
              </a:solidFill>
              <a:effectLst/>
              <a:uFillTx/>
              <a:latin typeface="Arial"/>
            </a:endParaRPr>
          </a:p>
        </p:txBody>
      </p:sp>
      <p:sp>
        <p:nvSpPr>
          <p:cNvPr id="97" name="TextBox 3"/>
          <p:cNvSpPr/>
          <p:nvPr/>
        </p:nvSpPr>
        <p:spPr>
          <a:xfrm>
            <a:off x="731520" y="1828800"/>
            <a:ext cx="10972440" cy="14626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200" b="0" u="none" strike="noStrike">
                <a:solidFill>
                  <a:srgbClr val="271811"/>
                </a:solidFill>
                <a:effectLst/>
                <a:uFillTx/>
                <a:latin typeface="JetBrains Mono"/>
              </a:rPr>
              <a:t>Uniflow-Suite est une solution numérique de gestion scolaire qui centralise les activités académiques et administratives des établissements d’enseignement grâce à plusieurs applications, notamment:</a:t>
            </a:r>
            <a:endParaRPr lang="en-US" sz="2200" b="0" u="none" strike="noStrike">
              <a:solidFill>
                <a:srgbClr val="000000"/>
              </a:solidFill>
              <a:effectLst/>
              <a:uFillTx/>
              <a:latin typeface="Arial"/>
            </a:endParaRPr>
          </a:p>
        </p:txBody>
      </p:sp>
      <p:sp>
        <p:nvSpPr>
          <p:cNvPr id="98" name="Rectangle 4"/>
          <p:cNvSpPr/>
          <p:nvPr/>
        </p:nvSpPr>
        <p:spPr>
          <a:xfrm>
            <a:off x="4114800" y="3657600"/>
            <a:ext cx="3429000" cy="23313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182880" rIns="274320" bIns="182880" anchor="ctr" anchorCtr="1">
            <a:noAutofit/>
          </a:bodyPr>
          <a:p>
            <a:pPr algn="ctr" defTabSz="457200">
              <a:lnSpc>
                <a:spcPct val="100000"/>
              </a:lnSpc>
            </a:pPr>
            <a:endParaRPr lang="en-US" sz="1800" b="0" u="none" strike="noStrike">
              <a:solidFill>
                <a:srgbClr val="000000"/>
              </a:solidFill>
              <a:effectLst/>
              <a:uFillTx/>
              <a:latin typeface="Arial"/>
            </a:endParaRPr>
          </a:p>
          <a:p>
            <a:pPr algn="ctr" defTabSz="457200">
              <a:lnSpc>
                <a:spcPct val="100000"/>
              </a:lnSpc>
              <a:spcAft>
                <a:spcPts val="601"/>
              </a:spcAft>
            </a:pPr>
            <a:r>
              <a:rPr lang="en-US" sz="2100" b="1" u="none" strike="noStrike">
                <a:solidFill>
                  <a:srgbClr val="271811"/>
                </a:solidFill>
                <a:effectLst/>
                <a:uFillTx/>
                <a:latin typeface="JetBrains Mono"/>
              </a:rPr>
              <a:t>Uniflow Campus</a:t>
            </a:r>
            <a:endParaRPr lang="en-US" sz="2100" b="0" u="none" strike="noStrike">
              <a:solidFill>
                <a:srgbClr val="000000"/>
              </a:solidFill>
              <a:effectLst/>
              <a:uFillTx/>
              <a:latin typeface="Arial"/>
            </a:endParaRPr>
          </a:p>
          <a:p>
            <a:pPr algn="ctr" defTabSz="457200">
              <a:lnSpc>
                <a:spcPct val="100000"/>
              </a:lnSpc>
            </a:pPr>
            <a:r>
              <a:rPr lang="en-US" sz="1500" b="0" u="none" strike="noStrike">
                <a:solidFill>
                  <a:srgbClr val="64748B"/>
                </a:solidFill>
                <a:effectLst/>
                <a:uFillTx/>
                <a:latin typeface="JetBrains Mono"/>
              </a:rPr>
              <a:t>la gestion académique</a:t>
            </a:r>
            <a:endParaRPr lang="en-US" sz="1500" b="0" u="none" strike="noStrike">
              <a:solidFill>
                <a:srgbClr val="000000"/>
              </a:solidFill>
              <a:effectLst/>
              <a:uFillTx/>
              <a:latin typeface="Arial"/>
            </a:endParaRPr>
          </a:p>
        </p:txBody>
      </p:sp>
      <p:sp>
        <p:nvSpPr>
          <p:cNvPr id="99" name="Rectangle 5"/>
          <p:cNvSpPr/>
          <p:nvPr/>
        </p:nvSpPr>
        <p:spPr>
          <a:xfrm>
            <a:off x="4114800" y="3657600"/>
            <a:ext cx="3429000" cy="5148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6840" rIns="90000" bIns="6840" anchor="ctr">
            <a:noAutofit/>
          </a:bodyPr>
          <a:p>
            <a:pPr/>
            <a:endParaRPr lang="en-US" sz="1800" b="0" u="none" strike="noStrike">
              <a:solidFill>
                <a:schemeClr val="lt1"/>
              </a:solidFill>
              <a:effectLst/>
              <a:uFillTx/>
              <a:latin typeface="Calibri"/>
            </a:endParaRPr>
          </a:p>
        </p:txBody>
      </p:sp>
      <p:sp>
        <p:nvSpPr>
          <p:cNvPr id="100" name="Rectangle 6"/>
          <p:cNvSpPr/>
          <p:nvPr/>
        </p:nvSpPr>
        <p:spPr>
          <a:xfrm>
            <a:off x="7772400" y="3657600"/>
            <a:ext cx="3657600" cy="23313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182880" rIns="274320" bIns="182880" anchor="ctr" anchorCtr="1">
            <a:noAutofit/>
          </a:bodyPr>
          <a:p>
            <a:pPr algn="ctr" defTabSz="457200">
              <a:lnSpc>
                <a:spcPct val="100000"/>
              </a:lnSpc>
            </a:pPr>
            <a:endParaRPr lang="en-US" sz="1800" b="0" u="none" strike="noStrike">
              <a:solidFill>
                <a:srgbClr val="000000"/>
              </a:solidFill>
              <a:effectLst/>
              <a:uFillTx/>
              <a:latin typeface="Arial"/>
            </a:endParaRPr>
          </a:p>
          <a:p>
            <a:pPr algn="ctr" defTabSz="457200">
              <a:lnSpc>
                <a:spcPct val="100000"/>
              </a:lnSpc>
              <a:spcAft>
                <a:spcPts val="601"/>
              </a:spcAft>
            </a:pPr>
            <a:r>
              <a:rPr lang="en-US" sz="2200" b="1" u="none" strike="noStrike">
                <a:solidFill>
                  <a:srgbClr val="271811"/>
                </a:solidFill>
                <a:effectLst/>
                <a:uFillTx/>
                <a:latin typeface="JetBrains Mono"/>
              </a:rPr>
              <a:t>Uniflow Access</a:t>
            </a:r>
            <a:endParaRPr lang="en-US" sz="2200" b="0" u="none" strike="noStrike">
              <a:solidFill>
                <a:srgbClr val="000000"/>
              </a:solidFill>
              <a:effectLst/>
              <a:uFillTx/>
              <a:latin typeface="Arial"/>
            </a:endParaRPr>
          </a:p>
          <a:p>
            <a:pPr algn="ctr" defTabSz="457200">
              <a:lnSpc>
                <a:spcPct val="100000"/>
              </a:lnSpc>
            </a:pPr>
            <a:r>
              <a:rPr lang="en-US" sz="1600" b="0" u="none" strike="noStrike">
                <a:solidFill>
                  <a:srgbClr val="64748B"/>
                </a:solidFill>
                <a:effectLst/>
                <a:uFillTx/>
                <a:latin typeface="JetBrains Mono"/>
              </a:rPr>
              <a:t>la gestion des admissions</a:t>
            </a:r>
            <a:endParaRPr lang="en-US" sz="1600" b="0" u="none" strike="noStrike">
              <a:solidFill>
                <a:srgbClr val="000000"/>
              </a:solidFill>
              <a:effectLst/>
              <a:uFillTx/>
              <a:latin typeface="Arial"/>
            </a:endParaRPr>
          </a:p>
        </p:txBody>
      </p:sp>
      <p:sp>
        <p:nvSpPr>
          <p:cNvPr id="101" name="Rectangle 7"/>
          <p:cNvSpPr/>
          <p:nvPr/>
        </p:nvSpPr>
        <p:spPr>
          <a:xfrm>
            <a:off x="7772400" y="3657600"/>
            <a:ext cx="3657600" cy="5148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6840" rIns="90000" bIns="6840" anchor="ctr">
            <a:noAutofit/>
          </a:bodyPr>
          <a:p>
            <a:pPr/>
            <a:endParaRPr lang="en-US" sz="1800" b="0" u="none" strike="noStrike">
              <a:solidFill>
                <a:schemeClr val="lt1"/>
              </a:solidFill>
              <a:effectLst/>
              <a:uFillTx/>
              <a:latin typeface="Calibri"/>
            </a:endParaRPr>
          </a:p>
        </p:txBody>
      </p:sp>
      <p:sp>
        <p:nvSpPr>
          <p:cNvPr id="102" name="Rectangle 8"/>
          <p:cNvSpPr/>
          <p:nvPr/>
        </p:nvSpPr>
        <p:spPr>
          <a:xfrm>
            <a:off x="701640" y="3657600"/>
            <a:ext cx="3184560" cy="23313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182880" rIns="274320" bIns="182880" anchor="ctr" anchorCtr="1">
            <a:noAutofit/>
          </a:bodyPr>
          <a:p>
            <a:pPr algn="ctr" defTabSz="457200">
              <a:lnSpc>
                <a:spcPct val="100000"/>
              </a:lnSpc>
            </a:pPr>
            <a:endParaRPr lang="en-US" sz="1800" b="0" u="none" strike="noStrike">
              <a:solidFill>
                <a:srgbClr val="000000"/>
              </a:solidFill>
              <a:effectLst/>
              <a:uFillTx/>
              <a:latin typeface="Arial"/>
            </a:endParaRPr>
          </a:p>
          <a:p>
            <a:pPr algn="ctr" defTabSz="457200">
              <a:lnSpc>
                <a:spcPct val="100000"/>
              </a:lnSpc>
              <a:spcAft>
                <a:spcPts val="601"/>
              </a:spcAft>
            </a:pPr>
            <a:r>
              <a:rPr lang="en-US" sz="2000" b="1" u="none" strike="noStrike">
                <a:solidFill>
                  <a:srgbClr val="271811"/>
                </a:solidFill>
                <a:effectLst/>
                <a:uFillTx/>
                <a:latin typeface="JetBrains Mono"/>
              </a:rPr>
              <a:t>Uniflow Learn</a:t>
            </a:r>
            <a:endParaRPr lang="en-US" sz="2000" b="0" u="none" strike="noStrike">
              <a:solidFill>
                <a:srgbClr val="000000"/>
              </a:solidFill>
              <a:effectLst/>
              <a:uFillTx/>
              <a:latin typeface="Arial"/>
            </a:endParaRPr>
          </a:p>
          <a:p>
            <a:pPr algn="ctr" defTabSz="457200">
              <a:lnSpc>
                <a:spcPct val="100000"/>
              </a:lnSpc>
            </a:pPr>
            <a:r>
              <a:rPr lang="en-US" sz="1400" b="0" u="none" strike="noStrike">
                <a:solidFill>
                  <a:srgbClr val="64748B"/>
                </a:solidFill>
                <a:effectLst/>
                <a:uFillTx/>
                <a:latin typeface="JetBrains Mono"/>
              </a:rPr>
              <a:t>Relie l’enseignement aux plateformes </a:t>
            </a:r>
            <a:r>
              <a:rPr lang="en-US" sz="1400" b="0" u="none" strike="noStrike">
                <a:solidFill>
                  <a:srgbClr val="64748B"/>
                </a:solidFill>
                <a:effectLst/>
                <a:uFillTx/>
                <a:latin typeface="JetBrains Mono"/>
              </a:rPr>
              <a:t>numériques</a:t>
            </a:r>
            <a:endParaRPr lang="en-US" sz="1400" b="0" u="none" strike="noStrike">
              <a:solidFill>
                <a:srgbClr val="000000"/>
              </a:solidFill>
              <a:effectLst/>
              <a:uFillTx/>
              <a:latin typeface="Arial"/>
            </a:endParaRPr>
          </a:p>
        </p:txBody>
      </p:sp>
      <p:sp>
        <p:nvSpPr>
          <p:cNvPr id="103" name="Rectangle 9"/>
          <p:cNvSpPr/>
          <p:nvPr/>
        </p:nvSpPr>
        <p:spPr>
          <a:xfrm>
            <a:off x="701640" y="3657600"/>
            <a:ext cx="3184560" cy="5148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6840" rIns="90000" bIns="6840" anchor="ctr">
            <a:noAutofit/>
          </a:bodyPr>
          <a:p>
            <a:pPr/>
            <a:endParaRPr lang="en-US" sz="1800" b="0" u="none" strike="noStrike">
              <a:solidFill>
                <a:schemeClr val="lt1"/>
              </a:solidFill>
              <a:effectLst/>
              <a:uFillTx/>
              <a:latin typeface="Calibri"/>
            </a:endParaRPr>
          </a:p>
        </p:txBody>
      </p:sp>
    </p:spTree>
  </p:cSld>
  <mc:AlternateContent>
    <mc:Choice Requires="p14">
      <p:transition p14:dur="250">
        <p:fade thruBlk="true"/>
      </p:transition>
    </mc:Choice>
    <mc:Fallback>
      <p:transition>
        <p:fade thruBlk="tru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104"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Étude préalable</a:t>
            </a:r>
            <a:endParaRPr lang="en-US" sz="1300" b="0" u="none" strike="noStrike">
              <a:solidFill>
                <a:srgbClr val="000000"/>
              </a:solidFill>
              <a:effectLst/>
              <a:uFillTx/>
              <a:latin typeface="Arial"/>
            </a:endParaRPr>
          </a:p>
        </p:txBody>
      </p:sp>
      <p:sp>
        <p:nvSpPr>
          <p:cNvPr id="105" name="TextBox 2"/>
          <p:cNvSpPr/>
          <p:nvPr/>
        </p:nvSpPr>
        <p:spPr>
          <a:xfrm>
            <a:off x="731520" y="100584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Problématique</a:t>
            </a:r>
            <a:endParaRPr lang="en-US" sz="3600" b="0" u="none" strike="noStrike">
              <a:solidFill>
                <a:srgbClr val="000000"/>
              </a:solidFill>
              <a:effectLst/>
              <a:uFillTx/>
              <a:latin typeface="Arial"/>
            </a:endParaRPr>
          </a:p>
        </p:txBody>
      </p:sp>
      <p:sp>
        <p:nvSpPr>
          <p:cNvPr id="106" name="Rectangle 3"/>
          <p:cNvSpPr/>
          <p:nvPr/>
        </p:nvSpPr>
        <p:spPr>
          <a:xfrm>
            <a:off x="731520" y="1920240"/>
            <a:ext cx="10927080" cy="8229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defTabSz="457200">
              <a:lnSpc>
                <a:spcPct val="100000"/>
              </a:lnSpc>
              <a:spcAft>
                <a:spcPts val="601"/>
              </a:spcAft>
            </a:pPr>
            <a:r>
              <a:rPr lang="en-US" sz="1600" b="1" u="none" strike="noStrike">
                <a:solidFill>
                  <a:srgbClr val="271811"/>
                </a:solidFill>
                <a:effectLst/>
                <a:uFillTx/>
                <a:latin typeface="JetBrains Mono"/>
              </a:rPr>
              <a:t>Comment intégrer à UniFlow-Suite un module CRM permettant de gérer le cycle de recrutement des candidats ?</a:t>
            </a:r>
            <a:endParaRPr lang="en-US" sz="1600" b="0" u="none" strike="noStrike">
              <a:solidFill>
                <a:srgbClr val="000000"/>
              </a:solidFill>
              <a:effectLst/>
              <a:uFillTx/>
              <a:latin typeface="Arial"/>
            </a:endParaRPr>
          </a:p>
          <a:p>
            <a:pPr defTabSz="457200">
              <a:lnSpc>
                <a:spcPct val="100000"/>
              </a:lnSpc>
            </a:pPr>
            <a:endParaRPr lang="en-US" sz="1250" b="0" u="none" strike="noStrike">
              <a:solidFill>
                <a:srgbClr val="000000"/>
              </a:solidFill>
              <a:effectLst/>
              <a:uFillTx/>
              <a:latin typeface="Arial"/>
            </a:endParaRPr>
          </a:p>
        </p:txBody>
      </p:sp>
      <p:sp>
        <p:nvSpPr>
          <p:cNvPr id="107" name="Rectangle 4"/>
          <p:cNvSpPr/>
          <p:nvPr/>
        </p:nvSpPr>
        <p:spPr>
          <a:xfrm>
            <a:off x="731520" y="1920240"/>
            <a:ext cx="10927080" cy="1836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280" rIns="90000" bIns="-26280" anchor="ctr">
            <a:noAutofit/>
          </a:bodyPr>
          <a:p>
            <a:pPr/>
            <a:endParaRPr lang="en-US" sz="1800" b="0" u="none" strike="noStrike">
              <a:solidFill>
                <a:schemeClr val="lt1"/>
              </a:solidFill>
              <a:effectLst/>
              <a:uFillTx/>
              <a:latin typeface="Calibri"/>
            </a:endParaRPr>
          </a:p>
        </p:txBody>
      </p:sp>
      <p:sp>
        <p:nvSpPr>
          <p:cNvPr id="108" name="Rectangle 5"/>
          <p:cNvSpPr/>
          <p:nvPr/>
        </p:nvSpPr>
        <p:spPr>
          <a:xfrm>
            <a:off x="731520" y="3063240"/>
            <a:ext cx="10927080" cy="8229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defTabSz="457200">
              <a:lnSpc>
                <a:spcPct val="100000"/>
              </a:lnSpc>
              <a:spcAft>
                <a:spcPts val="601"/>
              </a:spcAft>
            </a:pPr>
            <a:r>
              <a:rPr lang="en-US" sz="1600" b="1" u="none" strike="noStrike">
                <a:solidFill>
                  <a:srgbClr val="271811"/>
                </a:solidFill>
                <a:effectLst/>
                <a:uFillTx/>
                <a:latin typeface="JetBrains Mono"/>
              </a:rPr>
              <a:t>Comment modéliser le domaine CRM de manière générique afin de faciliter son intégration à la suite existante ?</a:t>
            </a:r>
            <a:endParaRPr lang="en-US" sz="1600" b="0" u="none" strike="noStrike">
              <a:solidFill>
                <a:srgbClr val="000000"/>
              </a:solidFill>
              <a:effectLst/>
              <a:uFillTx/>
              <a:latin typeface="Arial"/>
            </a:endParaRPr>
          </a:p>
          <a:p>
            <a:pPr defTabSz="457200">
              <a:lnSpc>
                <a:spcPct val="100000"/>
              </a:lnSpc>
            </a:pPr>
            <a:endParaRPr lang="en-US" sz="1250" b="0" u="none" strike="noStrike">
              <a:solidFill>
                <a:srgbClr val="000000"/>
              </a:solidFill>
              <a:effectLst/>
              <a:uFillTx/>
              <a:latin typeface="Arial"/>
            </a:endParaRPr>
          </a:p>
        </p:txBody>
      </p:sp>
      <p:sp>
        <p:nvSpPr>
          <p:cNvPr id="109" name="Rectangle 6"/>
          <p:cNvSpPr/>
          <p:nvPr/>
        </p:nvSpPr>
        <p:spPr>
          <a:xfrm>
            <a:off x="731520" y="3063240"/>
            <a:ext cx="10927080" cy="1836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280" rIns="90000" bIns="-26280" anchor="ctr">
            <a:noAutofit/>
          </a:bodyPr>
          <a:p>
            <a:pPr/>
            <a:endParaRPr lang="en-US" sz="1800" b="0" u="none" strike="noStrike">
              <a:solidFill>
                <a:schemeClr val="lt1"/>
              </a:solidFill>
              <a:effectLst/>
              <a:uFillTx/>
              <a:latin typeface="Calibri"/>
            </a:endParaRPr>
          </a:p>
        </p:txBody>
      </p:sp>
      <p:sp>
        <p:nvSpPr>
          <p:cNvPr id="110" name="Rectangle 7"/>
          <p:cNvSpPr/>
          <p:nvPr/>
        </p:nvSpPr>
        <p:spPr>
          <a:xfrm>
            <a:off x="731520" y="4206240"/>
            <a:ext cx="10927080" cy="8229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defTabSz="457200">
              <a:lnSpc>
                <a:spcPct val="100000"/>
              </a:lnSpc>
              <a:spcAft>
                <a:spcPts val="601"/>
              </a:spcAft>
            </a:pPr>
            <a:r>
              <a:rPr lang="en-US" sz="1600" b="1" u="none" strike="noStrike">
                <a:solidFill>
                  <a:srgbClr val="271811"/>
                </a:solidFill>
                <a:effectLst/>
                <a:uFillTx/>
                <a:latin typeface="JetBrains Mono"/>
              </a:rPr>
              <a:t>Comment mettre en place un moyen de suivre la performance des campagnes ?</a:t>
            </a:r>
            <a:endParaRPr lang="en-US" sz="1600" b="0" u="none" strike="noStrike">
              <a:solidFill>
                <a:srgbClr val="000000"/>
              </a:solidFill>
              <a:effectLst/>
              <a:uFillTx/>
              <a:latin typeface="Arial"/>
            </a:endParaRPr>
          </a:p>
          <a:p>
            <a:pPr defTabSz="457200">
              <a:lnSpc>
                <a:spcPct val="100000"/>
              </a:lnSpc>
            </a:pPr>
            <a:endParaRPr lang="en-US" sz="1250" b="0" u="none" strike="noStrike">
              <a:solidFill>
                <a:srgbClr val="000000"/>
              </a:solidFill>
              <a:effectLst/>
              <a:uFillTx/>
              <a:latin typeface="Arial"/>
            </a:endParaRPr>
          </a:p>
        </p:txBody>
      </p:sp>
      <p:sp>
        <p:nvSpPr>
          <p:cNvPr id="111" name="Rectangle 8"/>
          <p:cNvSpPr/>
          <p:nvPr/>
        </p:nvSpPr>
        <p:spPr>
          <a:xfrm>
            <a:off x="731520" y="4206240"/>
            <a:ext cx="10927080" cy="1836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280" rIns="90000" bIns="-26280" anchor="ctr">
            <a:noAutofit/>
          </a:bodyPr>
          <a:p>
            <a:pPr/>
            <a:endParaRPr lang="en-US" sz="1800" b="0" u="none" strike="noStrike">
              <a:solidFill>
                <a:schemeClr val="lt1"/>
              </a:solidFill>
              <a:effectLst/>
              <a:uFillTx/>
              <a:latin typeface="Calibri"/>
            </a:endParaRPr>
          </a:p>
        </p:txBody>
      </p:sp>
      <p:sp>
        <p:nvSpPr>
          <p:cNvPr id="112" name="Rectangle 9"/>
          <p:cNvSpPr/>
          <p:nvPr/>
        </p:nvSpPr>
        <p:spPr>
          <a:xfrm>
            <a:off x="731520" y="5257800"/>
            <a:ext cx="10927080" cy="8229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defTabSz="457200">
              <a:lnSpc>
                <a:spcPct val="100000"/>
              </a:lnSpc>
              <a:spcAft>
                <a:spcPts val="601"/>
              </a:spcAft>
            </a:pPr>
            <a:r>
              <a:rPr lang="en-US" sz="1600" b="1" u="none" strike="noStrike">
                <a:solidFill>
                  <a:srgbClr val="271811"/>
                </a:solidFill>
                <a:effectLst/>
                <a:uFillTx/>
                <a:latin typeface="JetBrains Mono"/>
              </a:rPr>
              <a:t>Comment permettre à nos utilisateurs de personnaliser les rôles de leurs employés ?</a:t>
            </a:r>
            <a:endParaRPr lang="en-US" sz="1600" b="0" u="none" strike="noStrike">
              <a:solidFill>
                <a:srgbClr val="000000"/>
              </a:solidFill>
              <a:effectLst/>
              <a:uFillTx/>
              <a:latin typeface="Arial"/>
            </a:endParaRPr>
          </a:p>
          <a:p>
            <a:pPr defTabSz="457200">
              <a:lnSpc>
                <a:spcPct val="100000"/>
              </a:lnSpc>
            </a:pPr>
            <a:endParaRPr lang="en-US" sz="1250" b="0" u="none" strike="noStrike">
              <a:solidFill>
                <a:srgbClr val="000000"/>
              </a:solidFill>
              <a:effectLst/>
              <a:uFillTx/>
              <a:latin typeface="Arial"/>
            </a:endParaRPr>
          </a:p>
        </p:txBody>
      </p:sp>
      <p:sp>
        <p:nvSpPr>
          <p:cNvPr id="113" name="Rectangle 10"/>
          <p:cNvSpPr/>
          <p:nvPr/>
        </p:nvSpPr>
        <p:spPr>
          <a:xfrm>
            <a:off x="731520" y="5257800"/>
            <a:ext cx="10927080" cy="1836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6280" rIns="90000" bIns="-26280" anchor="ctr">
            <a:noAutofit/>
          </a:bodyPr>
          <a:p>
            <a:pPr/>
            <a:endParaRPr lang="en-US" sz="1800" b="0" u="none" strike="noStrike">
              <a:solidFill>
                <a:schemeClr val="lt1"/>
              </a:solidFill>
              <a:effectLst/>
              <a:uFillTx/>
              <a:latin typeface="Calibri"/>
            </a:endParaRPr>
          </a:p>
        </p:txBody>
      </p:sp>
    </p:spTree>
  </p:cSld>
  <mc:AlternateContent>
    <mc:Choice Requires="p14">
      <p:transition p14:dur="250">
        <p:fade thruBlk="true"/>
      </p:transition>
    </mc:Choice>
    <mc:Fallback>
      <p:transition>
        <p:fade thruBlk="true"/>
      </p:transition>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06"/>
                                        </p:tgtEl>
                                        <p:attrNameLst>
                                          <p:attrName>style.visibility</p:attrName>
                                        </p:attrNameLst>
                                      </p:cBhvr>
                                      <p:to>
                                        <p:strVal val="visible"/>
                                      </p:to>
                                    </p:set>
                                  </p:childTnLst>
                                </p:cTn>
                              </p:par>
                              <p:par>
                                <p:cTn id="7" presetID="1" presetClass="entr" fill="hold" nodeType="withEffect">
                                  <p:stCondLst>
                                    <p:cond delay="0"/>
                                  </p:stCondLst>
                                  <p:childTnLst>
                                    <p:set>
                                      <p:cBhvr>
                                        <p:cTn id="8" dur="1" fill="hold">
                                          <p:stCondLst>
                                            <p:cond delay="0"/>
                                          </p:stCondLst>
                                        </p:cTn>
                                        <p:tgtEl>
                                          <p:spTgt spid="10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fill="hold" nodeType="clickEffect">
                                  <p:stCondLst>
                                    <p:cond delay="0"/>
                                  </p:stCondLst>
                                  <p:childTnLst>
                                    <p:set>
                                      <p:cBhvr>
                                        <p:cTn id="12" dur="1" fill="hold">
                                          <p:stCondLst>
                                            <p:cond delay="0"/>
                                          </p:stCondLst>
                                        </p:cTn>
                                        <p:tgtEl>
                                          <p:spTgt spid="108"/>
                                        </p:tgtEl>
                                        <p:attrNameLst>
                                          <p:attrName>style.visibility</p:attrName>
                                        </p:attrNameLst>
                                      </p:cBhvr>
                                      <p:to>
                                        <p:strVal val="visible"/>
                                      </p:to>
                                    </p:set>
                                  </p:childTnLst>
                                </p:cTn>
                              </p:par>
                              <p:par>
                                <p:cTn id="13" presetID="1" presetClass="entr" fill="hold" nodeType="withEffect">
                                  <p:stCondLst>
                                    <p:cond delay="0"/>
                                  </p:stCondLst>
                                  <p:childTnLst>
                                    <p:set>
                                      <p:cBhvr>
                                        <p:cTn id="14" dur="1" fill="hold">
                                          <p:stCondLst>
                                            <p:cond delay="0"/>
                                          </p:stCondLst>
                                        </p:cTn>
                                        <p:tgtEl>
                                          <p:spTgt spid="10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110"/>
                                        </p:tgtEl>
                                        <p:attrNameLst>
                                          <p:attrName>style.visibility</p:attrName>
                                        </p:attrNameLst>
                                      </p:cBhvr>
                                      <p:to>
                                        <p:strVal val="visible"/>
                                      </p:to>
                                    </p:set>
                                  </p:childTnLst>
                                </p:cTn>
                              </p:par>
                              <p:par>
                                <p:cTn id="19" presetID="1" presetClass="entr" fill="hold" nodeType="withEffect">
                                  <p:stCondLst>
                                    <p:cond delay="0"/>
                                  </p:stCondLst>
                                  <p:childTnLst>
                                    <p:set>
                                      <p:cBhvr>
                                        <p:cTn id="20" dur="1" fill="hold">
                                          <p:stCondLst>
                                            <p:cond delay="0"/>
                                          </p:stCondLst>
                                        </p:cTn>
                                        <p:tgtEl>
                                          <p:spTgt spid="111"/>
                                        </p:tgtEl>
                                        <p:attrNameLst>
                                          <p:attrName>style.visibility</p:attrName>
                                        </p:attrNameLst>
                                      </p:cBhvr>
                                      <p:to>
                                        <p:strVal val="visible"/>
                                      </p:to>
                                    </p:set>
                                  </p:childTnLst>
                                </p:cTn>
                              </p:par>
                              <p:par>
                                <p:cTn id="21" presetID="1" presetClass="entr" fill="hold" nodeType="withEffect">
                                  <p:stCondLst>
                                    <p:cond delay="0"/>
                                  </p:stCondLst>
                                  <p:childTnLst>
                                    <p:set>
                                      <p:cBhvr>
                                        <p:cTn id="22" dur="1" fill="hold">
                                          <p:stCondLst>
                                            <p:cond delay="0"/>
                                          </p:stCondLst>
                                        </p:cTn>
                                        <p:tgtEl>
                                          <p:spTgt spid="1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p:cTn id="26" dur="1" fill="hold">
                                          <p:stCondLst>
                                            <p:cond delay="0"/>
                                          </p:stCondLst>
                                        </p:cTn>
                                        <p:tgtEl>
                                          <p:spTgt spid="112"/>
                                        </p:tgtEl>
                                        <p:attrNameLst>
                                          <p:attrName>style.visibility</p:attrName>
                                        </p:attrNameLst>
                                      </p:cBhvr>
                                      <p:to>
                                        <p:strVal val="visible"/>
                                      </p:to>
                                    </p:set>
                                  </p:childTnLst>
                                </p:cTn>
                              </p:par>
                              <p:par>
                                <p:cTn id="27" presetID="1" presetClass="entr" fill="hold" nodeType="withEffect">
                                  <p:stCondLst>
                                    <p:cond delay="0"/>
                                  </p:stCondLst>
                                  <p:childTnLst>
                                    <p:set>
                                      <p:cBhvr>
                                        <p:cTn id="28" dur="1" fill="hold">
                                          <p:stCondLst>
                                            <p:cond delay="0"/>
                                          </p:stCondLst>
                                        </p:cTn>
                                        <p:tgtEl>
                                          <p:spTgt spid="1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114"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ÉTUDE PRÉALABLE</a:t>
            </a:r>
            <a:endParaRPr lang="en-US" sz="1300" b="0" u="none" strike="noStrike">
              <a:solidFill>
                <a:srgbClr val="000000"/>
              </a:solidFill>
              <a:effectLst/>
              <a:uFillTx/>
              <a:latin typeface="Arial"/>
            </a:endParaRPr>
          </a:p>
        </p:txBody>
      </p:sp>
      <p:sp>
        <p:nvSpPr>
          <p:cNvPr id="115" name="TextBox 2"/>
          <p:cNvSpPr/>
          <p:nvPr/>
        </p:nvSpPr>
        <p:spPr>
          <a:xfrm>
            <a:off x="731520" y="96012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Objectifs du projet</a:t>
            </a:r>
            <a:endParaRPr lang="en-US" sz="3600" b="0" u="none" strike="noStrike">
              <a:solidFill>
                <a:srgbClr val="000000"/>
              </a:solidFill>
              <a:effectLst/>
              <a:uFillTx/>
              <a:latin typeface="Arial"/>
            </a:endParaRPr>
          </a:p>
        </p:txBody>
      </p:sp>
      <p:sp>
        <p:nvSpPr>
          <p:cNvPr id="116" name="TextBox 3"/>
          <p:cNvSpPr/>
          <p:nvPr/>
        </p:nvSpPr>
        <p:spPr>
          <a:xfrm>
            <a:off x="731520" y="1737360"/>
            <a:ext cx="10728360" cy="9140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271811"/>
                </a:solidFill>
                <a:effectLst/>
                <a:uFillTx/>
                <a:latin typeface="JetBrains Mono"/>
              </a:rPr>
              <a:t>Doter UniFlow-Suite d'un module CRM moderne, sécurisé et évolutif, intégré aux autres modules de la plateforme.</a:t>
            </a:r>
            <a:endParaRPr lang="en-US" sz="1800" b="0" u="none" strike="noStrike">
              <a:solidFill>
                <a:srgbClr val="000000"/>
              </a:solidFill>
              <a:effectLst/>
              <a:uFillTx/>
              <a:latin typeface="Arial"/>
            </a:endParaRPr>
          </a:p>
        </p:txBody>
      </p:sp>
      <p:sp>
        <p:nvSpPr>
          <p:cNvPr id="117" name="TextBox 4"/>
          <p:cNvSpPr/>
          <p:nvPr/>
        </p:nvSpPr>
        <p:spPr>
          <a:xfrm>
            <a:off x="731520" y="2834640"/>
            <a:ext cx="5150520" cy="3654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4748B"/>
                </a:solidFill>
                <a:effectLst/>
                <a:uFillTx/>
                <a:latin typeface="JetBrains Mono"/>
              </a:rPr>
              <a:t>OBJECTIFS MÉTIER</a:t>
            </a:r>
            <a:endParaRPr lang="en-US" sz="1200" b="0" u="none" strike="noStrike">
              <a:solidFill>
                <a:srgbClr val="000000"/>
              </a:solidFill>
              <a:effectLst/>
              <a:uFillTx/>
              <a:latin typeface="Arial"/>
            </a:endParaRPr>
          </a:p>
        </p:txBody>
      </p:sp>
      <p:sp>
        <p:nvSpPr>
          <p:cNvPr id="118" name="Rectangle 5"/>
          <p:cNvSpPr/>
          <p:nvPr/>
        </p:nvSpPr>
        <p:spPr>
          <a:xfrm>
            <a:off x="731520" y="3154680"/>
            <a:ext cx="5150520" cy="864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pPr/>
            <a:endParaRPr lang="en-US" sz="1800" b="0" u="none" strike="noStrike">
              <a:solidFill>
                <a:schemeClr val="lt1"/>
              </a:solidFill>
              <a:effectLst/>
              <a:uFillTx/>
              <a:latin typeface="Calibri"/>
            </a:endParaRPr>
          </a:p>
        </p:txBody>
      </p:sp>
      <p:sp>
        <p:nvSpPr>
          <p:cNvPr id="119" name="TextBox 6"/>
          <p:cNvSpPr/>
          <p:nvPr/>
        </p:nvSpPr>
        <p:spPr>
          <a:xfrm>
            <a:off x="731520" y="3337560"/>
            <a:ext cx="5150520" cy="237708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1199"/>
              </a:spcAft>
            </a:pPr>
            <a:r>
              <a:rPr lang="en-US" sz="1400" b="1" u="none" strike="noStrike">
                <a:solidFill>
                  <a:srgbClr val="EB0025"/>
                </a:solidFill>
                <a:effectLst/>
                <a:uFillTx/>
                <a:latin typeface="JetBrains Mono"/>
              </a:rPr>
              <a:t>—  </a:t>
            </a:r>
            <a:r>
              <a:rPr lang="en-US" sz="1400" b="0" u="none" strike="noStrike">
                <a:solidFill>
                  <a:srgbClr val="271811"/>
                </a:solidFill>
                <a:effectLst/>
                <a:uFillTx/>
                <a:latin typeface="JetBrains Mono"/>
              </a:rPr>
              <a:t>Centraliser prospects, contacts et organisations dans une plateforme unique</a:t>
            </a:r>
            <a:endParaRPr lang="en-US" sz="1400" b="0" u="none" strike="noStrike">
              <a:solidFill>
                <a:srgbClr val="000000"/>
              </a:solidFill>
              <a:effectLst/>
              <a:uFillTx/>
              <a:latin typeface="Arial"/>
            </a:endParaRPr>
          </a:p>
          <a:p>
            <a:pPr defTabSz="457200">
              <a:lnSpc>
                <a:spcPct val="100000"/>
              </a:lnSpc>
              <a:spcAft>
                <a:spcPts val="1199"/>
              </a:spcAft>
            </a:pPr>
            <a:r>
              <a:rPr lang="en-US" sz="1400" b="1" u="none" strike="noStrike">
                <a:solidFill>
                  <a:srgbClr val="EB0025"/>
                </a:solidFill>
                <a:effectLst/>
                <a:uFillTx/>
                <a:latin typeface="JetBrains Mono"/>
              </a:rPr>
              <a:t>—  </a:t>
            </a:r>
            <a:r>
              <a:rPr lang="en-US" sz="1400" b="0" u="none" strike="noStrike">
                <a:solidFill>
                  <a:srgbClr val="271811"/>
                </a:solidFill>
                <a:effectLst/>
                <a:uFillTx/>
                <a:latin typeface="JetBrains Mono"/>
              </a:rPr>
              <a:t>Outiller le cycle commercial, de la qualification du prospect au suivi de l'opportunité</a:t>
            </a:r>
            <a:endParaRPr lang="en-US" sz="1400" b="0" u="none" strike="noStrike">
              <a:solidFill>
                <a:srgbClr val="000000"/>
              </a:solidFill>
              <a:effectLst/>
              <a:uFillTx/>
              <a:latin typeface="Arial"/>
            </a:endParaRPr>
          </a:p>
          <a:p>
            <a:pPr defTabSz="457200">
              <a:lnSpc>
                <a:spcPct val="100000"/>
              </a:lnSpc>
              <a:spcAft>
                <a:spcPts val="1199"/>
              </a:spcAft>
            </a:pPr>
            <a:r>
              <a:rPr lang="en-US" sz="1400" b="1" u="none" strike="noStrike">
                <a:solidFill>
                  <a:srgbClr val="EB0025"/>
                </a:solidFill>
                <a:effectLst/>
                <a:uFillTx/>
                <a:latin typeface="JetBrains Mono"/>
              </a:rPr>
              <a:t>—  </a:t>
            </a:r>
            <a:r>
              <a:rPr lang="en-US" sz="1400" b="0" u="none" strike="noStrike">
                <a:solidFill>
                  <a:srgbClr val="271811"/>
                </a:solidFill>
                <a:effectLst/>
                <a:uFillTx/>
                <a:latin typeface="JetBrains Mono"/>
              </a:rPr>
              <a:t>Tracer toutes les interactions pour une vision à 360° de chaque tiers</a:t>
            </a:r>
            <a:endParaRPr lang="en-US" sz="1400" b="0" u="none" strike="noStrike">
              <a:solidFill>
                <a:srgbClr val="000000"/>
              </a:solidFill>
              <a:effectLst/>
              <a:uFillTx/>
              <a:latin typeface="Arial"/>
            </a:endParaRPr>
          </a:p>
          <a:p>
            <a:pPr defTabSz="457200">
              <a:lnSpc>
                <a:spcPct val="100000"/>
              </a:lnSpc>
              <a:spcAft>
                <a:spcPts val="1199"/>
              </a:spcAft>
            </a:pPr>
            <a:r>
              <a:rPr lang="en-US" sz="1400" b="1" u="none" strike="noStrike">
                <a:solidFill>
                  <a:srgbClr val="EB0025"/>
                </a:solidFill>
                <a:effectLst/>
                <a:uFillTx/>
                <a:latin typeface="JetBrains Mono"/>
              </a:rPr>
              <a:t>—  </a:t>
            </a:r>
            <a:r>
              <a:rPr lang="en-US" sz="1400" b="0" u="none" strike="noStrike">
                <a:solidFill>
                  <a:srgbClr val="271811"/>
                </a:solidFill>
                <a:effectLst/>
                <a:uFillTx/>
                <a:latin typeface="JetBrains Mono"/>
              </a:rPr>
              <a:t>Fournir tableaux de bord et indicateurs d'aide à la décision</a:t>
            </a:r>
            <a:endParaRPr lang="en-US" sz="1400" b="0" u="none" strike="noStrike">
              <a:solidFill>
                <a:srgbClr val="000000"/>
              </a:solidFill>
              <a:effectLst/>
              <a:uFillTx/>
              <a:latin typeface="Arial"/>
            </a:endParaRPr>
          </a:p>
        </p:txBody>
      </p:sp>
      <p:sp>
        <p:nvSpPr>
          <p:cNvPr id="120" name="TextBox 7"/>
          <p:cNvSpPr/>
          <p:nvPr/>
        </p:nvSpPr>
        <p:spPr>
          <a:xfrm>
            <a:off x="6217920" y="2834640"/>
            <a:ext cx="5150520" cy="365400"/>
          </a:xfrm>
          <a:prstGeom prst="rect">
            <a:avLst/>
          </a:prstGeom>
          <a:noFill/>
          <a:ln w="0">
            <a:noFill/>
          </a:ln>
        </p:spPr>
        <p:style>
          <a:lnRef idx="0"/>
          <a:fillRef idx="0"/>
          <a:effectRef idx="0"/>
          <a:fontRef idx="minor"/>
        </p:style>
        <p:txBody>
          <a:bodyPr wrap="none" lIns="0" tIns="0" rIns="0" bIns="0" anchor="t">
            <a:spAutoFit/>
          </a:bodyPr>
          <a:p>
            <a:pPr defTabSz="457200">
              <a:lnSpc>
                <a:spcPct val="100000"/>
              </a:lnSpc>
            </a:pPr>
            <a:r>
              <a:rPr lang="en-US" sz="1200" b="0" u="none" strike="noStrike">
                <a:solidFill>
                  <a:srgbClr val="64748B"/>
                </a:solidFill>
                <a:effectLst/>
                <a:uFillTx/>
                <a:latin typeface="JetBrains Mono"/>
              </a:rPr>
              <a:t>OBJECTIFS TECHNIQUES</a:t>
            </a:r>
            <a:endParaRPr lang="en-US" sz="1200" b="0" u="none" strike="noStrike">
              <a:solidFill>
                <a:srgbClr val="000000"/>
              </a:solidFill>
              <a:effectLst/>
              <a:uFillTx/>
              <a:latin typeface="Arial"/>
            </a:endParaRPr>
          </a:p>
        </p:txBody>
      </p:sp>
      <p:sp>
        <p:nvSpPr>
          <p:cNvPr id="121" name="Rectangle 8"/>
          <p:cNvSpPr/>
          <p:nvPr/>
        </p:nvSpPr>
        <p:spPr>
          <a:xfrm>
            <a:off x="6217920" y="3154680"/>
            <a:ext cx="5150520" cy="8640"/>
          </a:xfrm>
          <a:prstGeom prst="rect">
            <a:avLst/>
          </a:prstGeom>
          <a:solidFill>
            <a:srgbClr val="E2E8F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6000" rIns="90000" bIns="-36000" anchor="ctr">
            <a:noAutofit/>
          </a:bodyPr>
          <a:p>
            <a:pPr/>
            <a:endParaRPr lang="en-US" sz="1800" b="0" u="none" strike="noStrike">
              <a:solidFill>
                <a:schemeClr val="lt1"/>
              </a:solidFill>
              <a:effectLst/>
              <a:uFillTx/>
              <a:latin typeface="Calibri"/>
            </a:endParaRPr>
          </a:p>
        </p:txBody>
      </p:sp>
      <p:sp>
        <p:nvSpPr>
          <p:cNvPr id="122" name="TextBox 9"/>
          <p:cNvSpPr/>
          <p:nvPr/>
        </p:nvSpPr>
        <p:spPr>
          <a:xfrm>
            <a:off x="6217920" y="3337560"/>
            <a:ext cx="5150520" cy="237708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1199"/>
              </a:spcAft>
            </a:pPr>
            <a:r>
              <a:rPr lang="en-US" sz="1400" b="1" u="none" strike="noStrike">
                <a:solidFill>
                  <a:srgbClr val="EB0025"/>
                </a:solidFill>
                <a:effectLst/>
                <a:uFillTx/>
                <a:latin typeface="JetBrains Mono"/>
              </a:rPr>
              <a:t>T1  </a:t>
            </a:r>
            <a:r>
              <a:rPr lang="en-US" sz="1400" b="0" u="none" strike="noStrike">
                <a:solidFill>
                  <a:srgbClr val="271811"/>
                </a:solidFill>
                <a:effectLst/>
                <a:uFillTx/>
                <a:latin typeface="JetBrains Mono"/>
              </a:rPr>
              <a:t>Sécurité générique par rôles et permissions (RBAC)</a:t>
            </a:r>
            <a:endParaRPr lang="en-US" sz="1400" b="0" u="none" strike="noStrike">
              <a:solidFill>
                <a:srgbClr val="000000"/>
              </a:solidFill>
              <a:effectLst/>
              <a:uFillTx/>
              <a:latin typeface="Arial"/>
            </a:endParaRPr>
          </a:p>
          <a:p>
            <a:pPr defTabSz="457200">
              <a:lnSpc>
                <a:spcPct val="100000"/>
              </a:lnSpc>
              <a:spcAft>
                <a:spcPts val="1199"/>
              </a:spcAft>
            </a:pPr>
            <a:r>
              <a:rPr lang="en-US" sz="1400" b="1" u="none" strike="noStrike">
                <a:solidFill>
                  <a:srgbClr val="EB0025"/>
                </a:solidFill>
                <a:effectLst/>
                <a:uFillTx/>
                <a:latin typeface="JetBrains Mono"/>
              </a:rPr>
              <a:t>T2  </a:t>
            </a:r>
            <a:r>
              <a:rPr lang="en-US" sz="1400" b="0" u="none" strike="noStrike">
                <a:solidFill>
                  <a:srgbClr val="271811"/>
                </a:solidFill>
                <a:effectLst/>
                <a:uFillTx/>
                <a:latin typeface="JetBrains Mono"/>
              </a:rPr>
              <a:t>Audit générique de toutes les créations, modifications et suppressions</a:t>
            </a:r>
            <a:endParaRPr lang="en-US" sz="1400" b="0" u="none" strike="noStrike">
              <a:solidFill>
                <a:srgbClr val="000000"/>
              </a:solidFill>
              <a:effectLst/>
              <a:uFillTx/>
              <a:latin typeface="Arial"/>
            </a:endParaRPr>
          </a:p>
          <a:p>
            <a:pPr defTabSz="457200">
              <a:lnSpc>
                <a:spcPct val="100000"/>
              </a:lnSpc>
              <a:spcAft>
                <a:spcPts val="1199"/>
              </a:spcAft>
            </a:pPr>
            <a:r>
              <a:rPr lang="en-US" sz="1400" b="1" u="none" strike="noStrike">
                <a:solidFill>
                  <a:srgbClr val="EB0025"/>
                </a:solidFill>
                <a:effectLst/>
                <a:uFillTx/>
                <a:latin typeface="JetBrains Mono"/>
              </a:rPr>
              <a:t>T3  </a:t>
            </a:r>
            <a:r>
              <a:rPr lang="en-US" sz="1400" b="0" u="none" strike="noStrike">
                <a:solidFill>
                  <a:srgbClr val="271811"/>
                </a:solidFill>
                <a:effectLst/>
                <a:uFillTx/>
                <a:latin typeface="JetBrains Mono"/>
              </a:rPr>
              <a:t>Architecture extensible à de nouveaux types de clients et d'activités</a:t>
            </a:r>
            <a:endParaRPr lang="en-US" sz="1400" b="0" u="none" strike="noStrike">
              <a:solidFill>
                <a:srgbClr val="000000"/>
              </a:solidFill>
              <a:effectLst/>
              <a:uFillTx/>
              <a:latin typeface="Arial"/>
            </a:endParaRPr>
          </a:p>
          <a:p>
            <a:pPr defTabSz="457200">
              <a:lnSpc>
                <a:spcPct val="100000"/>
              </a:lnSpc>
              <a:spcAft>
                <a:spcPts val="1199"/>
              </a:spcAft>
            </a:pPr>
            <a:r>
              <a:rPr lang="en-US" sz="1400" b="1" u="none" strike="noStrike">
                <a:solidFill>
                  <a:srgbClr val="EB0025"/>
                </a:solidFill>
                <a:effectLst/>
                <a:uFillTx/>
                <a:latin typeface="JetBrains Mono"/>
              </a:rPr>
              <a:t>T4  </a:t>
            </a:r>
            <a:r>
              <a:rPr lang="en-US" sz="1400" b="0" u="none" strike="noStrike">
                <a:solidFill>
                  <a:srgbClr val="271811"/>
                </a:solidFill>
                <a:effectLst/>
                <a:uFillTx/>
                <a:latin typeface="JetBrains Mono"/>
              </a:rPr>
              <a:t>Sécurité, cohérence et intégrité des données</a:t>
            </a:r>
            <a:endParaRPr lang="en-US" sz="1400" b="0" u="none" strike="noStrike">
              <a:solidFill>
                <a:srgbClr val="000000"/>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F0000"/>
        </a:solidFill>
      </p:bgPr>
    </p:bg>
    <p:spTree>
      <p:nvGrpSpPr>
        <p:cNvPr id="1" name=""/>
        <p:cNvGrpSpPr/>
        <p:nvPr/>
      </p:nvGrpSpPr>
      <p:grpSpPr>
        <a:xfrm>
          <a:off x="0" y="0"/>
          <a:ext cx="0" cy="0"/>
          <a:chOff x="0" y="0"/>
          <a:chExt cx="0" cy="0"/>
        </a:xfrm>
      </p:grpSpPr>
      <p:sp>
        <p:nvSpPr>
          <p:cNvPr id="123" name="Rectangle 1"/>
          <p:cNvSpPr/>
          <p:nvPr/>
        </p:nvSpPr>
        <p:spPr>
          <a:xfrm>
            <a:off x="1097280" y="1188720"/>
            <a:ext cx="1096920" cy="4536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720" rIns="90000" bIns="720" anchor="ctr">
            <a:noAutofit/>
          </a:bodyPr>
          <a:p>
            <a:pPr/>
            <a:endParaRPr lang="en-US" sz="1800" b="0" u="none" strike="noStrike">
              <a:solidFill>
                <a:schemeClr val="lt1"/>
              </a:solidFill>
              <a:effectLst/>
              <a:uFillTx/>
              <a:latin typeface="Calibri"/>
            </a:endParaRPr>
          </a:p>
        </p:txBody>
      </p:sp>
      <p:sp>
        <p:nvSpPr>
          <p:cNvPr id="124" name="TextBox 2"/>
          <p:cNvSpPr/>
          <p:nvPr/>
        </p:nvSpPr>
        <p:spPr>
          <a:xfrm>
            <a:off x="1097280" y="1463040"/>
            <a:ext cx="10058040" cy="27327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801"/>
              </a:spcAft>
            </a:pPr>
            <a:r>
              <a:rPr lang="en-US" sz="4400" b="1" u="none" strike="noStrike">
                <a:solidFill>
                  <a:srgbClr val="FFFFFF"/>
                </a:solidFill>
                <a:effectLst/>
                <a:uFillTx/>
                <a:latin typeface="JetBrains Mono"/>
              </a:rPr>
              <a:t>Analyse des besoins</a:t>
            </a:r>
            <a:endParaRPr lang="en-US" sz="44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rPr>
              <a:t>•  </a:t>
            </a:r>
            <a:r>
              <a:rPr lang="en-US" sz="1700" b="1" u="none" strike="noStrike">
                <a:solidFill>
                  <a:srgbClr val="FFFFFF"/>
                </a:solidFill>
                <a:effectLst/>
                <a:uFillTx/>
                <a:latin typeface="JetBrains Mono"/>
              </a:rPr>
              <a:t>1 : </a:t>
            </a:r>
            <a:r>
              <a:rPr lang="en-US" sz="1600" b="0" u="none" strike="noStrike">
                <a:solidFill>
                  <a:srgbClr val="94A3B8"/>
                </a:solidFill>
                <a:effectLst/>
                <a:uFillTx/>
                <a:latin typeface="JetBrains Mono"/>
              </a:rPr>
              <a:t>CRM en detail</a:t>
            </a:r>
            <a:endParaRPr lang="en-US" sz="16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rPr>
              <a:t>•  </a:t>
            </a:r>
            <a:r>
              <a:rPr lang="en-US" sz="1700" b="1" u="none" strike="noStrike">
                <a:solidFill>
                  <a:srgbClr val="FFFFFF"/>
                </a:solidFill>
                <a:effectLst/>
                <a:uFillTx/>
                <a:latin typeface="JetBrains Mono"/>
              </a:rPr>
              <a:t>2 : </a:t>
            </a:r>
            <a:r>
              <a:rPr lang="en-US" sz="1600" b="0" u="none" strike="noStrike">
                <a:solidFill>
                  <a:srgbClr val="94A3B8"/>
                </a:solidFill>
                <a:effectLst/>
                <a:uFillTx/>
                <a:latin typeface="JetBrains Mono"/>
              </a:rPr>
              <a:t>Les Acteurs</a:t>
            </a:r>
            <a:endParaRPr lang="en-US" sz="16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rPr>
              <a:t>•  </a:t>
            </a:r>
            <a:r>
              <a:rPr lang="en-US" sz="1700" b="1" u="none" strike="noStrike">
                <a:solidFill>
                  <a:srgbClr val="FFFFFF"/>
                </a:solidFill>
                <a:effectLst/>
                <a:uFillTx/>
                <a:latin typeface="JetBrains Mono"/>
              </a:rPr>
              <a:t>3 : </a:t>
            </a:r>
            <a:r>
              <a:rPr lang="en-US" sz="1600" b="0" u="none" strike="noStrike">
                <a:solidFill>
                  <a:srgbClr val="94A3B8"/>
                </a:solidFill>
                <a:effectLst/>
                <a:uFillTx/>
                <a:latin typeface="JetBrains Mono"/>
              </a:rPr>
              <a:t>Les Diagrammes De Cas D'Utilisation </a:t>
            </a:r>
            <a:endParaRPr lang="en-US" sz="16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rPr>
              <a:t>•  </a:t>
            </a:r>
            <a:r>
              <a:rPr lang="en-US" sz="1700" b="1" u="none" strike="noStrike">
                <a:solidFill>
                  <a:srgbClr val="FFFFFF"/>
                </a:solidFill>
                <a:effectLst/>
                <a:uFillTx/>
                <a:latin typeface="JetBrains Mono"/>
              </a:rPr>
              <a:t>4 : </a:t>
            </a:r>
            <a:r>
              <a:rPr lang="en-US" sz="1600" b="0" u="none" strike="noStrike">
                <a:solidFill>
                  <a:srgbClr val="94A3B8"/>
                </a:solidFill>
                <a:effectLst/>
                <a:uFillTx/>
                <a:latin typeface="JetBrains Mono"/>
              </a:rPr>
              <a:t>Les Diagrammes D'Activites</a:t>
            </a:r>
            <a:endParaRPr lang="en-US" sz="1600" b="0" u="none" strike="noStrike">
              <a:solidFill>
                <a:srgbClr val="FFFFFF"/>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125"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Analyse des besoins</a:t>
            </a:r>
            <a:endParaRPr lang="en-US" sz="1300" b="0" u="none" strike="noStrike">
              <a:solidFill>
                <a:srgbClr val="000000"/>
              </a:solidFill>
              <a:effectLst/>
              <a:uFillTx/>
              <a:latin typeface="Arial"/>
            </a:endParaRPr>
          </a:p>
        </p:txBody>
      </p:sp>
      <p:sp>
        <p:nvSpPr>
          <p:cNvPr id="126" name="TextBox 2"/>
          <p:cNvSpPr/>
          <p:nvPr/>
        </p:nvSpPr>
        <p:spPr>
          <a:xfrm>
            <a:off x="731520" y="100584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C'est Quoi Un CRM</a:t>
            </a:r>
            <a:endParaRPr lang="en-US" sz="3600" b="0" u="none" strike="noStrike">
              <a:solidFill>
                <a:srgbClr val="000000"/>
              </a:solidFill>
              <a:effectLst/>
              <a:uFillTx/>
              <a:latin typeface="Arial"/>
            </a:endParaRPr>
          </a:p>
        </p:txBody>
      </p:sp>
      <p:sp>
        <p:nvSpPr>
          <p:cNvPr id="127" name="TextBox 3"/>
          <p:cNvSpPr/>
          <p:nvPr/>
        </p:nvSpPr>
        <p:spPr>
          <a:xfrm>
            <a:off x="731520" y="1828800"/>
            <a:ext cx="10972440" cy="14626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200" b="0" u="none" strike="noStrike">
                <a:solidFill>
                  <a:srgbClr val="271811"/>
                </a:solidFill>
                <a:effectLst/>
                <a:uFillTx/>
                <a:latin typeface="JetBrains Mono"/>
              </a:rPr>
              <a:t>Le CRM (Customer Relationship Management) est un logiciel qui:</a:t>
            </a:r>
            <a:endParaRPr lang="en-US" sz="2200" b="0" u="none" strike="noStrike">
              <a:solidFill>
                <a:srgbClr val="000000"/>
              </a:solidFill>
              <a:effectLst/>
              <a:uFillTx/>
              <a:latin typeface="Arial"/>
            </a:endParaRPr>
          </a:p>
        </p:txBody>
      </p:sp>
      <p:sp>
        <p:nvSpPr>
          <p:cNvPr id="128" name="Rectangle 4"/>
          <p:cNvSpPr/>
          <p:nvPr/>
        </p:nvSpPr>
        <p:spPr>
          <a:xfrm>
            <a:off x="685800" y="2743200"/>
            <a:ext cx="3200400" cy="13716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182880" rIns="274320" bIns="182880" anchor="ctr">
            <a:noAutofit/>
          </a:bodyPr>
          <a:p>
            <a:pPr algn="ctr" defTabSz="457200">
              <a:lnSpc>
                <a:spcPct val="100000"/>
              </a:lnSpc>
            </a:pPr>
            <a:endParaRPr lang="en-US" sz="1800" b="1" u="none" strike="noStrike">
              <a:solidFill>
                <a:srgbClr val="000000"/>
              </a:solidFill>
              <a:effectLst/>
              <a:uFillTx/>
              <a:latin typeface="Arial"/>
            </a:endParaRPr>
          </a:p>
          <a:p>
            <a:pPr algn="ctr" defTabSz="457200">
              <a:lnSpc>
                <a:spcPct val="100000"/>
              </a:lnSpc>
              <a:spcAft>
                <a:spcPts val="601"/>
              </a:spcAft>
            </a:pPr>
            <a:r>
              <a:rPr lang="en-US" sz="1800" b="1" u="none" strike="noStrike">
                <a:solidFill>
                  <a:srgbClr val="271811"/>
                </a:solidFill>
                <a:effectLst/>
                <a:uFillTx/>
                <a:latin typeface="JetBrains Mono"/>
              </a:rPr>
              <a:t>gère les interactions avec les clients</a:t>
            </a:r>
            <a:endParaRPr lang="en-US" sz="1800" b="1" u="none" strike="noStrike">
              <a:solidFill>
                <a:srgbClr val="000000"/>
              </a:solidFill>
              <a:effectLst/>
              <a:uFillTx/>
              <a:latin typeface="Arial"/>
            </a:endParaRPr>
          </a:p>
          <a:p>
            <a:pPr algn="ctr" defTabSz="457200">
              <a:lnSpc>
                <a:spcPct val="100000"/>
              </a:lnSpc>
            </a:pPr>
            <a:endParaRPr lang="en-US" sz="1250" b="1" u="none" strike="noStrike">
              <a:solidFill>
                <a:srgbClr val="000000"/>
              </a:solidFill>
              <a:effectLst/>
              <a:uFillTx/>
              <a:latin typeface="Arial"/>
            </a:endParaRPr>
          </a:p>
        </p:txBody>
      </p:sp>
      <p:sp>
        <p:nvSpPr>
          <p:cNvPr id="129" name="Rectangle 5"/>
          <p:cNvSpPr/>
          <p:nvPr/>
        </p:nvSpPr>
        <p:spPr>
          <a:xfrm>
            <a:off x="685800" y="2743200"/>
            <a:ext cx="3200400" cy="3024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4400" rIns="90000" bIns="-14400" anchor="ctr">
            <a:noAutofit/>
          </a:bodyPr>
          <a:p>
            <a:pPr algn="ctr"/>
            <a:endParaRPr lang="en-US" sz="2000" b="1" u="none" strike="noStrike">
              <a:solidFill>
                <a:schemeClr val="lt1"/>
              </a:solidFill>
              <a:effectLst/>
              <a:uFillTx/>
              <a:latin typeface="Calibri"/>
            </a:endParaRPr>
          </a:p>
        </p:txBody>
      </p:sp>
      <p:sp>
        <p:nvSpPr>
          <p:cNvPr id="130" name="Rectangle 6"/>
          <p:cNvSpPr/>
          <p:nvPr/>
        </p:nvSpPr>
        <p:spPr>
          <a:xfrm>
            <a:off x="4572000" y="2743200"/>
            <a:ext cx="3200400" cy="13716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182880" rIns="274320" bIns="182880" anchor="ctr">
            <a:noAutofit/>
          </a:bodyPr>
          <a:p>
            <a:pPr algn="ctr" defTabSz="457200">
              <a:lnSpc>
                <a:spcPct val="100000"/>
              </a:lnSpc>
            </a:pPr>
            <a:endParaRPr lang="en-US" sz="1800" b="1" u="none" strike="noStrike">
              <a:solidFill>
                <a:srgbClr val="000000"/>
              </a:solidFill>
              <a:effectLst/>
              <a:uFillTx/>
              <a:latin typeface="Arial"/>
            </a:endParaRPr>
          </a:p>
          <a:p>
            <a:pPr algn="ctr" defTabSz="457200">
              <a:lnSpc>
                <a:spcPct val="100000"/>
              </a:lnSpc>
              <a:spcAft>
                <a:spcPts val="601"/>
              </a:spcAft>
            </a:pPr>
            <a:r>
              <a:rPr lang="en-US" sz="1800" b="1" u="none" strike="noStrike">
                <a:solidFill>
                  <a:srgbClr val="271811"/>
                </a:solidFill>
                <a:effectLst/>
                <a:uFillTx/>
                <a:latin typeface="JetBrains Mono"/>
              </a:rPr>
              <a:t>suit les offres</a:t>
            </a:r>
            <a:endParaRPr lang="en-US" sz="1800" b="1" u="none" strike="noStrike">
              <a:solidFill>
                <a:srgbClr val="000000"/>
              </a:solidFill>
              <a:effectLst/>
              <a:uFillTx/>
              <a:latin typeface="Arial"/>
            </a:endParaRPr>
          </a:p>
          <a:p>
            <a:pPr algn="ctr" defTabSz="457200">
              <a:lnSpc>
                <a:spcPct val="100000"/>
              </a:lnSpc>
            </a:pPr>
            <a:endParaRPr lang="en-US" sz="1250" b="1" u="none" strike="noStrike">
              <a:solidFill>
                <a:srgbClr val="000000"/>
              </a:solidFill>
              <a:effectLst/>
              <a:uFillTx/>
              <a:latin typeface="Arial"/>
            </a:endParaRPr>
          </a:p>
        </p:txBody>
      </p:sp>
      <p:sp>
        <p:nvSpPr>
          <p:cNvPr id="131" name="Rectangle 7"/>
          <p:cNvSpPr/>
          <p:nvPr/>
        </p:nvSpPr>
        <p:spPr>
          <a:xfrm>
            <a:off x="4572000" y="2743200"/>
            <a:ext cx="3200400" cy="3024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4400" rIns="90000" bIns="-14400" anchor="ctr">
            <a:noAutofit/>
          </a:bodyPr>
          <a:p>
            <a:pPr algn="ctr"/>
            <a:endParaRPr lang="en-US" sz="2000" b="1" u="none" strike="noStrike">
              <a:solidFill>
                <a:schemeClr val="lt1"/>
              </a:solidFill>
              <a:effectLst/>
              <a:uFillTx/>
              <a:latin typeface="Calibri"/>
            </a:endParaRPr>
          </a:p>
        </p:txBody>
      </p:sp>
      <p:sp>
        <p:nvSpPr>
          <p:cNvPr id="132" name="Rectangle 8"/>
          <p:cNvSpPr/>
          <p:nvPr/>
        </p:nvSpPr>
        <p:spPr>
          <a:xfrm>
            <a:off x="8458200" y="2743200"/>
            <a:ext cx="3200400" cy="13716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182880" rIns="274320" bIns="182880" anchor="ctr">
            <a:noAutofit/>
          </a:bodyPr>
          <a:p>
            <a:pPr algn="ctr" defTabSz="457200">
              <a:lnSpc>
                <a:spcPct val="100000"/>
              </a:lnSpc>
            </a:pPr>
            <a:endParaRPr lang="en-US" sz="1800" b="1" u="none" strike="noStrike">
              <a:solidFill>
                <a:srgbClr val="000000"/>
              </a:solidFill>
              <a:effectLst/>
              <a:uFillTx/>
              <a:latin typeface="Arial"/>
            </a:endParaRPr>
          </a:p>
          <a:p>
            <a:pPr algn="ctr" defTabSz="457200">
              <a:lnSpc>
                <a:spcPct val="100000"/>
              </a:lnSpc>
              <a:spcAft>
                <a:spcPts val="601"/>
              </a:spcAft>
            </a:pPr>
            <a:r>
              <a:rPr lang="en-US" sz="1800" b="1" u="none" strike="noStrike">
                <a:solidFill>
                  <a:srgbClr val="271811"/>
                </a:solidFill>
                <a:effectLst/>
                <a:uFillTx/>
                <a:latin typeface="JetBrains Mono"/>
              </a:rPr>
              <a:t>planifie les tâches de l'équipe</a:t>
            </a:r>
            <a:endParaRPr lang="en-US" sz="1800" b="1" u="none" strike="noStrike">
              <a:solidFill>
                <a:srgbClr val="000000"/>
              </a:solidFill>
              <a:effectLst/>
              <a:uFillTx/>
              <a:latin typeface="Arial"/>
            </a:endParaRPr>
          </a:p>
          <a:p>
            <a:pPr algn="ctr" defTabSz="457200">
              <a:lnSpc>
                <a:spcPct val="100000"/>
              </a:lnSpc>
            </a:pPr>
            <a:endParaRPr lang="en-US" sz="1250" b="1" u="none" strike="noStrike">
              <a:solidFill>
                <a:srgbClr val="000000"/>
              </a:solidFill>
              <a:effectLst/>
              <a:uFillTx/>
              <a:latin typeface="Arial"/>
            </a:endParaRPr>
          </a:p>
        </p:txBody>
      </p:sp>
      <p:sp>
        <p:nvSpPr>
          <p:cNvPr id="133" name="Rectangle 9"/>
          <p:cNvSpPr/>
          <p:nvPr/>
        </p:nvSpPr>
        <p:spPr>
          <a:xfrm>
            <a:off x="8458200" y="2743200"/>
            <a:ext cx="3200400" cy="3024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4400" rIns="90000" bIns="-14400" anchor="ctr">
            <a:noAutofit/>
          </a:bodyPr>
          <a:p>
            <a:pPr algn="ctr"/>
            <a:endParaRPr lang="en-US" sz="2000" b="1" u="none" strike="noStrike">
              <a:solidFill>
                <a:schemeClr val="lt1"/>
              </a:solidFill>
              <a:effectLst/>
              <a:uFillTx/>
              <a:latin typeface="Calibri"/>
            </a:endParaRPr>
          </a:p>
        </p:txBody>
      </p:sp>
      <p:sp>
        <p:nvSpPr>
          <p:cNvPr id="134" name="Rectangle 10"/>
          <p:cNvSpPr/>
          <p:nvPr/>
        </p:nvSpPr>
        <p:spPr>
          <a:xfrm>
            <a:off x="4572000" y="4572000"/>
            <a:ext cx="3200400" cy="13716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182880" rIns="274320" bIns="182880" anchor="ctr">
            <a:noAutofit/>
          </a:bodyPr>
          <a:p>
            <a:pPr algn="ctr" defTabSz="457200">
              <a:lnSpc>
                <a:spcPct val="100000"/>
              </a:lnSpc>
            </a:pPr>
            <a:endParaRPr lang="en-US" sz="1800" b="1" u="none" strike="noStrike">
              <a:solidFill>
                <a:srgbClr val="000000"/>
              </a:solidFill>
              <a:effectLst/>
              <a:uFillTx/>
              <a:latin typeface="Arial"/>
            </a:endParaRPr>
          </a:p>
          <a:p>
            <a:pPr algn="ctr" defTabSz="457200">
              <a:lnSpc>
                <a:spcPct val="100000"/>
              </a:lnSpc>
              <a:spcAft>
                <a:spcPts val="601"/>
              </a:spcAft>
            </a:pPr>
            <a:r>
              <a:rPr lang="en-US" sz="1800" b="1" u="none" strike="noStrike">
                <a:solidFill>
                  <a:srgbClr val="271811"/>
                </a:solidFill>
                <a:effectLst/>
                <a:uFillTx/>
                <a:latin typeface="JetBrains Mono"/>
              </a:rPr>
              <a:t>fournit des analyses</a:t>
            </a:r>
            <a:endParaRPr lang="en-US" sz="1800" b="1" u="none" strike="noStrike">
              <a:solidFill>
                <a:srgbClr val="000000"/>
              </a:solidFill>
              <a:effectLst/>
              <a:uFillTx/>
              <a:latin typeface="Arial"/>
            </a:endParaRPr>
          </a:p>
          <a:p>
            <a:pPr algn="ctr" defTabSz="457200">
              <a:lnSpc>
                <a:spcPct val="100000"/>
              </a:lnSpc>
            </a:pPr>
            <a:endParaRPr lang="en-US" sz="1250" b="1" u="none" strike="noStrike">
              <a:solidFill>
                <a:srgbClr val="000000"/>
              </a:solidFill>
              <a:effectLst/>
              <a:uFillTx/>
              <a:latin typeface="Arial"/>
            </a:endParaRPr>
          </a:p>
        </p:txBody>
      </p:sp>
      <p:sp>
        <p:nvSpPr>
          <p:cNvPr id="135" name="Rectangle 11"/>
          <p:cNvSpPr/>
          <p:nvPr/>
        </p:nvSpPr>
        <p:spPr>
          <a:xfrm>
            <a:off x="4572000" y="4572000"/>
            <a:ext cx="3200400" cy="3024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4400" rIns="90000" bIns="-14400" anchor="ctr">
            <a:noAutofit/>
          </a:bodyPr>
          <a:p>
            <a:pPr algn="ctr"/>
            <a:endParaRPr lang="en-US" sz="2000" b="1" u="none" strike="noStrike">
              <a:solidFill>
                <a:schemeClr val="lt1"/>
              </a:solidFill>
              <a:effectLst/>
              <a:uFillTx/>
              <a:latin typeface="Calibri"/>
            </a:endParaRPr>
          </a:p>
        </p:txBody>
      </p:sp>
    </p:spTree>
  </p:cSld>
  <mc:AlternateContent>
    <mc:Choice Requires="p14">
      <p:transition p14:dur="250">
        <p:fade thruBlk="true"/>
      </p:transition>
    </mc:Choice>
    <mc:Fallback>
      <p:transition>
        <p:fade thruBlk="true"/>
      </p:transition>
    </mc:Fallback>
  </mc:AlternateContent>
  <p:timing>
    <p:tnLst>
      <p:par>
        <p:cTn id="29" dur="indefinite" restart="never" nodeType="tmRoot">
          <p:childTnLst>
            <p:seq>
              <p:cTn id="30" dur="indefinite" nodeType="mainSeq">
                <p:childTnLst>
                  <p:par>
                    <p:cTn id="31" fill="hold">
                      <p:stCondLst>
                        <p:cond delay="indefinite"/>
                      </p:stCondLst>
                      <p:childTnLst>
                        <p:par>
                          <p:cTn id="32" fill="hold">
                            <p:stCondLst>
                              <p:cond delay="0"/>
                            </p:stCondLst>
                            <p:childTnLst>
                              <p:par>
                                <p:cTn id="33" presetID="1" presetClass="entr" fill="hold" nodeType="clickEffect">
                                  <p:stCondLst>
                                    <p:cond delay="0"/>
                                  </p:stCondLst>
                                  <p:childTnLst>
                                    <p:set>
                                      <p:cBhvr>
                                        <p:cTn id="34" dur="1" fill="hold">
                                          <p:stCondLst>
                                            <p:cond delay="0"/>
                                          </p:stCondLst>
                                        </p:cTn>
                                        <p:tgtEl>
                                          <p:spTgt spid="128"/>
                                        </p:tgtEl>
                                        <p:attrNameLst>
                                          <p:attrName>style.visibility</p:attrName>
                                        </p:attrNameLst>
                                      </p:cBhvr>
                                      <p:to>
                                        <p:strVal val="visible"/>
                                      </p:to>
                                    </p:set>
                                  </p:childTnLst>
                                </p:cTn>
                              </p:par>
                              <p:par>
                                <p:cTn id="35" presetID="1" presetClass="entr" fill="hold" nodeType="withEffect">
                                  <p:stCondLst>
                                    <p:cond delay="0"/>
                                  </p:stCondLst>
                                  <p:childTnLst>
                                    <p:set>
                                      <p:cBhvr>
                                        <p:cTn id="36" dur="1" fill="hold">
                                          <p:stCondLst>
                                            <p:cond delay="0"/>
                                          </p:stCondLst>
                                        </p:cTn>
                                        <p:tgtEl>
                                          <p:spTgt spid="12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fill="hold" nodeType="clickEffect">
                                  <p:stCondLst>
                                    <p:cond delay="0"/>
                                  </p:stCondLst>
                                  <p:childTnLst>
                                    <p:set>
                                      <p:cBhvr>
                                        <p:cTn id="40" dur="1" fill="hold">
                                          <p:stCondLst>
                                            <p:cond delay="0"/>
                                          </p:stCondLst>
                                        </p:cTn>
                                        <p:tgtEl>
                                          <p:spTgt spid="130"/>
                                        </p:tgtEl>
                                        <p:attrNameLst>
                                          <p:attrName>style.visibility</p:attrName>
                                        </p:attrNameLst>
                                      </p:cBhvr>
                                      <p:to>
                                        <p:strVal val="visible"/>
                                      </p:to>
                                    </p:set>
                                  </p:childTnLst>
                                </p:cTn>
                              </p:par>
                              <p:par>
                                <p:cTn id="41" presetID="1" presetClass="entr" fill="hold" nodeType="withEffect">
                                  <p:stCondLst>
                                    <p:cond delay="0"/>
                                  </p:stCondLst>
                                  <p:childTnLst>
                                    <p:set>
                                      <p:cBhvr>
                                        <p:cTn id="42" dur="1" fill="hold">
                                          <p:stCondLst>
                                            <p:cond delay="0"/>
                                          </p:stCondLst>
                                        </p:cTn>
                                        <p:tgtEl>
                                          <p:spTgt spid="13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fill="hold" nodeType="clickEffect">
                                  <p:stCondLst>
                                    <p:cond delay="0"/>
                                  </p:stCondLst>
                                  <p:childTnLst>
                                    <p:set>
                                      <p:cBhvr>
                                        <p:cTn id="46" dur="1" fill="hold">
                                          <p:stCondLst>
                                            <p:cond delay="0"/>
                                          </p:stCondLst>
                                        </p:cTn>
                                        <p:tgtEl>
                                          <p:spTgt spid="132"/>
                                        </p:tgtEl>
                                        <p:attrNameLst>
                                          <p:attrName>style.visibility</p:attrName>
                                        </p:attrNameLst>
                                      </p:cBhvr>
                                      <p:to>
                                        <p:strVal val="visible"/>
                                      </p:to>
                                    </p:set>
                                  </p:childTnLst>
                                </p:cTn>
                              </p:par>
                              <p:par>
                                <p:cTn id="47" presetID="1" presetClass="entr" fill="hold" nodeType="withEffect">
                                  <p:stCondLst>
                                    <p:cond delay="0"/>
                                  </p:stCondLst>
                                  <p:childTnLst>
                                    <p:set>
                                      <p:cBhvr>
                                        <p:cTn id="48" dur="1" fill="hold">
                                          <p:stCondLst>
                                            <p:cond delay="0"/>
                                          </p:stCondLst>
                                        </p:cTn>
                                        <p:tgtEl>
                                          <p:spTgt spid="13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fill="hold" nodeType="clickEffect">
                                  <p:stCondLst>
                                    <p:cond delay="0"/>
                                  </p:stCondLst>
                                  <p:childTnLst>
                                    <p:set>
                                      <p:cBhvr>
                                        <p:cTn id="52" dur="1" fill="hold">
                                          <p:stCondLst>
                                            <p:cond delay="0"/>
                                          </p:stCondLst>
                                        </p:cTn>
                                        <p:tgtEl>
                                          <p:spTgt spid="134"/>
                                        </p:tgtEl>
                                        <p:attrNameLst>
                                          <p:attrName>style.visibility</p:attrName>
                                        </p:attrNameLst>
                                      </p:cBhvr>
                                      <p:to>
                                        <p:strVal val="visible"/>
                                      </p:to>
                                    </p:set>
                                  </p:childTnLst>
                                </p:cTn>
                              </p:par>
                              <p:par>
                                <p:cTn id="53" presetID="1" presetClass="entr" fill="hold" nodeType="withEffect">
                                  <p:stCondLst>
                                    <p:cond delay="0"/>
                                  </p:stCondLst>
                                  <p:childTnLst>
                                    <p:set>
                                      <p:cBhvr>
                                        <p:cTn id="54" dur="1" fill="hold">
                                          <p:stCondLst>
                                            <p:cond delay="0"/>
                                          </p:stCondLst>
                                        </p:cTn>
                                        <p:tgtEl>
                                          <p:spTgt spid="1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136"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Analyse des besoins</a:t>
            </a:r>
            <a:endParaRPr lang="en-US" sz="1300" b="0" u="none" strike="noStrike">
              <a:solidFill>
                <a:srgbClr val="000000"/>
              </a:solidFill>
              <a:effectLst/>
              <a:uFillTx/>
              <a:latin typeface="Arial"/>
            </a:endParaRPr>
          </a:p>
        </p:txBody>
      </p:sp>
      <p:sp>
        <p:nvSpPr>
          <p:cNvPr id="137" name="TextBox 2"/>
          <p:cNvSpPr/>
          <p:nvPr/>
        </p:nvSpPr>
        <p:spPr>
          <a:xfrm>
            <a:off x="731520" y="100584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Les Clients</a:t>
            </a:r>
            <a:endParaRPr lang="en-US" sz="3600" b="0" u="none" strike="noStrike">
              <a:solidFill>
                <a:srgbClr val="000000"/>
              </a:solidFill>
              <a:effectLst/>
              <a:uFillTx/>
              <a:latin typeface="Arial"/>
            </a:endParaRPr>
          </a:p>
        </p:txBody>
      </p:sp>
      <p:sp>
        <p:nvSpPr>
          <p:cNvPr id="138" name="TextBox 3"/>
          <p:cNvSpPr/>
          <p:nvPr/>
        </p:nvSpPr>
        <p:spPr>
          <a:xfrm>
            <a:off x="731520" y="1828800"/>
            <a:ext cx="10972440" cy="13410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200" b="0" u="none" strike="noStrike">
                <a:solidFill>
                  <a:srgbClr val="271811"/>
                </a:solidFill>
                <a:effectLst/>
                <a:uFillTx/>
                <a:latin typeface="JetBrains Mono"/>
              </a:rPr>
              <a:t>Un client est toute personne (physique ou morale) qui a, ou souhaite avoir, une offre auprès de nous. C'est pour ça que nous avons décidé de répartir nos clients en trois catégories distinctes.</a:t>
            </a:r>
            <a:endParaRPr lang="en-US" sz="2200" b="0" u="none" strike="noStrike">
              <a:solidFill>
                <a:srgbClr val="000000"/>
              </a:solidFill>
              <a:effectLst/>
              <a:uFillTx/>
              <a:latin typeface="Arial"/>
            </a:endParaRPr>
          </a:p>
        </p:txBody>
      </p:sp>
      <p:sp>
        <p:nvSpPr>
          <p:cNvPr id="139" name="Rectangle 4"/>
          <p:cNvSpPr/>
          <p:nvPr/>
        </p:nvSpPr>
        <p:spPr>
          <a:xfrm>
            <a:off x="701640" y="3657600"/>
            <a:ext cx="3413160" cy="23187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algn="ctr" defTabSz="457200">
              <a:lnSpc>
                <a:spcPct val="100000"/>
              </a:lnSpc>
              <a:spcAft>
                <a:spcPts val="601"/>
              </a:spcAft>
            </a:pPr>
            <a:r>
              <a:rPr lang="en-US" sz="1800" b="1" u="none" strike="noStrike">
                <a:solidFill>
                  <a:srgbClr val="271811"/>
                </a:solidFill>
                <a:effectLst/>
                <a:uFillTx/>
                <a:latin typeface="JetBrains Mono"/>
              </a:rPr>
              <a:t>Prospects</a:t>
            </a:r>
            <a:endParaRPr lang="en-US" sz="1800" b="0" u="none" strike="noStrike">
              <a:solidFill>
                <a:srgbClr val="000000"/>
              </a:solidFill>
              <a:effectLst/>
              <a:uFillTx/>
              <a:latin typeface="Arial"/>
            </a:endParaRPr>
          </a:p>
          <a:p>
            <a:pPr algn="ctr" defTabSz="457200">
              <a:lnSpc>
                <a:spcPct val="100000"/>
              </a:lnSpc>
            </a:pPr>
            <a:r>
              <a:rPr lang="en-US" sz="1300" b="0" u="none" strike="noStrike">
                <a:solidFill>
                  <a:srgbClr val="64748B"/>
                </a:solidFill>
                <a:effectLst/>
                <a:uFillTx/>
                <a:latin typeface="JetBrains Mono"/>
              </a:rPr>
              <a:t>les personnes qui manifestent de l'intérêt pour </a:t>
            </a:r>
            <a:r>
              <a:rPr lang="en-US" sz="1300" b="0" u="none" strike="noStrike">
                <a:solidFill>
                  <a:srgbClr val="64748B"/>
                </a:solidFill>
                <a:effectLst/>
                <a:uFillTx/>
                <a:latin typeface="JetBrains Mono"/>
              </a:rPr>
              <a:t>nos services</a:t>
            </a:r>
            <a:endParaRPr lang="en-US" sz="1300" b="0" u="none" strike="noStrike">
              <a:solidFill>
                <a:srgbClr val="000000"/>
              </a:solidFill>
              <a:effectLst/>
              <a:uFillTx/>
              <a:latin typeface="Arial"/>
            </a:endParaRPr>
          </a:p>
        </p:txBody>
      </p:sp>
      <p:sp>
        <p:nvSpPr>
          <p:cNvPr id="140" name="Rectangle 5"/>
          <p:cNvSpPr/>
          <p:nvPr/>
        </p:nvSpPr>
        <p:spPr>
          <a:xfrm>
            <a:off x="701640" y="3657600"/>
            <a:ext cx="3413160" cy="5112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6480" rIns="90000" bIns="6480" anchor="ctr">
            <a:noAutofit/>
          </a:bodyPr>
          <a:p>
            <a:pPr algn="ctr"/>
            <a:endParaRPr lang="en-US" sz="1800" b="0" u="none" strike="noStrike">
              <a:solidFill>
                <a:schemeClr val="lt1"/>
              </a:solidFill>
              <a:effectLst/>
              <a:uFillTx/>
              <a:latin typeface="Calibri"/>
            </a:endParaRPr>
          </a:p>
        </p:txBody>
      </p:sp>
      <p:sp>
        <p:nvSpPr>
          <p:cNvPr id="141" name="Rectangle 6"/>
          <p:cNvSpPr/>
          <p:nvPr/>
        </p:nvSpPr>
        <p:spPr>
          <a:xfrm>
            <a:off x="4343400" y="3670200"/>
            <a:ext cx="3657600" cy="23187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algn="ctr" defTabSz="457200">
              <a:lnSpc>
                <a:spcPct val="100000"/>
              </a:lnSpc>
              <a:spcAft>
                <a:spcPts val="601"/>
              </a:spcAft>
            </a:pPr>
            <a:r>
              <a:rPr lang="en-US" sz="1800" b="1" u="none" strike="noStrike">
                <a:solidFill>
                  <a:srgbClr val="271811"/>
                </a:solidFill>
                <a:effectLst/>
                <a:uFillTx/>
                <a:latin typeface="JetBrains Mono"/>
              </a:rPr>
              <a:t>Contacts</a:t>
            </a:r>
            <a:endParaRPr lang="en-US" sz="1800" b="0" u="none" strike="noStrike">
              <a:solidFill>
                <a:srgbClr val="000000"/>
              </a:solidFill>
              <a:effectLst/>
              <a:uFillTx/>
              <a:latin typeface="Arial"/>
            </a:endParaRPr>
          </a:p>
          <a:p>
            <a:pPr algn="ctr" defTabSz="457200">
              <a:lnSpc>
                <a:spcPct val="100000"/>
              </a:lnSpc>
            </a:pPr>
            <a:r>
              <a:rPr lang="en-US" sz="1300" b="0" u="none" strike="noStrike">
                <a:solidFill>
                  <a:srgbClr val="64748B"/>
                </a:solidFill>
                <a:effectLst/>
                <a:uFillTx/>
                <a:latin typeface="JetBrains Mono"/>
              </a:rPr>
              <a:t>les personnes qui </a:t>
            </a:r>
            <a:r>
              <a:rPr lang="en-US" sz="1300" b="0" u="none" strike="noStrike">
                <a:solidFill>
                  <a:srgbClr val="64748B"/>
                </a:solidFill>
                <a:effectLst/>
                <a:uFillTx/>
                <a:latin typeface="JetBrains Mono"/>
              </a:rPr>
              <a:t>ayant déjà </a:t>
            </a:r>
            <a:r>
              <a:rPr lang="en-US" sz="1300" b="0" u="none" strike="noStrike">
                <a:solidFill>
                  <a:srgbClr val="64748B"/>
                </a:solidFill>
                <a:effectLst/>
                <a:uFillTx/>
                <a:latin typeface="JetBrains Mono"/>
              </a:rPr>
              <a:t>bénéficié de nos </a:t>
            </a:r>
            <a:r>
              <a:rPr lang="en-US" sz="1300" b="0" u="none" strike="noStrike">
                <a:solidFill>
                  <a:srgbClr val="64748B"/>
                </a:solidFill>
                <a:effectLst/>
                <a:uFillTx/>
                <a:latin typeface="JetBrains Mono"/>
              </a:rPr>
              <a:t>services</a:t>
            </a:r>
            <a:endParaRPr lang="en-US" sz="1300" b="0" u="none" strike="noStrike">
              <a:solidFill>
                <a:srgbClr val="000000"/>
              </a:solidFill>
              <a:effectLst/>
              <a:uFillTx/>
              <a:latin typeface="Arial"/>
            </a:endParaRPr>
          </a:p>
        </p:txBody>
      </p:sp>
      <p:sp>
        <p:nvSpPr>
          <p:cNvPr id="142" name="Rectangle 7"/>
          <p:cNvSpPr/>
          <p:nvPr/>
        </p:nvSpPr>
        <p:spPr>
          <a:xfrm>
            <a:off x="4343400" y="3670200"/>
            <a:ext cx="3657600" cy="5148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6840" rIns="90000" bIns="6840" anchor="ctr">
            <a:noAutofit/>
          </a:bodyPr>
          <a:p>
            <a:pPr algn="ctr"/>
            <a:endParaRPr lang="en-US" sz="1800" b="0" u="none" strike="noStrike">
              <a:solidFill>
                <a:schemeClr val="lt1"/>
              </a:solidFill>
              <a:effectLst/>
              <a:uFillTx/>
              <a:latin typeface="Calibri"/>
            </a:endParaRPr>
          </a:p>
        </p:txBody>
      </p:sp>
      <p:sp>
        <p:nvSpPr>
          <p:cNvPr id="143" name="Rectangle 8"/>
          <p:cNvSpPr/>
          <p:nvPr/>
        </p:nvSpPr>
        <p:spPr>
          <a:xfrm>
            <a:off x="8229600" y="3670200"/>
            <a:ext cx="3429000" cy="23187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algn="ctr" defTabSz="457200">
              <a:lnSpc>
                <a:spcPct val="100000"/>
              </a:lnSpc>
              <a:spcAft>
                <a:spcPts val="601"/>
              </a:spcAft>
            </a:pPr>
            <a:r>
              <a:rPr lang="en-US" sz="1800" b="1" u="none" strike="noStrike">
                <a:solidFill>
                  <a:srgbClr val="271811"/>
                </a:solidFill>
                <a:effectLst/>
                <a:uFillTx/>
                <a:latin typeface="JetBrains Mono"/>
              </a:rPr>
              <a:t>Comptes</a:t>
            </a:r>
            <a:endParaRPr lang="en-US" sz="1800" b="0" u="none" strike="noStrike">
              <a:solidFill>
                <a:srgbClr val="000000"/>
              </a:solidFill>
              <a:effectLst/>
              <a:uFillTx/>
              <a:latin typeface="Arial"/>
            </a:endParaRPr>
          </a:p>
          <a:p>
            <a:pPr algn="ctr" defTabSz="457200">
              <a:lnSpc>
                <a:spcPct val="100000"/>
              </a:lnSpc>
            </a:pPr>
            <a:r>
              <a:rPr lang="en-US" sz="1300" b="0" u="none" strike="noStrike">
                <a:solidFill>
                  <a:srgbClr val="64748B"/>
                </a:solidFill>
                <a:effectLst/>
                <a:uFillTx/>
                <a:latin typeface="JetBrains Mono"/>
              </a:rPr>
              <a:t>les clients stratégiques ou bien des entreprises</a:t>
            </a:r>
            <a:endParaRPr lang="en-US" sz="1300" b="0" u="none" strike="noStrike">
              <a:solidFill>
                <a:srgbClr val="000000"/>
              </a:solidFill>
              <a:effectLst/>
              <a:uFillTx/>
              <a:latin typeface="Arial"/>
            </a:endParaRPr>
          </a:p>
        </p:txBody>
      </p:sp>
      <p:sp>
        <p:nvSpPr>
          <p:cNvPr id="144" name="Rectangle 9"/>
          <p:cNvSpPr/>
          <p:nvPr/>
        </p:nvSpPr>
        <p:spPr>
          <a:xfrm>
            <a:off x="8229600" y="3670200"/>
            <a:ext cx="3429000" cy="5148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6840" rIns="90000" bIns="6840" anchor="ctr">
            <a:noAutofit/>
          </a:bodyPr>
          <a:p>
            <a:pPr algn="ctr"/>
            <a:endParaRPr lang="en-US" sz="1800" b="0" u="none" strike="noStrike">
              <a:solidFill>
                <a:schemeClr val="lt1"/>
              </a:solidFill>
              <a:effectLst/>
              <a:uFillTx/>
              <a:latin typeface="Calibri"/>
            </a:endParaRPr>
          </a:p>
        </p:txBody>
      </p:sp>
    </p:spTree>
  </p:cSld>
  <mc:AlternateContent>
    <mc:Choice Requires="p14">
      <p:transition p14:dur="250">
        <p:fade thruBlk="true"/>
      </p:transition>
    </mc:Choice>
    <mc:Fallback>
      <p:transition>
        <p:fade thruBlk="true"/>
      </p:transition>
    </mc:Fallback>
  </mc:AlternateContent>
  <p:timing>
    <p:tnLst>
      <p:par>
        <p:cTn id="55" dur="indefinite" restart="never" nodeType="tmRoot">
          <p:childTnLst>
            <p:seq>
              <p:cTn id="56" dur="indefinite" nodeType="mainSeq">
                <p:childTnLst>
                  <p:par>
                    <p:cTn id="57" fill="hold">
                      <p:stCondLst>
                        <p:cond delay="indefinite"/>
                      </p:stCondLst>
                      <p:childTnLst>
                        <p:par>
                          <p:cTn id="58" fill="hold">
                            <p:stCondLst>
                              <p:cond delay="0"/>
                            </p:stCondLst>
                            <p:childTnLst>
                              <p:par>
                                <p:cTn id="59" presetID="1" presetClass="entr" fill="hold" nodeType="clickEffect">
                                  <p:stCondLst>
                                    <p:cond delay="0"/>
                                  </p:stCondLst>
                                  <p:childTnLst>
                                    <p:set>
                                      <p:cBhvr>
                                        <p:cTn id="60" dur="1" fill="hold">
                                          <p:stCondLst>
                                            <p:cond delay="0"/>
                                          </p:stCondLst>
                                        </p:cTn>
                                        <p:tgtEl>
                                          <p:spTgt spid="139"/>
                                        </p:tgtEl>
                                        <p:attrNameLst>
                                          <p:attrName>style.visibility</p:attrName>
                                        </p:attrNameLst>
                                      </p:cBhvr>
                                      <p:to>
                                        <p:strVal val="visible"/>
                                      </p:to>
                                    </p:set>
                                  </p:childTnLst>
                                </p:cTn>
                              </p:par>
                              <p:par>
                                <p:cTn id="61" presetID="1" presetClass="entr" fill="hold" nodeType="withEffect">
                                  <p:stCondLst>
                                    <p:cond delay="0"/>
                                  </p:stCondLst>
                                  <p:childTnLst>
                                    <p:set>
                                      <p:cBhvr>
                                        <p:cTn id="62" dur="1" fill="hold">
                                          <p:stCondLst>
                                            <p:cond delay="0"/>
                                          </p:stCondLst>
                                        </p:cTn>
                                        <p:tgtEl>
                                          <p:spTgt spid="14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fill="hold" nodeType="clickEffect">
                                  <p:stCondLst>
                                    <p:cond delay="0"/>
                                  </p:stCondLst>
                                  <p:childTnLst>
                                    <p:set>
                                      <p:cBhvr>
                                        <p:cTn id="66" dur="1" fill="hold">
                                          <p:stCondLst>
                                            <p:cond delay="0"/>
                                          </p:stCondLst>
                                        </p:cTn>
                                        <p:tgtEl>
                                          <p:spTgt spid="141"/>
                                        </p:tgtEl>
                                        <p:attrNameLst>
                                          <p:attrName>style.visibility</p:attrName>
                                        </p:attrNameLst>
                                      </p:cBhvr>
                                      <p:to>
                                        <p:strVal val="visible"/>
                                      </p:to>
                                    </p:set>
                                  </p:childTnLst>
                                </p:cTn>
                              </p:par>
                              <p:par>
                                <p:cTn id="67" presetID="1" presetClass="entr" fill="hold" nodeType="withEffect">
                                  <p:stCondLst>
                                    <p:cond delay="0"/>
                                  </p:stCondLst>
                                  <p:childTnLst>
                                    <p:set>
                                      <p:cBhvr>
                                        <p:cTn id="68" dur="1" fill="hold">
                                          <p:stCondLst>
                                            <p:cond delay="0"/>
                                          </p:stCondLst>
                                        </p:cTn>
                                        <p:tgtEl>
                                          <p:spTgt spid="142"/>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fill="hold" nodeType="clickEffect">
                                  <p:stCondLst>
                                    <p:cond delay="0"/>
                                  </p:stCondLst>
                                  <p:childTnLst>
                                    <p:set>
                                      <p:cBhvr>
                                        <p:cTn id="72" dur="1" fill="hold">
                                          <p:stCondLst>
                                            <p:cond delay="0"/>
                                          </p:stCondLst>
                                        </p:cTn>
                                        <p:tgtEl>
                                          <p:spTgt spid="143"/>
                                        </p:tgtEl>
                                        <p:attrNameLst>
                                          <p:attrName>style.visibility</p:attrName>
                                        </p:attrNameLst>
                                      </p:cBhvr>
                                      <p:to>
                                        <p:strVal val="visible"/>
                                      </p:to>
                                    </p:set>
                                  </p:childTnLst>
                                </p:cTn>
                              </p:par>
                              <p:par>
                                <p:cTn id="73" presetID="1" presetClass="entr" fill="hold" nodeType="withEffect">
                                  <p:stCondLst>
                                    <p:cond delay="0"/>
                                  </p:stCondLst>
                                  <p:childTnLst>
                                    <p:set>
                                      <p:cBhvr>
                                        <p:cTn id="74" dur="1" fill="hold">
                                          <p:stCondLst>
                                            <p:cond delay="0"/>
                                          </p:stCondLst>
                                        </p:cTn>
                                        <p:tgtEl>
                                          <p:spTgt spid="1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145"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Analyse des besoins</a:t>
            </a:r>
            <a:endParaRPr lang="en-US" sz="1300" b="0" u="none" strike="noStrike">
              <a:solidFill>
                <a:srgbClr val="000000"/>
              </a:solidFill>
              <a:effectLst/>
              <a:uFillTx/>
              <a:latin typeface="Arial"/>
            </a:endParaRPr>
          </a:p>
        </p:txBody>
      </p:sp>
      <p:sp>
        <p:nvSpPr>
          <p:cNvPr id="146" name="TextBox 2"/>
          <p:cNvSpPr/>
          <p:nvPr/>
        </p:nvSpPr>
        <p:spPr>
          <a:xfrm>
            <a:off x="731520" y="100584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Les Opportunities</a:t>
            </a:r>
            <a:endParaRPr lang="en-US" sz="3600" b="0" u="none" strike="noStrike">
              <a:solidFill>
                <a:srgbClr val="000000"/>
              </a:solidFill>
              <a:effectLst/>
              <a:uFillTx/>
              <a:latin typeface="Arial"/>
            </a:endParaRPr>
          </a:p>
        </p:txBody>
      </p:sp>
      <p:sp>
        <p:nvSpPr>
          <p:cNvPr id="147" name="TextBox 3"/>
          <p:cNvSpPr/>
          <p:nvPr/>
        </p:nvSpPr>
        <p:spPr>
          <a:xfrm>
            <a:off x="731520" y="1828800"/>
            <a:ext cx="10972440" cy="6706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200" b="0" u="none" strike="noStrike">
                <a:solidFill>
                  <a:srgbClr val="271811"/>
                </a:solidFill>
                <a:effectLst/>
                <a:uFillTx/>
                <a:latin typeface="JetBrains Mono"/>
              </a:rPr>
              <a:t>sont des offres que nous présentons à nos clients. ils peuvent etre des achats potentiels, une service etc...</a:t>
            </a:r>
            <a:endParaRPr lang="en-US" sz="2200" b="0" u="none" strike="noStrike">
              <a:solidFill>
                <a:srgbClr val="000000"/>
              </a:solidFill>
              <a:effectLst/>
              <a:uFillTx/>
              <a:latin typeface="Arial"/>
            </a:endParaRPr>
          </a:p>
        </p:txBody>
      </p:sp>
      <p:sp>
        <p:nvSpPr>
          <p:cNvPr id="148" name="TextBox 11"/>
          <p:cNvSpPr/>
          <p:nvPr/>
        </p:nvSpPr>
        <p:spPr>
          <a:xfrm>
            <a:off x="914400" y="4358520"/>
            <a:ext cx="10972440" cy="6706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200" b="0" u="none" strike="noStrike">
                <a:solidFill>
                  <a:srgbClr val="271811"/>
                </a:solidFill>
                <a:effectLst/>
                <a:uFillTx/>
                <a:latin typeface="JetBrains Mono"/>
              </a:rPr>
              <a:t>C’est une initiative marketing planifiée visant à des clients et des opportunites sur une période déterminée.</a:t>
            </a:r>
            <a:endParaRPr lang="en-US" sz="2200" b="0" u="none" strike="noStrike">
              <a:solidFill>
                <a:srgbClr val="000000"/>
              </a:solidFill>
              <a:effectLst/>
              <a:uFillTx/>
              <a:latin typeface="Arial"/>
            </a:endParaRPr>
          </a:p>
        </p:txBody>
      </p:sp>
      <p:sp>
        <p:nvSpPr>
          <p:cNvPr id="149" name="TextBox 12"/>
          <p:cNvSpPr/>
          <p:nvPr/>
        </p:nvSpPr>
        <p:spPr>
          <a:xfrm>
            <a:off x="685800" y="3215520"/>
            <a:ext cx="3746880" cy="6390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Les Campagnes</a:t>
            </a:r>
            <a:endParaRPr lang="en-US" sz="3600" b="0" u="none" strike="noStrike">
              <a:solidFill>
                <a:srgbClr val="000000"/>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150"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Analyse des besoins</a:t>
            </a:r>
            <a:endParaRPr lang="en-US" sz="1300" b="0" u="none" strike="noStrike">
              <a:solidFill>
                <a:srgbClr val="000000"/>
              </a:solidFill>
              <a:effectLst/>
              <a:uFillTx/>
              <a:latin typeface="Arial"/>
            </a:endParaRPr>
          </a:p>
        </p:txBody>
      </p:sp>
      <p:sp>
        <p:nvSpPr>
          <p:cNvPr id="151" name="TextBox 2"/>
          <p:cNvSpPr/>
          <p:nvPr/>
        </p:nvSpPr>
        <p:spPr>
          <a:xfrm>
            <a:off x="731520" y="100584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Les Activities</a:t>
            </a:r>
            <a:endParaRPr lang="en-US" sz="3600" b="0" u="none" strike="noStrike">
              <a:solidFill>
                <a:srgbClr val="000000"/>
              </a:solidFill>
              <a:effectLst/>
              <a:uFillTx/>
              <a:latin typeface="Arial"/>
            </a:endParaRPr>
          </a:p>
        </p:txBody>
      </p:sp>
      <p:sp>
        <p:nvSpPr>
          <p:cNvPr id="152" name="TextBox 3"/>
          <p:cNvSpPr/>
          <p:nvPr/>
        </p:nvSpPr>
        <p:spPr>
          <a:xfrm>
            <a:off x="731520" y="1828800"/>
            <a:ext cx="10972440" cy="14626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200" b="0" u="none" strike="noStrike">
                <a:solidFill>
                  <a:srgbClr val="271811"/>
                </a:solidFill>
                <a:effectLst/>
                <a:uFillTx/>
                <a:latin typeface="JetBrains Mono"/>
              </a:rPr>
              <a:t>Les activités correspondent à toute action que nous prévoyons d'effectuer</a:t>
            </a:r>
            <a:endParaRPr lang="en-US" sz="2200" b="0" u="none" strike="noStrike">
              <a:solidFill>
                <a:srgbClr val="000000"/>
              </a:solidFill>
              <a:effectLst/>
              <a:uFillTx/>
              <a:latin typeface="Arial"/>
            </a:endParaRPr>
          </a:p>
        </p:txBody>
      </p:sp>
      <p:sp>
        <p:nvSpPr>
          <p:cNvPr id="153" name="Rectangle 4"/>
          <p:cNvSpPr/>
          <p:nvPr/>
        </p:nvSpPr>
        <p:spPr>
          <a:xfrm>
            <a:off x="701640" y="3565800"/>
            <a:ext cx="3413160" cy="28350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defTabSz="457200">
              <a:lnSpc>
                <a:spcPct val="100000"/>
              </a:lnSpc>
              <a:spcAft>
                <a:spcPts val="601"/>
              </a:spcAft>
            </a:pPr>
            <a:r>
              <a:rPr lang="en-US" sz="1600" b="1" u="none" strike="noStrike">
                <a:solidFill>
                  <a:srgbClr val="271811"/>
                </a:solidFill>
                <a:effectLst/>
                <a:uFillTx/>
                <a:latin typeface="JetBrains Mono"/>
              </a:rPr>
              <a:t>Les taches</a:t>
            </a:r>
            <a:endParaRPr lang="en-US" sz="1600" b="0" u="none" strike="noStrike">
              <a:solidFill>
                <a:srgbClr val="000000"/>
              </a:solidFill>
              <a:effectLst/>
              <a:uFillTx/>
              <a:latin typeface="Arial"/>
            </a:endParaRPr>
          </a:p>
          <a:p>
            <a:pPr defTabSz="457200">
              <a:lnSpc>
                <a:spcPct val="100000"/>
              </a:lnSpc>
            </a:pPr>
            <a:r>
              <a:rPr lang="en-US" sz="1250" b="0" u="none" strike="noStrike">
                <a:solidFill>
                  <a:srgbClr val="64748B"/>
                </a:solidFill>
                <a:effectLst/>
                <a:uFillTx/>
                <a:latin typeface="JetBrains Mono"/>
              </a:rPr>
              <a:t>sont des actions physiques</a:t>
            </a:r>
            <a:endParaRPr lang="en-US" sz="1250" b="0" u="none" strike="noStrike">
              <a:solidFill>
                <a:srgbClr val="000000"/>
              </a:solidFill>
              <a:effectLst/>
              <a:uFillTx/>
              <a:latin typeface="Arial"/>
            </a:endParaRPr>
          </a:p>
        </p:txBody>
      </p:sp>
      <p:sp>
        <p:nvSpPr>
          <p:cNvPr id="154" name="Rectangle 5"/>
          <p:cNvSpPr/>
          <p:nvPr/>
        </p:nvSpPr>
        <p:spPr>
          <a:xfrm>
            <a:off x="701640" y="3565800"/>
            <a:ext cx="3413160" cy="6264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8000" rIns="90000" bIns="18000" anchor="ctr">
            <a:noAutofit/>
          </a:bodyPr>
          <a:p>
            <a:pPr/>
            <a:endParaRPr lang="en-US" sz="1800" b="0" u="none" strike="noStrike">
              <a:solidFill>
                <a:schemeClr val="lt1"/>
              </a:solidFill>
              <a:effectLst/>
              <a:uFillTx/>
              <a:latin typeface="Calibri"/>
            </a:endParaRPr>
          </a:p>
        </p:txBody>
      </p:sp>
      <p:sp>
        <p:nvSpPr>
          <p:cNvPr id="155" name="Rectangle 6"/>
          <p:cNvSpPr/>
          <p:nvPr/>
        </p:nvSpPr>
        <p:spPr>
          <a:xfrm>
            <a:off x="8245440" y="3565800"/>
            <a:ext cx="3413160" cy="28350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defTabSz="457200">
              <a:lnSpc>
                <a:spcPct val="100000"/>
              </a:lnSpc>
              <a:spcAft>
                <a:spcPts val="601"/>
              </a:spcAft>
            </a:pPr>
            <a:r>
              <a:rPr lang="en-US" sz="1600" b="1" u="none" strike="noStrike">
                <a:solidFill>
                  <a:srgbClr val="271811"/>
                </a:solidFill>
                <a:effectLst/>
                <a:uFillTx/>
                <a:latin typeface="JetBrains Mono"/>
              </a:rPr>
              <a:t>Les reunions</a:t>
            </a:r>
            <a:endParaRPr lang="en-US" sz="1600" b="0" u="none" strike="noStrike">
              <a:solidFill>
                <a:srgbClr val="000000"/>
              </a:solidFill>
              <a:effectLst/>
              <a:uFillTx/>
              <a:latin typeface="Arial"/>
            </a:endParaRPr>
          </a:p>
          <a:p>
            <a:pPr defTabSz="457200">
              <a:lnSpc>
                <a:spcPct val="100000"/>
              </a:lnSpc>
            </a:pPr>
            <a:r>
              <a:rPr lang="en-US" sz="1250" b="0" u="none" strike="noStrike">
                <a:solidFill>
                  <a:srgbClr val="64748B"/>
                </a:solidFill>
                <a:effectLst/>
                <a:uFillTx/>
                <a:latin typeface="JetBrains Mono"/>
              </a:rPr>
              <a:t>peuvent etre presentielles ou </a:t>
            </a:r>
            <a:r>
              <a:rPr lang="en-US" sz="1250" b="0" u="none" strike="noStrike">
                <a:solidFill>
                  <a:srgbClr val="64748B"/>
                </a:solidFill>
                <a:effectLst/>
                <a:uFillTx/>
                <a:latin typeface="JetBrains Mono"/>
              </a:rPr>
              <a:t>online</a:t>
            </a:r>
            <a:endParaRPr lang="en-US" sz="1250" b="0" u="none" strike="noStrike">
              <a:solidFill>
                <a:srgbClr val="000000"/>
              </a:solidFill>
              <a:effectLst/>
              <a:uFillTx/>
              <a:latin typeface="Arial"/>
            </a:endParaRPr>
          </a:p>
        </p:txBody>
      </p:sp>
      <p:sp>
        <p:nvSpPr>
          <p:cNvPr id="156" name="Rectangle 7"/>
          <p:cNvSpPr/>
          <p:nvPr/>
        </p:nvSpPr>
        <p:spPr>
          <a:xfrm>
            <a:off x="8245440" y="3565800"/>
            <a:ext cx="3413160" cy="6264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8000" rIns="90000" bIns="18000" anchor="ctr">
            <a:noAutofit/>
          </a:bodyPr>
          <a:p>
            <a:pPr/>
            <a:endParaRPr lang="en-US" sz="1800" b="0" u="none" strike="noStrike">
              <a:solidFill>
                <a:schemeClr val="lt1"/>
              </a:solidFill>
              <a:effectLst/>
              <a:uFillTx/>
              <a:latin typeface="Calibri"/>
            </a:endParaRPr>
          </a:p>
        </p:txBody>
      </p:sp>
      <p:sp>
        <p:nvSpPr>
          <p:cNvPr id="157" name="Rectangle 8"/>
          <p:cNvSpPr/>
          <p:nvPr/>
        </p:nvSpPr>
        <p:spPr>
          <a:xfrm>
            <a:off x="4443840" y="3529080"/>
            <a:ext cx="3413160" cy="283500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defTabSz="457200">
              <a:lnSpc>
                <a:spcPct val="100000"/>
              </a:lnSpc>
              <a:spcAft>
                <a:spcPts val="601"/>
              </a:spcAft>
            </a:pPr>
            <a:r>
              <a:rPr lang="en-US" sz="1600" b="1" u="none" strike="noStrike">
                <a:solidFill>
                  <a:srgbClr val="271811"/>
                </a:solidFill>
                <a:effectLst/>
                <a:uFillTx/>
                <a:latin typeface="JetBrains Mono"/>
              </a:rPr>
              <a:t>Les appels</a:t>
            </a:r>
            <a:endParaRPr lang="en-US" sz="1600" b="0" u="none" strike="noStrike">
              <a:solidFill>
                <a:srgbClr val="000000"/>
              </a:solidFill>
              <a:effectLst/>
              <a:uFillTx/>
              <a:latin typeface="Arial"/>
            </a:endParaRPr>
          </a:p>
          <a:p>
            <a:pPr defTabSz="457200">
              <a:lnSpc>
                <a:spcPct val="100000"/>
              </a:lnSpc>
            </a:pPr>
            <a:r>
              <a:rPr lang="en-US" sz="1250" b="0" u="none" strike="noStrike">
                <a:solidFill>
                  <a:srgbClr val="64748B"/>
                </a:solidFill>
                <a:effectLst/>
                <a:uFillTx/>
                <a:latin typeface="JetBrains Mono"/>
              </a:rPr>
              <a:t>peuvent etre </a:t>
            </a:r>
            <a:r>
              <a:rPr lang="en-US" sz="1250" b="0" u="none" strike="noStrike">
                <a:solidFill>
                  <a:srgbClr val="64748B"/>
                </a:solidFill>
                <a:effectLst/>
                <a:uFillTx/>
                <a:latin typeface="JetBrains Mono"/>
              </a:rPr>
              <a:t>telephonic ou video</a:t>
            </a:r>
            <a:endParaRPr lang="en-US" sz="1250" b="0" u="none" strike="noStrike">
              <a:solidFill>
                <a:srgbClr val="000000"/>
              </a:solidFill>
              <a:effectLst/>
              <a:uFillTx/>
              <a:latin typeface="Arial"/>
            </a:endParaRPr>
          </a:p>
        </p:txBody>
      </p:sp>
      <p:sp>
        <p:nvSpPr>
          <p:cNvPr id="158" name="Rectangle 9"/>
          <p:cNvSpPr/>
          <p:nvPr/>
        </p:nvSpPr>
        <p:spPr>
          <a:xfrm>
            <a:off x="4443840" y="3529080"/>
            <a:ext cx="3413160" cy="6264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8000" rIns="90000" bIns="18000" anchor="ctr">
            <a:noAutofit/>
          </a:bodyPr>
          <a:p>
            <a:pPr/>
            <a:endParaRPr lang="en-US" sz="1800" b="0" u="none" strike="noStrike">
              <a:solidFill>
                <a:schemeClr val="lt1"/>
              </a:solidFill>
              <a:effectLst/>
              <a:uFillTx/>
              <a:latin typeface="Calibri"/>
            </a:endParaRPr>
          </a:p>
        </p:txBody>
      </p:sp>
    </p:spTree>
  </p:cSld>
  <mc:AlternateContent>
    <mc:Choice Requires="p14">
      <p:transition p14:dur="250">
        <p:fade thruBlk="true"/>
      </p:transition>
    </mc:Choice>
    <mc:Fallback>
      <p:transition>
        <p:fade thruBlk="true"/>
      </p:transition>
    </mc:Fallback>
  </mc:AlternateContent>
  <p:timing>
    <p:tnLst>
      <p:par>
        <p:cTn id="75" dur="indefinite" restart="never" nodeType="tmRoot">
          <p:childTnLst>
            <p:seq>
              <p:cTn id="76" dur="indefinite" nodeType="mainSeq">
                <p:childTnLst>
                  <p:par>
                    <p:cTn id="77" fill="hold">
                      <p:stCondLst>
                        <p:cond delay="indefinite"/>
                      </p:stCondLst>
                      <p:childTnLst>
                        <p:par>
                          <p:cTn id="78" fill="hold">
                            <p:stCondLst>
                              <p:cond delay="0"/>
                            </p:stCondLst>
                            <p:childTnLst>
                              <p:par>
                                <p:cTn id="79" presetID="1" presetClass="entr" fill="hold" nodeType="clickEffect">
                                  <p:stCondLst>
                                    <p:cond delay="0"/>
                                  </p:stCondLst>
                                  <p:childTnLst>
                                    <p:set>
                                      <p:cBhvr>
                                        <p:cTn id="80" dur="1" fill="hold">
                                          <p:stCondLst>
                                            <p:cond delay="0"/>
                                          </p:stCondLst>
                                        </p:cTn>
                                        <p:tgtEl>
                                          <p:spTgt spid="153"/>
                                        </p:tgtEl>
                                        <p:attrNameLst>
                                          <p:attrName>style.visibility</p:attrName>
                                        </p:attrNameLst>
                                      </p:cBhvr>
                                      <p:to>
                                        <p:strVal val="visible"/>
                                      </p:to>
                                    </p:set>
                                  </p:childTnLst>
                                </p:cTn>
                              </p:par>
                              <p:par>
                                <p:cTn id="81" presetID="1" presetClass="entr" fill="hold" nodeType="withEffect">
                                  <p:stCondLst>
                                    <p:cond delay="0"/>
                                  </p:stCondLst>
                                  <p:childTnLst>
                                    <p:set>
                                      <p:cBhvr>
                                        <p:cTn id="82" dur="1" fill="hold">
                                          <p:stCondLst>
                                            <p:cond delay="0"/>
                                          </p:stCondLst>
                                        </p:cTn>
                                        <p:tgtEl>
                                          <p:spTgt spid="154"/>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fill="hold" nodeType="clickEffect">
                                  <p:stCondLst>
                                    <p:cond delay="0"/>
                                  </p:stCondLst>
                                  <p:childTnLst>
                                    <p:set>
                                      <p:cBhvr>
                                        <p:cTn id="86" dur="1" fill="hold">
                                          <p:stCondLst>
                                            <p:cond delay="0"/>
                                          </p:stCondLst>
                                        </p:cTn>
                                        <p:tgtEl>
                                          <p:spTgt spid="157"/>
                                        </p:tgtEl>
                                        <p:attrNameLst>
                                          <p:attrName>style.visibility</p:attrName>
                                        </p:attrNameLst>
                                      </p:cBhvr>
                                      <p:to>
                                        <p:strVal val="visible"/>
                                      </p:to>
                                    </p:set>
                                  </p:childTnLst>
                                </p:cTn>
                              </p:par>
                              <p:par>
                                <p:cTn id="87" presetID="1" presetClass="entr" fill="hold" nodeType="withEffect">
                                  <p:stCondLst>
                                    <p:cond delay="0"/>
                                  </p:stCondLst>
                                  <p:childTnLst>
                                    <p:set>
                                      <p:cBhvr>
                                        <p:cTn id="88" dur="1" fill="hold">
                                          <p:stCondLst>
                                            <p:cond delay="0"/>
                                          </p:stCondLst>
                                        </p:cTn>
                                        <p:tgtEl>
                                          <p:spTgt spid="158"/>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fill="hold" nodeType="clickEffect">
                                  <p:stCondLst>
                                    <p:cond delay="0"/>
                                  </p:stCondLst>
                                  <p:childTnLst>
                                    <p:set>
                                      <p:cBhvr>
                                        <p:cTn id="92" dur="1" fill="hold">
                                          <p:stCondLst>
                                            <p:cond delay="0"/>
                                          </p:stCondLst>
                                        </p:cTn>
                                        <p:tgtEl>
                                          <p:spTgt spid="155"/>
                                        </p:tgtEl>
                                        <p:attrNameLst>
                                          <p:attrName>style.visibility</p:attrName>
                                        </p:attrNameLst>
                                      </p:cBhvr>
                                      <p:to>
                                        <p:strVal val="visible"/>
                                      </p:to>
                                    </p:set>
                                  </p:childTnLst>
                                </p:cTn>
                              </p:par>
                              <p:par>
                                <p:cTn id="93" presetID="1" presetClass="entr" fill="hold" nodeType="withEffect">
                                  <p:stCondLst>
                                    <p:cond delay="0"/>
                                  </p:stCondLst>
                                  <p:childTnLst>
                                    <p:set>
                                      <p:cBhvr>
                                        <p:cTn id="94" dur="1" fill="hold">
                                          <p:stCondLst>
                                            <p:cond delay="0"/>
                                          </p:stCondLst>
                                        </p:cTn>
                                        <p:tgtEl>
                                          <p:spTgt spid="1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159"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Analyse des besoins</a:t>
            </a:r>
            <a:endParaRPr lang="en-US" sz="1300" b="0" u="none" strike="noStrike">
              <a:solidFill>
                <a:srgbClr val="000000"/>
              </a:solidFill>
              <a:effectLst/>
              <a:uFillTx/>
              <a:latin typeface="Arial"/>
            </a:endParaRPr>
          </a:p>
        </p:txBody>
      </p:sp>
      <p:sp>
        <p:nvSpPr>
          <p:cNvPr id="160" name="TextBox 2"/>
          <p:cNvSpPr/>
          <p:nvPr/>
        </p:nvSpPr>
        <p:spPr>
          <a:xfrm>
            <a:off x="731520" y="100584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fonctionnalités supplémentaires</a:t>
            </a:r>
            <a:endParaRPr lang="en-US" sz="3600" b="0" u="none" strike="noStrike">
              <a:solidFill>
                <a:srgbClr val="000000"/>
              </a:solidFill>
              <a:effectLst/>
              <a:uFillTx/>
              <a:latin typeface="Arial"/>
            </a:endParaRPr>
          </a:p>
        </p:txBody>
      </p:sp>
      <p:sp>
        <p:nvSpPr>
          <p:cNvPr id="161" name="Rectangle 3"/>
          <p:cNvSpPr/>
          <p:nvPr/>
        </p:nvSpPr>
        <p:spPr>
          <a:xfrm>
            <a:off x="731520" y="2014200"/>
            <a:ext cx="4983480" cy="42519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algn="ctr" defTabSz="457200">
              <a:lnSpc>
                <a:spcPct val="100000"/>
              </a:lnSpc>
              <a:spcAft>
                <a:spcPts val="601"/>
              </a:spcAft>
            </a:pPr>
            <a:r>
              <a:rPr lang="en-US" sz="2600" b="1" u="none" strike="noStrike">
                <a:solidFill>
                  <a:srgbClr val="271811"/>
                </a:solidFill>
                <a:effectLst/>
                <a:uFillTx/>
                <a:latin typeface="JetBrains Mono"/>
              </a:rPr>
              <a:t>les notes</a:t>
            </a:r>
            <a:endParaRPr lang="en-US" sz="2600" b="0" u="none" strike="noStrike">
              <a:solidFill>
                <a:srgbClr val="000000"/>
              </a:solidFill>
              <a:effectLst/>
              <a:uFillTx/>
              <a:latin typeface="Arial"/>
            </a:endParaRPr>
          </a:p>
          <a:p>
            <a:pPr algn="ctr" defTabSz="457200">
              <a:lnSpc>
                <a:spcPct val="100000"/>
              </a:lnSpc>
            </a:pPr>
            <a:r>
              <a:rPr lang="en-US" sz="2000" b="0" u="none" strike="noStrike">
                <a:solidFill>
                  <a:srgbClr val="64748B"/>
                </a:solidFill>
                <a:effectLst/>
                <a:uFillTx/>
                <a:latin typeface="JetBrains Mono"/>
              </a:rPr>
              <a:t>sont de simples remarques</a:t>
            </a:r>
            <a:endParaRPr lang="en-US" sz="2000" b="0" u="none" strike="noStrike">
              <a:solidFill>
                <a:srgbClr val="000000"/>
              </a:solidFill>
              <a:effectLst/>
              <a:uFillTx/>
              <a:latin typeface="Arial"/>
            </a:endParaRPr>
          </a:p>
        </p:txBody>
      </p:sp>
      <p:sp>
        <p:nvSpPr>
          <p:cNvPr id="162" name="Rectangle 4"/>
          <p:cNvSpPr/>
          <p:nvPr/>
        </p:nvSpPr>
        <p:spPr>
          <a:xfrm>
            <a:off x="731520" y="2014200"/>
            <a:ext cx="4983480" cy="9396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a:endParaRPr lang="en-US" sz="1800" b="0" u="none" strike="noStrike">
              <a:solidFill>
                <a:schemeClr val="lt1"/>
              </a:solidFill>
              <a:effectLst/>
              <a:uFillTx/>
              <a:latin typeface="Calibri"/>
            </a:endParaRPr>
          </a:p>
        </p:txBody>
      </p:sp>
      <p:sp>
        <p:nvSpPr>
          <p:cNvPr id="163" name="Rectangle 5"/>
          <p:cNvSpPr/>
          <p:nvPr/>
        </p:nvSpPr>
        <p:spPr>
          <a:xfrm>
            <a:off x="6300000" y="2002320"/>
            <a:ext cx="4983480" cy="42519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algn="ctr" defTabSz="457200">
              <a:lnSpc>
                <a:spcPct val="100000"/>
              </a:lnSpc>
              <a:spcAft>
                <a:spcPts val="601"/>
              </a:spcAft>
            </a:pPr>
            <a:r>
              <a:rPr lang="en-US" sz="2600" b="1" u="none" strike="noStrike">
                <a:solidFill>
                  <a:srgbClr val="271811"/>
                </a:solidFill>
                <a:effectLst/>
                <a:uFillTx/>
                <a:latin typeface="JetBrains Mono"/>
              </a:rPr>
              <a:t>les emails</a:t>
            </a:r>
            <a:endParaRPr lang="en-US" sz="2600" b="0" u="none" strike="noStrike">
              <a:solidFill>
                <a:srgbClr val="000000"/>
              </a:solidFill>
              <a:effectLst/>
              <a:uFillTx/>
              <a:latin typeface="Arial"/>
            </a:endParaRPr>
          </a:p>
          <a:p>
            <a:pPr algn="ctr" defTabSz="457200">
              <a:lnSpc>
                <a:spcPct val="100000"/>
              </a:lnSpc>
            </a:pPr>
            <a:r>
              <a:rPr lang="en-US" sz="2000" b="0" u="none" strike="noStrike">
                <a:solidFill>
                  <a:srgbClr val="64748B"/>
                </a:solidFill>
                <a:effectLst/>
                <a:uFillTx/>
                <a:latin typeface="JetBrains Mono"/>
              </a:rPr>
              <a:t>les courriers électroniques</a:t>
            </a:r>
            <a:endParaRPr lang="en-US" sz="2000" b="0" u="none" strike="noStrike">
              <a:solidFill>
                <a:srgbClr val="000000"/>
              </a:solidFill>
              <a:effectLst/>
              <a:uFillTx/>
              <a:latin typeface="Arial"/>
            </a:endParaRPr>
          </a:p>
        </p:txBody>
      </p:sp>
      <p:sp>
        <p:nvSpPr>
          <p:cNvPr id="164" name="Rectangle 6"/>
          <p:cNvSpPr/>
          <p:nvPr/>
        </p:nvSpPr>
        <p:spPr>
          <a:xfrm>
            <a:off x="6300000" y="2002320"/>
            <a:ext cx="4983480" cy="9396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lgn="ctr"/>
            <a:endParaRPr lang="en-US" sz="1800" b="0" u="none" strike="noStrike">
              <a:solidFill>
                <a:schemeClr val="lt1"/>
              </a:solidFill>
              <a:effectLst/>
              <a:uFillTx/>
              <a:latin typeface="Calibri"/>
            </a:endParaRPr>
          </a:p>
        </p:txBody>
      </p:sp>
    </p:spTree>
  </p:cSld>
  <mc:AlternateContent>
    <mc:Choice Requires="p14">
      <p:transition p14:dur="250">
        <p:fade thruBlk="true"/>
      </p:transition>
    </mc:Choice>
    <mc:Fallback>
      <p:transition>
        <p:fade thruBlk="true"/>
      </p:transition>
    </mc:Fallback>
  </mc:AlternateContent>
  <p:timing>
    <p:tnLst>
      <p:par>
        <p:cTn id="95" dur="indefinite" restart="never" nodeType="tmRoot">
          <p:childTnLst>
            <p:seq>
              <p:cTn id="96" dur="indefinite" nodeType="mainSeq">
                <p:childTnLst>
                  <p:par>
                    <p:cTn id="97" fill="hold">
                      <p:stCondLst>
                        <p:cond delay="indefinite"/>
                      </p:stCondLst>
                      <p:childTnLst>
                        <p:par>
                          <p:cTn id="98" fill="hold">
                            <p:stCondLst>
                              <p:cond delay="0"/>
                            </p:stCondLst>
                            <p:childTnLst>
                              <p:par>
                                <p:cTn id="99" presetID="1" presetClass="entr" fill="hold" nodeType="clickEffect">
                                  <p:stCondLst>
                                    <p:cond delay="0"/>
                                  </p:stCondLst>
                                  <p:childTnLst>
                                    <p:set>
                                      <p:cBhvr>
                                        <p:cTn id="100" dur="1" fill="hold">
                                          <p:stCondLst>
                                            <p:cond delay="0"/>
                                          </p:stCondLst>
                                        </p:cTn>
                                        <p:tgtEl>
                                          <p:spTgt spid="161"/>
                                        </p:tgtEl>
                                        <p:attrNameLst>
                                          <p:attrName>style.visibility</p:attrName>
                                        </p:attrNameLst>
                                      </p:cBhvr>
                                      <p:to>
                                        <p:strVal val="visible"/>
                                      </p:to>
                                    </p:set>
                                  </p:childTnLst>
                                </p:cTn>
                              </p:par>
                              <p:par>
                                <p:cTn id="101" presetID="1" presetClass="entr" fill="hold" nodeType="withEffect">
                                  <p:stCondLst>
                                    <p:cond delay="0"/>
                                  </p:stCondLst>
                                  <p:childTnLst>
                                    <p:set>
                                      <p:cBhvr>
                                        <p:cTn id="102" dur="1" fill="hold">
                                          <p:stCondLst>
                                            <p:cond delay="0"/>
                                          </p:stCondLst>
                                        </p:cTn>
                                        <p:tgtEl>
                                          <p:spTgt spid="162"/>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fill="hold" nodeType="clickEffect">
                                  <p:stCondLst>
                                    <p:cond delay="0"/>
                                  </p:stCondLst>
                                  <p:childTnLst>
                                    <p:set>
                                      <p:cBhvr>
                                        <p:cTn id="106" dur="1" fill="hold">
                                          <p:stCondLst>
                                            <p:cond delay="0"/>
                                          </p:stCondLst>
                                        </p:cTn>
                                        <p:tgtEl>
                                          <p:spTgt spid="163"/>
                                        </p:tgtEl>
                                        <p:attrNameLst>
                                          <p:attrName>style.visibility</p:attrName>
                                        </p:attrNameLst>
                                      </p:cBhvr>
                                      <p:to>
                                        <p:strVal val="visible"/>
                                      </p:to>
                                    </p:set>
                                  </p:childTnLst>
                                </p:cTn>
                              </p:par>
                              <p:par>
                                <p:cTn id="107" presetID="1" presetClass="entr" fill="hold" nodeType="withEffect">
                                  <p:stCondLst>
                                    <p:cond delay="0"/>
                                  </p:stCondLst>
                                  <p:childTnLst>
                                    <p:set>
                                      <p:cBhvr>
                                        <p:cTn id="108" dur="1" fill="hold">
                                          <p:stCondLst>
                                            <p:cond delay="0"/>
                                          </p:stCondLst>
                                        </p:cTn>
                                        <p:tgtEl>
                                          <p:spTgt spid="1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165"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Analyse des besoins</a:t>
            </a:r>
            <a:endParaRPr lang="en-US" sz="1300" b="0" u="none" strike="noStrike">
              <a:solidFill>
                <a:srgbClr val="000000"/>
              </a:solidFill>
              <a:effectLst/>
              <a:uFillTx/>
              <a:latin typeface="Arial"/>
            </a:endParaRPr>
          </a:p>
        </p:txBody>
      </p:sp>
      <p:sp>
        <p:nvSpPr>
          <p:cNvPr id="166" name="TextBox 2"/>
          <p:cNvSpPr/>
          <p:nvPr/>
        </p:nvSpPr>
        <p:spPr>
          <a:xfrm>
            <a:off x="731520" y="100584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Les Acteurs</a:t>
            </a:r>
            <a:endParaRPr lang="en-US" sz="3600" b="0" u="none" strike="noStrike">
              <a:solidFill>
                <a:srgbClr val="000000"/>
              </a:solidFill>
              <a:effectLst/>
              <a:uFillTx/>
              <a:latin typeface="Arial"/>
            </a:endParaRPr>
          </a:p>
        </p:txBody>
      </p:sp>
      <p:sp>
        <p:nvSpPr>
          <p:cNvPr id="167" name="Rectangle 3"/>
          <p:cNvSpPr/>
          <p:nvPr/>
        </p:nvSpPr>
        <p:spPr>
          <a:xfrm>
            <a:off x="731520" y="1920240"/>
            <a:ext cx="5241960" cy="16455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defTabSz="457200">
              <a:lnSpc>
                <a:spcPct val="100000"/>
              </a:lnSpc>
              <a:spcAft>
                <a:spcPts val="601"/>
              </a:spcAft>
            </a:pPr>
            <a:r>
              <a:rPr lang="en-US" sz="1600" b="1" u="none" strike="noStrike">
                <a:solidFill>
                  <a:srgbClr val="271811"/>
                </a:solidFill>
                <a:effectLst/>
                <a:uFillTx/>
                <a:latin typeface="JetBrains Mono"/>
              </a:rPr>
              <a:t>Marketeur</a:t>
            </a:r>
            <a:endParaRPr lang="en-US" sz="1600" b="0" u="none" strike="noStrike">
              <a:solidFill>
                <a:srgbClr val="000000"/>
              </a:solidFill>
              <a:effectLst/>
              <a:uFillTx/>
              <a:latin typeface="Arial"/>
            </a:endParaRPr>
          </a:p>
          <a:p>
            <a:pPr defTabSz="457200">
              <a:lnSpc>
                <a:spcPct val="100000"/>
              </a:lnSpc>
            </a:pPr>
            <a:r>
              <a:rPr lang="en-US" sz="1250" b="0" u="none" strike="noStrike">
                <a:solidFill>
                  <a:srgbClr val="64748B"/>
                </a:solidFill>
                <a:effectLst/>
                <a:uFillTx/>
                <a:latin typeface="JetBrains Mono"/>
              </a:rPr>
              <a:t>Ajoute des clients et des campagnes et des opportunites</a:t>
            </a:r>
            <a:endParaRPr lang="en-US" sz="1250" b="0" u="none" strike="noStrike">
              <a:solidFill>
                <a:srgbClr val="000000"/>
              </a:solidFill>
              <a:effectLst/>
              <a:uFillTx/>
              <a:latin typeface="Arial"/>
            </a:endParaRPr>
          </a:p>
        </p:txBody>
      </p:sp>
      <p:sp>
        <p:nvSpPr>
          <p:cNvPr id="168" name="Rectangle 4"/>
          <p:cNvSpPr/>
          <p:nvPr/>
        </p:nvSpPr>
        <p:spPr>
          <a:xfrm>
            <a:off x="731520" y="1920240"/>
            <a:ext cx="5241960" cy="3636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pPr/>
            <a:endParaRPr lang="en-US" sz="1800" b="0" u="none" strike="noStrike">
              <a:solidFill>
                <a:schemeClr val="lt1"/>
              </a:solidFill>
              <a:effectLst/>
              <a:uFillTx/>
              <a:latin typeface="Calibri"/>
            </a:endParaRPr>
          </a:p>
        </p:txBody>
      </p:sp>
      <p:sp>
        <p:nvSpPr>
          <p:cNvPr id="169" name="Rectangle 5"/>
          <p:cNvSpPr/>
          <p:nvPr/>
        </p:nvSpPr>
        <p:spPr>
          <a:xfrm>
            <a:off x="6172200" y="1923120"/>
            <a:ext cx="5241960" cy="16455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defTabSz="457200">
              <a:lnSpc>
                <a:spcPct val="100000"/>
              </a:lnSpc>
              <a:spcAft>
                <a:spcPts val="601"/>
              </a:spcAft>
            </a:pPr>
            <a:r>
              <a:rPr lang="en-US" sz="1600" b="1" u="none" strike="noStrike">
                <a:solidFill>
                  <a:srgbClr val="271811"/>
                </a:solidFill>
                <a:effectLst/>
                <a:uFillTx/>
                <a:latin typeface="JetBrains Mono"/>
              </a:rPr>
              <a:t>Directeur</a:t>
            </a:r>
            <a:endParaRPr lang="en-US" sz="1600" b="0" u="none" strike="noStrike">
              <a:solidFill>
                <a:srgbClr val="000000"/>
              </a:solidFill>
              <a:effectLst/>
              <a:uFillTx/>
              <a:latin typeface="Arial"/>
            </a:endParaRPr>
          </a:p>
          <a:p>
            <a:pPr defTabSz="457200">
              <a:lnSpc>
                <a:spcPct val="100000"/>
              </a:lnSpc>
            </a:pPr>
            <a:r>
              <a:rPr lang="en-US" sz="1250" b="0" u="none" strike="noStrike">
                <a:solidFill>
                  <a:srgbClr val="64748B"/>
                </a:solidFill>
                <a:effectLst/>
                <a:uFillTx/>
                <a:latin typeface="JetBrains Mono"/>
              </a:rPr>
              <a:t>Cloture les opportunites et consulte les rapports</a:t>
            </a:r>
            <a:endParaRPr lang="en-US" sz="1250" b="0" u="none" strike="noStrike">
              <a:solidFill>
                <a:srgbClr val="000000"/>
              </a:solidFill>
              <a:effectLst/>
              <a:uFillTx/>
              <a:latin typeface="Arial"/>
            </a:endParaRPr>
          </a:p>
        </p:txBody>
      </p:sp>
      <p:sp>
        <p:nvSpPr>
          <p:cNvPr id="170" name="Rectangle 6"/>
          <p:cNvSpPr/>
          <p:nvPr/>
        </p:nvSpPr>
        <p:spPr>
          <a:xfrm>
            <a:off x="6172200" y="1923120"/>
            <a:ext cx="5241960" cy="3636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pPr/>
            <a:endParaRPr lang="en-US" sz="1800" b="0" u="none" strike="noStrike">
              <a:solidFill>
                <a:schemeClr val="lt1"/>
              </a:solidFill>
              <a:effectLst/>
              <a:uFillTx/>
              <a:latin typeface="Calibri"/>
            </a:endParaRPr>
          </a:p>
        </p:txBody>
      </p:sp>
      <p:sp>
        <p:nvSpPr>
          <p:cNvPr id="171" name="Rectangle 7"/>
          <p:cNvSpPr/>
          <p:nvPr/>
        </p:nvSpPr>
        <p:spPr>
          <a:xfrm>
            <a:off x="685800" y="4572000"/>
            <a:ext cx="5241960" cy="16455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defTabSz="457200">
              <a:lnSpc>
                <a:spcPct val="100000"/>
              </a:lnSpc>
              <a:spcAft>
                <a:spcPts val="601"/>
              </a:spcAft>
            </a:pPr>
            <a:r>
              <a:rPr lang="en-US" sz="1600" b="1" u="none" strike="noStrike">
                <a:solidFill>
                  <a:srgbClr val="271811"/>
                </a:solidFill>
                <a:effectLst/>
                <a:uFillTx/>
                <a:latin typeface="JetBrains Mono"/>
              </a:rPr>
              <a:t>Support</a:t>
            </a:r>
            <a:endParaRPr lang="en-US" sz="1600" b="0" u="none" strike="noStrike">
              <a:solidFill>
                <a:srgbClr val="000000"/>
              </a:solidFill>
              <a:effectLst/>
              <a:uFillTx/>
              <a:latin typeface="Arial"/>
            </a:endParaRPr>
          </a:p>
          <a:p>
            <a:pPr defTabSz="457200">
              <a:lnSpc>
                <a:spcPct val="100000"/>
              </a:lnSpc>
            </a:pPr>
            <a:r>
              <a:rPr lang="en-US" sz="1250" b="0" u="none" strike="noStrike">
                <a:solidFill>
                  <a:srgbClr val="64748B"/>
                </a:solidFill>
                <a:effectLst/>
                <a:uFillTx/>
                <a:latin typeface="JetBrains Mono"/>
              </a:rPr>
              <a:t>Plannifier des activites pour l'equipe</a:t>
            </a:r>
            <a:endParaRPr lang="en-US" sz="1250" b="0" u="none" strike="noStrike">
              <a:solidFill>
                <a:srgbClr val="000000"/>
              </a:solidFill>
              <a:effectLst/>
              <a:uFillTx/>
              <a:latin typeface="Arial"/>
            </a:endParaRPr>
          </a:p>
        </p:txBody>
      </p:sp>
      <p:sp>
        <p:nvSpPr>
          <p:cNvPr id="172" name="Rectangle 8"/>
          <p:cNvSpPr/>
          <p:nvPr/>
        </p:nvSpPr>
        <p:spPr>
          <a:xfrm>
            <a:off x="685800" y="4572000"/>
            <a:ext cx="5241960" cy="3636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pPr/>
            <a:endParaRPr lang="en-US" sz="1800" b="0" u="none" strike="noStrike">
              <a:solidFill>
                <a:schemeClr val="lt1"/>
              </a:solidFill>
              <a:effectLst/>
              <a:uFillTx/>
              <a:latin typeface="Calibri"/>
            </a:endParaRPr>
          </a:p>
        </p:txBody>
      </p:sp>
      <p:sp>
        <p:nvSpPr>
          <p:cNvPr id="173" name="Rectangle 9"/>
          <p:cNvSpPr/>
          <p:nvPr/>
        </p:nvSpPr>
        <p:spPr>
          <a:xfrm>
            <a:off x="6172200" y="4572000"/>
            <a:ext cx="5241960" cy="16455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182880" rIns="274320" bIns="182880" anchor="ctr">
            <a:noAutofit/>
          </a:bodyPr>
          <a:p>
            <a:pPr algn="ctr" defTabSz="457200">
              <a:lnSpc>
                <a:spcPct val="100000"/>
              </a:lnSpc>
            </a:pPr>
            <a:endParaRPr lang="en-US" sz="1800" b="0" u="none" strike="noStrike">
              <a:solidFill>
                <a:srgbClr val="000000"/>
              </a:solidFill>
              <a:effectLst/>
              <a:uFillTx/>
              <a:latin typeface="Arial"/>
            </a:endParaRPr>
          </a:p>
          <a:p>
            <a:pPr defTabSz="457200">
              <a:lnSpc>
                <a:spcPct val="100000"/>
              </a:lnSpc>
              <a:spcAft>
                <a:spcPts val="601"/>
              </a:spcAft>
            </a:pPr>
            <a:r>
              <a:rPr lang="en-US" sz="1600" b="1" u="none" strike="noStrike">
                <a:solidFill>
                  <a:srgbClr val="271811"/>
                </a:solidFill>
                <a:effectLst/>
                <a:uFillTx/>
                <a:latin typeface="JetBrains Mono"/>
              </a:rPr>
              <a:t>Admin</a:t>
            </a:r>
            <a:endParaRPr lang="en-US" sz="1600" b="0" u="none" strike="noStrike">
              <a:solidFill>
                <a:srgbClr val="000000"/>
              </a:solidFill>
              <a:effectLst/>
              <a:uFillTx/>
              <a:latin typeface="Arial"/>
            </a:endParaRPr>
          </a:p>
          <a:p>
            <a:pPr defTabSz="457200">
              <a:lnSpc>
                <a:spcPct val="100000"/>
              </a:lnSpc>
            </a:pPr>
            <a:r>
              <a:rPr lang="en-US" sz="1250" b="0" u="none" strike="noStrike">
                <a:solidFill>
                  <a:srgbClr val="64748B"/>
                </a:solidFill>
                <a:effectLst/>
                <a:uFillTx/>
                <a:latin typeface="JetBrains Mono"/>
              </a:rPr>
              <a:t>gere les utilisateurs et les authorizations</a:t>
            </a:r>
            <a:endParaRPr lang="en-US" sz="1250" b="0" u="none" strike="noStrike">
              <a:solidFill>
                <a:srgbClr val="000000"/>
              </a:solidFill>
              <a:effectLst/>
              <a:uFillTx/>
              <a:latin typeface="Arial"/>
            </a:endParaRPr>
          </a:p>
        </p:txBody>
      </p:sp>
      <p:sp>
        <p:nvSpPr>
          <p:cNvPr id="174" name="Rectangle 10"/>
          <p:cNvSpPr/>
          <p:nvPr/>
        </p:nvSpPr>
        <p:spPr>
          <a:xfrm>
            <a:off x="6172200" y="4572000"/>
            <a:ext cx="5241960" cy="3636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8280" rIns="90000" bIns="-8280" anchor="ctr">
            <a:noAutofit/>
          </a:bodyPr>
          <a:p>
            <a:pPr/>
            <a:endParaRPr lang="en-US" sz="1800" b="0" u="none" strike="noStrike">
              <a:solidFill>
                <a:schemeClr val="lt1"/>
              </a:solidFill>
              <a:effectLst/>
              <a:uFillTx/>
              <a:latin typeface="Calibri"/>
            </a:endParaRPr>
          </a:p>
        </p:txBody>
      </p:sp>
    </p:spTree>
  </p:cSld>
  <mc:AlternateContent>
    <mc:Choice Requires="p14">
      <p:transition p14:dur="250">
        <p:fade thruBlk="true"/>
      </p:transition>
    </mc:Choice>
    <mc:Fallback>
      <p:transition>
        <p:fade thruBlk="true"/>
      </p:transition>
    </mc:Fallback>
  </mc:AlternateContent>
  <p:timing>
    <p:tnLst>
      <p:par>
        <p:cTn id="109" dur="indefinite" restart="never" nodeType="tmRoot">
          <p:childTnLst>
            <p:seq>
              <p:cTn id="110" dur="indefinite" nodeType="mainSeq">
                <p:childTnLst>
                  <p:par>
                    <p:cTn id="111" fill="hold">
                      <p:stCondLst>
                        <p:cond delay="indefinite"/>
                      </p:stCondLst>
                      <p:childTnLst>
                        <p:par>
                          <p:cTn id="112" fill="hold">
                            <p:stCondLst>
                              <p:cond delay="0"/>
                            </p:stCondLst>
                            <p:childTnLst>
                              <p:par>
                                <p:cTn id="113" presetID="1" presetClass="entr" fill="hold" nodeType="clickEffect">
                                  <p:stCondLst>
                                    <p:cond delay="0"/>
                                  </p:stCondLst>
                                  <p:childTnLst>
                                    <p:set>
                                      <p:cBhvr>
                                        <p:cTn id="114" dur="1" fill="hold">
                                          <p:stCondLst>
                                            <p:cond delay="0"/>
                                          </p:stCondLst>
                                        </p:cTn>
                                        <p:tgtEl>
                                          <p:spTgt spid="167"/>
                                        </p:tgtEl>
                                        <p:attrNameLst>
                                          <p:attrName>style.visibility</p:attrName>
                                        </p:attrNameLst>
                                      </p:cBhvr>
                                      <p:to>
                                        <p:strVal val="visible"/>
                                      </p:to>
                                    </p:set>
                                  </p:childTnLst>
                                </p:cTn>
                              </p:par>
                              <p:par>
                                <p:cTn id="115" presetID="1" presetClass="entr" fill="hold" nodeType="withEffect">
                                  <p:stCondLst>
                                    <p:cond delay="0"/>
                                  </p:stCondLst>
                                  <p:childTnLst>
                                    <p:set>
                                      <p:cBhvr>
                                        <p:cTn id="116" dur="1" fill="hold">
                                          <p:stCondLst>
                                            <p:cond delay="0"/>
                                          </p:stCondLst>
                                        </p:cTn>
                                        <p:tgtEl>
                                          <p:spTgt spid="168"/>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fill="hold" nodeType="clickEffect">
                                  <p:stCondLst>
                                    <p:cond delay="0"/>
                                  </p:stCondLst>
                                  <p:childTnLst>
                                    <p:set>
                                      <p:cBhvr>
                                        <p:cTn id="120" dur="1" fill="hold">
                                          <p:stCondLst>
                                            <p:cond delay="0"/>
                                          </p:stCondLst>
                                        </p:cTn>
                                        <p:tgtEl>
                                          <p:spTgt spid="169"/>
                                        </p:tgtEl>
                                        <p:attrNameLst>
                                          <p:attrName>style.visibility</p:attrName>
                                        </p:attrNameLst>
                                      </p:cBhvr>
                                      <p:to>
                                        <p:strVal val="visible"/>
                                      </p:to>
                                    </p:set>
                                  </p:childTnLst>
                                </p:cTn>
                              </p:par>
                              <p:par>
                                <p:cTn id="121" presetID="1" presetClass="entr" fill="hold" nodeType="withEffect">
                                  <p:stCondLst>
                                    <p:cond delay="0"/>
                                  </p:stCondLst>
                                  <p:childTnLst>
                                    <p:set>
                                      <p:cBhvr>
                                        <p:cTn id="122" dur="1" fill="hold">
                                          <p:stCondLst>
                                            <p:cond delay="0"/>
                                          </p:stCondLst>
                                        </p:cTn>
                                        <p:tgtEl>
                                          <p:spTgt spid="170"/>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fill="hold" nodeType="clickEffect">
                                  <p:stCondLst>
                                    <p:cond delay="0"/>
                                  </p:stCondLst>
                                  <p:childTnLst>
                                    <p:set>
                                      <p:cBhvr>
                                        <p:cTn id="126" dur="1" fill="hold">
                                          <p:stCondLst>
                                            <p:cond delay="0"/>
                                          </p:stCondLst>
                                        </p:cTn>
                                        <p:tgtEl>
                                          <p:spTgt spid="171"/>
                                        </p:tgtEl>
                                        <p:attrNameLst>
                                          <p:attrName>style.visibility</p:attrName>
                                        </p:attrNameLst>
                                      </p:cBhvr>
                                      <p:to>
                                        <p:strVal val="visible"/>
                                      </p:to>
                                    </p:set>
                                  </p:childTnLst>
                                </p:cTn>
                              </p:par>
                              <p:par>
                                <p:cTn id="127" presetID="1" presetClass="entr" fill="hold" nodeType="withEffect">
                                  <p:stCondLst>
                                    <p:cond delay="0"/>
                                  </p:stCondLst>
                                  <p:childTnLst>
                                    <p:set>
                                      <p:cBhvr>
                                        <p:cTn id="128" dur="1" fill="hold">
                                          <p:stCondLst>
                                            <p:cond delay="0"/>
                                          </p:stCondLst>
                                        </p:cTn>
                                        <p:tgtEl>
                                          <p:spTgt spid="172"/>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fill="hold" nodeType="clickEffect">
                                  <p:stCondLst>
                                    <p:cond delay="0"/>
                                  </p:stCondLst>
                                  <p:childTnLst>
                                    <p:set>
                                      <p:cBhvr>
                                        <p:cTn id="132" dur="1" fill="hold">
                                          <p:stCondLst>
                                            <p:cond delay="0"/>
                                          </p:stCondLst>
                                        </p:cTn>
                                        <p:tgtEl>
                                          <p:spTgt spid="173"/>
                                        </p:tgtEl>
                                        <p:attrNameLst>
                                          <p:attrName>style.visibility</p:attrName>
                                        </p:attrNameLst>
                                      </p:cBhvr>
                                      <p:to>
                                        <p:strVal val="visible"/>
                                      </p:to>
                                    </p:set>
                                  </p:childTnLst>
                                </p:cTn>
                              </p:par>
                              <p:par>
                                <p:cTn id="133" presetID="1" presetClass="entr" fill="hold" nodeType="withEffect">
                                  <p:stCondLst>
                                    <p:cond delay="0"/>
                                  </p:stCondLst>
                                  <p:childTnLst>
                                    <p:set>
                                      <p:cBhvr>
                                        <p:cTn id="134" dur="1" fill="hold">
                                          <p:stCondLst>
                                            <p:cond delay="0"/>
                                          </p:stCondLst>
                                        </p:cTn>
                                        <p:tgtEl>
                                          <p:spTgt spid="1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F0000"/>
        </a:solidFill>
      </p:bgPr>
    </p:bg>
    <p:spTree>
      <p:nvGrpSpPr>
        <p:cNvPr id="1" name=""/>
        <p:cNvGrpSpPr/>
        <p:nvPr/>
      </p:nvGrpSpPr>
      <p:grpSpPr>
        <a:xfrm>
          <a:off x="0" y="0"/>
          <a:ext cx="0" cy="0"/>
          <a:chOff x="0" y="0"/>
          <a:chExt cx="0" cy="0"/>
        </a:xfrm>
      </p:grpSpPr>
      <p:sp>
        <p:nvSpPr>
          <p:cNvPr id="175" name="Rectangle 1"/>
          <p:cNvSpPr/>
          <p:nvPr/>
        </p:nvSpPr>
        <p:spPr>
          <a:xfrm>
            <a:off x="1097280" y="1188720"/>
            <a:ext cx="1096920" cy="4536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720" rIns="90000" bIns="720" anchor="ctr">
            <a:noAutofit/>
          </a:bodyPr>
          <a:p>
            <a:pPr/>
            <a:endParaRPr lang="en-US" sz="1800" b="0" u="none" strike="noStrike">
              <a:solidFill>
                <a:schemeClr val="lt1"/>
              </a:solidFill>
              <a:effectLst/>
              <a:uFillTx/>
              <a:latin typeface="Calibri"/>
            </a:endParaRPr>
          </a:p>
        </p:txBody>
      </p:sp>
      <p:sp>
        <p:nvSpPr>
          <p:cNvPr id="176" name="TextBox 2"/>
          <p:cNvSpPr/>
          <p:nvPr/>
        </p:nvSpPr>
        <p:spPr>
          <a:xfrm>
            <a:off x="1097280" y="1463040"/>
            <a:ext cx="10058040" cy="475452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4400" b="1" u="none" strike="noStrike">
                <a:solidFill>
                  <a:srgbClr val="FFFFFF"/>
                </a:solidFill>
                <a:effectLst/>
                <a:uFillTx/>
                <a:latin typeface="JetBrains Mono"/>
              </a:rPr>
              <a:t>Les Diagrammes De Cas D'Utilisation</a:t>
            </a:r>
            <a:endParaRPr lang="en-US" sz="4400" b="0" u="none" strike="noStrike">
              <a:solidFill>
                <a:srgbClr val="FFFFFF"/>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177"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L'Analyse Des Besoins</a:t>
            </a:r>
            <a:endParaRPr lang="en-US" sz="1300" b="0" u="none" strike="noStrike">
              <a:solidFill>
                <a:srgbClr val="000000"/>
              </a:solidFill>
              <a:effectLst/>
              <a:uFillTx/>
              <a:latin typeface="Arial"/>
            </a:endParaRPr>
          </a:p>
        </p:txBody>
      </p:sp>
      <p:sp>
        <p:nvSpPr>
          <p:cNvPr id="178" name="TextBox 2"/>
          <p:cNvSpPr/>
          <p:nvPr/>
        </p:nvSpPr>
        <p:spPr>
          <a:xfrm>
            <a:off x="731520" y="96012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Global</a:t>
            </a:r>
            <a:endParaRPr lang="en-US" sz="3600" b="0" u="none" strike="noStrike">
              <a:solidFill>
                <a:srgbClr val="000000"/>
              </a:solidFill>
              <a:effectLst/>
              <a:uFillTx/>
              <a:latin typeface="Arial"/>
            </a:endParaRPr>
          </a:p>
        </p:txBody>
      </p:sp>
      <p:pic>
        <p:nvPicPr>
          <p:cNvPr id="179" name="Picture 3" descr="global!global_1.jpg"/>
          <p:cNvPicPr/>
          <p:nvPr/>
        </p:nvPicPr>
        <p:blipFill>
          <a:blip r:embed="rId1"/>
          <a:stretch/>
        </p:blipFill>
        <p:spPr>
          <a:xfrm>
            <a:off x="1828800" y="1920240"/>
            <a:ext cx="8558280" cy="475452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180"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L'Analyse Des Besoins</a:t>
            </a:r>
            <a:endParaRPr lang="en-US" sz="1300" b="0" u="none" strike="noStrike">
              <a:solidFill>
                <a:srgbClr val="000000"/>
              </a:solidFill>
              <a:effectLst/>
              <a:uFillTx/>
              <a:latin typeface="Arial"/>
            </a:endParaRPr>
          </a:p>
        </p:txBody>
      </p:sp>
      <p:sp>
        <p:nvSpPr>
          <p:cNvPr id="181" name="TextBox 2"/>
          <p:cNvSpPr/>
          <p:nvPr/>
        </p:nvSpPr>
        <p:spPr>
          <a:xfrm>
            <a:off x="731520" y="96012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Clients</a:t>
            </a:r>
            <a:endParaRPr lang="en-US" sz="3600" b="0" u="none" strike="noStrike">
              <a:solidFill>
                <a:srgbClr val="000000"/>
              </a:solidFill>
              <a:effectLst/>
              <a:uFillTx/>
              <a:latin typeface="Arial"/>
            </a:endParaRPr>
          </a:p>
        </p:txBody>
      </p:sp>
      <p:pic>
        <p:nvPicPr>
          <p:cNvPr id="182" name="Picture 3" descr="clients!clients_4.jpg"/>
          <p:cNvPicPr/>
          <p:nvPr/>
        </p:nvPicPr>
        <p:blipFill>
          <a:blip r:embed="rId1"/>
          <a:stretch/>
        </p:blipFill>
        <p:spPr>
          <a:xfrm>
            <a:off x="1828800" y="1920240"/>
            <a:ext cx="8558280" cy="475452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183"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L'Analyse Des Besoins</a:t>
            </a:r>
            <a:endParaRPr lang="en-US" sz="1300" b="0" u="none" strike="noStrike">
              <a:solidFill>
                <a:srgbClr val="000000"/>
              </a:solidFill>
              <a:effectLst/>
              <a:uFillTx/>
              <a:latin typeface="Arial"/>
            </a:endParaRPr>
          </a:p>
        </p:txBody>
      </p:sp>
      <p:sp>
        <p:nvSpPr>
          <p:cNvPr id="184" name="TextBox 2"/>
          <p:cNvSpPr/>
          <p:nvPr/>
        </p:nvSpPr>
        <p:spPr>
          <a:xfrm>
            <a:off x="731520" y="96012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Activities</a:t>
            </a:r>
            <a:endParaRPr lang="en-US" sz="3600" b="0" u="none" strike="noStrike">
              <a:solidFill>
                <a:srgbClr val="000000"/>
              </a:solidFill>
              <a:effectLst/>
              <a:uFillTx/>
              <a:latin typeface="Arial"/>
            </a:endParaRPr>
          </a:p>
        </p:txBody>
      </p:sp>
      <p:pic>
        <p:nvPicPr>
          <p:cNvPr id="185" name="Picture 3" descr="activities!activities_3.jpg"/>
          <p:cNvPicPr/>
          <p:nvPr/>
        </p:nvPicPr>
        <p:blipFill>
          <a:blip r:embed="rId1"/>
          <a:stretch/>
        </p:blipFill>
        <p:spPr>
          <a:xfrm>
            <a:off x="1828800" y="1920240"/>
            <a:ext cx="8558280" cy="475452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186"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L'Analyse Des Besoins</a:t>
            </a:r>
            <a:endParaRPr lang="en-US" sz="1300" b="0" u="none" strike="noStrike">
              <a:solidFill>
                <a:srgbClr val="000000"/>
              </a:solidFill>
              <a:effectLst/>
              <a:uFillTx/>
              <a:latin typeface="Arial"/>
            </a:endParaRPr>
          </a:p>
        </p:txBody>
      </p:sp>
      <p:sp>
        <p:nvSpPr>
          <p:cNvPr id="187" name="TextBox 2"/>
          <p:cNvSpPr/>
          <p:nvPr/>
        </p:nvSpPr>
        <p:spPr>
          <a:xfrm>
            <a:off x="731520" y="96012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Opportunites</a:t>
            </a:r>
            <a:endParaRPr lang="en-US" sz="3600" b="0" u="none" strike="noStrike">
              <a:solidFill>
                <a:srgbClr val="000000"/>
              </a:solidFill>
              <a:effectLst/>
              <a:uFillTx/>
              <a:latin typeface="Arial"/>
            </a:endParaRPr>
          </a:p>
        </p:txBody>
      </p:sp>
      <p:pic>
        <p:nvPicPr>
          <p:cNvPr id="188" name="Picture 3" descr="opportunites!opportunites_5.jpg"/>
          <p:cNvPicPr/>
          <p:nvPr/>
        </p:nvPicPr>
        <p:blipFill>
          <a:blip r:embed="rId1"/>
          <a:stretch/>
        </p:blipFill>
        <p:spPr>
          <a:xfrm>
            <a:off x="1828800" y="1920240"/>
            <a:ext cx="8558280" cy="475452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189"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L'Analyse Des Besoins</a:t>
            </a:r>
            <a:endParaRPr lang="en-US" sz="1300" b="0" u="none" strike="noStrike">
              <a:solidFill>
                <a:srgbClr val="000000"/>
              </a:solidFill>
              <a:effectLst/>
              <a:uFillTx/>
              <a:latin typeface="Arial"/>
            </a:endParaRPr>
          </a:p>
        </p:txBody>
      </p:sp>
      <p:sp>
        <p:nvSpPr>
          <p:cNvPr id="190" name="TextBox 2"/>
          <p:cNvSpPr/>
          <p:nvPr/>
        </p:nvSpPr>
        <p:spPr>
          <a:xfrm>
            <a:off x="731520" y="96012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Campagnes</a:t>
            </a:r>
            <a:endParaRPr lang="en-US" sz="3600" b="0" u="none" strike="noStrike">
              <a:solidFill>
                <a:srgbClr val="000000"/>
              </a:solidFill>
              <a:effectLst/>
              <a:uFillTx/>
              <a:latin typeface="Arial"/>
            </a:endParaRPr>
          </a:p>
        </p:txBody>
      </p:sp>
      <p:pic>
        <p:nvPicPr>
          <p:cNvPr id="191" name="Picture 3" descr="campagne!campagnr_6.jpg"/>
          <p:cNvPicPr/>
          <p:nvPr/>
        </p:nvPicPr>
        <p:blipFill>
          <a:blip r:embed="rId1"/>
          <a:stretch/>
        </p:blipFill>
        <p:spPr>
          <a:xfrm>
            <a:off x="1828800" y="1920240"/>
            <a:ext cx="8558280" cy="475452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F0000"/>
        </a:solidFill>
      </p:bgPr>
    </p:bg>
    <p:spTree>
      <p:nvGrpSpPr>
        <p:cNvPr id="1" name=""/>
        <p:cNvGrpSpPr/>
        <p:nvPr/>
      </p:nvGrpSpPr>
      <p:grpSpPr>
        <a:xfrm>
          <a:off x="0" y="0"/>
          <a:ext cx="0" cy="0"/>
          <a:chOff x="0" y="0"/>
          <a:chExt cx="0" cy="0"/>
        </a:xfrm>
      </p:grpSpPr>
      <p:sp>
        <p:nvSpPr>
          <p:cNvPr id="192" name="Rectangle 1"/>
          <p:cNvSpPr/>
          <p:nvPr/>
        </p:nvSpPr>
        <p:spPr>
          <a:xfrm>
            <a:off x="1097280" y="1188720"/>
            <a:ext cx="1096920" cy="4536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720" rIns="90000" bIns="720" anchor="ctr">
            <a:noAutofit/>
          </a:bodyPr>
          <a:p>
            <a:pPr/>
            <a:endParaRPr lang="en-US" sz="1800" b="0" u="none" strike="noStrike">
              <a:solidFill>
                <a:schemeClr val="lt1"/>
              </a:solidFill>
              <a:effectLst/>
              <a:uFillTx/>
              <a:latin typeface="Calibri"/>
            </a:endParaRPr>
          </a:p>
        </p:txBody>
      </p:sp>
      <p:sp>
        <p:nvSpPr>
          <p:cNvPr id="193" name="TextBox 2"/>
          <p:cNvSpPr/>
          <p:nvPr/>
        </p:nvSpPr>
        <p:spPr>
          <a:xfrm>
            <a:off x="1097280" y="1463040"/>
            <a:ext cx="10058040" cy="475452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4400" b="1" u="none" strike="noStrike">
                <a:solidFill>
                  <a:srgbClr val="FFFFFF"/>
                </a:solidFill>
                <a:effectLst/>
                <a:uFillTx/>
                <a:latin typeface="JetBrains Mono"/>
              </a:rPr>
              <a:t>Les Diagrammes D'Activite</a:t>
            </a:r>
            <a:endParaRPr lang="en-US" sz="4400" b="0" u="none" strike="noStrike">
              <a:solidFill>
                <a:srgbClr val="FFFFFF"/>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194"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L'Analyse Des Besoins</a:t>
            </a:r>
            <a:endParaRPr lang="en-US" sz="1300" b="0" u="none" strike="noStrike">
              <a:solidFill>
                <a:srgbClr val="000000"/>
              </a:solidFill>
              <a:effectLst/>
              <a:uFillTx/>
              <a:latin typeface="Arial"/>
            </a:endParaRPr>
          </a:p>
        </p:txBody>
      </p:sp>
      <p:sp>
        <p:nvSpPr>
          <p:cNvPr id="195" name="TextBox 2"/>
          <p:cNvSpPr/>
          <p:nvPr/>
        </p:nvSpPr>
        <p:spPr>
          <a:xfrm>
            <a:off x="731520" y="96012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Conversion de Prospect</a:t>
            </a:r>
            <a:endParaRPr lang="en-US" sz="3600" b="0" u="none" strike="noStrike">
              <a:solidFill>
                <a:srgbClr val="000000"/>
              </a:solidFill>
              <a:effectLst/>
              <a:uFillTx/>
              <a:latin typeface="Arial"/>
            </a:endParaRPr>
          </a:p>
        </p:txBody>
      </p:sp>
      <p:pic>
        <p:nvPicPr>
          <p:cNvPr id="196" name="Picture 3" descr="leadconvert.png"/>
          <p:cNvPicPr/>
          <p:nvPr/>
        </p:nvPicPr>
        <p:blipFill>
          <a:blip r:embed="rId1"/>
          <a:stretch/>
        </p:blipFill>
        <p:spPr>
          <a:xfrm>
            <a:off x="3094920" y="1783440"/>
            <a:ext cx="5591880" cy="484596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197"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L'Analyse Des Besoins</a:t>
            </a:r>
            <a:endParaRPr lang="en-US" sz="1300" b="0" u="none" strike="noStrike">
              <a:solidFill>
                <a:srgbClr val="000000"/>
              </a:solidFill>
              <a:effectLst/>
              <a:uFillTx/>
              <a:latin typeface="Arial"/>
            </a:endParaRPr>
          </a:p>
        </p:txBody>
      </p:sp>
      <p:sp>
        <p:nvSpPr>
          <p:cNvPr id="198" name="TextBox 2"/>
          <p:cNvSpPr/>
          <p:nvPr/>
        </p:nvSpPr>
        <p:spPr>
          <a:xfrm>
            <a:off x="731520" y="96012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Cloture D'Opportunite</a:t>
            </a:r>
            <a:endParaRPr lang="en-US" sz="3600" b="0" u="none" strike="noStrike">
              <a:solidFill>
                <a:srgbClr val="000000"/>
              </a:solidFill>
              <a:effectLst/>
              <a:uFillTx/>
              <a:latin typeface="Arial"/>
            </a:endParaRPr>
          </a:p>
        </p:txBody>
      </p:sp>
      <p:pic>
        <p:nvPicPr>
          <p:cNvPr id="199" name="Picture 3" descr="opportunity-close.png"/>
          <p:cNvPicPr/>
          <p:nvPr/>
        </p:nvPicPr>
        <p:blipFill>
          <a:blip r:embed="rId1"/>
          <a:stretch/>
        </p:blipFill>
        <p:spPr>
          <a:xfrm>
            <a:off x="3200400" y="1691280"/>
            <a:ext cx="5715000" cy="498348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00"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L'Analyse Des Besoins</a:t>
            </a:r>
            <a:endParaRPr lang="en-US" sz="1300" b="0" u="none" strike="noStrike">
              <a:solidFill>
                <a:srgbClr val="000000"/>
              </a:solidFill>
              <a:effectLst/>
              <a:uFillTx/>
              <a:latin typeface="Arial"/>
            </a:endParaRPr>
          </a:p>
        </p:txBody>
      </p:sp>
      <p:sp>
        <p:nvSpPr>
          <p:cNvPr id="201" name="TextBox 2"/>
          <p:cNvSpPr/>
          <p:nvPr/>
        </p:nvSpPr>
        <p:spPr>
          <a:xfrm>
            <a:off x="731520" y="96012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Activation De Campagne</a:t>
            </a:r>
            <a:endParaRPr lang="en-US" sz="3600" b="0" u="none" strike="noStrike">
              <a:solidFill>
                <a:srgbClr val="000000"/>
              </a:solidFill>
              <a:effectLst/>
              <a:uFillTx/>
              <a:latin typeface="Arial"/>
            </a:endParaRPr>
          </a:p>
        </p:txBody>
      </p:sp>
      <p:pic>
        <p:nvPicPr>
          <p:cNvPr id="202" name="Picture 3" descr="campagne-activate.png"/>
          <p:cNvPicPr/>
          <p:nvPr/>
        </p:nvPicPr>
        <p:blipFill>
          <a:blip r:embed="rId1"/>
          <a:stretch/>
        </p:blipFill>
        <p:spPr>
          <a:xfrm>
            <a:off x="2286000" y="1691280"/>
            <a:ext cx="7315200" cy="498348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03"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L'Analyse Des Besoins</a:t>
            </a:r>
            <a:endParaRPr lang="en-US" sz="1300" b="0" u="none" strike="noStrike">
              <a:solidFill>
                <a:srgbClr val="000000"/>
              </a:solidFill>
              <a:effectLst/>
              <a:uFillTx/>
              <a:latin typeface="Arial"/>
            </a:endParaRPr>
          </a:p>
        </p:txBody>
      </p:sp>
      <p:sp>
        <p:nvSpPr>
          <p:cNvPr id="204" name="TextBox 2"/>
          <p:cNvSpPr/>
          <p:nvPr/>
        </p:nvSpPr>
        <p:spPr>
          <a:xfrm>
            <a:off x="731520" y="96012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Creation D'une Tache</a:t>
            </a:r>
            <a:endParaRPr lang="en-US" sz="3600" b="0" u="none" strike="noStrike">
              <a:solidFill>
                <a:srgbClr val="000000"/>
              </a:solidFill>
              <a:effectLst/>
              <a:uFillTx/>
              <a:latin typeface="Arial"/>
            </a:endParaRPr>
          </a:p>
        </p:txBody>
      </p:sp>
      <p:pic>
        <p:nvPicPr>
          <p:cNvPr id="205" name="Picture 3" descr="task-create.png"/>
          <p:cNvPicPr/>
          <p:nvPr/>
        </p:nvPicPr>
        <p:blipFill>
          <a:blip r:embed="rId1"/>
          <a:stretch/>
        </p:blipFill>
        <p:spPr>
          <a:xfrm>
            <a:off x="2914200" y="1691280"/>
            <a:ext cx="6229800" cy="498348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F0000"/>
        </a:solidFill>
      </p:bgPr>
    </p:bg>
    <p:spTree>
      <p:nvGrpSpPr>
        <p:cNvPr id="1" name=""/>
        <p:cNvGrpSpPr/>
        <p:nvPr/>
      </p:nvGrpSpPr>
      <p:grpSpPr>
        <a:xfrm>
          <a:off x="0" y="0"/>
          <a:ext cx="0" cy="0"/>
          <a:chOff x="0" y="0"/>
          <a:chExt cx="0" cy="0"/>
        </a:xfrm>
      </p:grpSpPr>
      <p:sp>
        <p:nvSpPr>
          <p:cNvPr id="206" name="Rectangle 1"/>
          <p:cNvSpPr/>
          <p:nvPr/>
        </p:nvSpPr>
        <p:spPr>
          <a:xfrm>
            <a:off x="1097280" y="1188720"/>
            <a:ext cx="1096920" cy="4536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720" rIns="90000" bIns="720" anchor="ctr">
            <a:noAutofit/>
          </a:bodyPr>
          <a:p>
            <a:pPr/>
            <a:endParaRPr lang="en-US" sz="1800" b="0" u="none" strike="noStrike">
              <a:solidFill>
                <a:schemeClr val="lt1"/>
              </a:solidFill>
              <a:effectLst/>
              <a:uFillTx/>
              <a:latin typeface="Calibri"/>
            </a:endParaRPr>
          </a:p>
        </p:txBody>
      </p:sp>
      <p:sp>
        <p:nvSpPr>
          <p:cNvPr id="207" name="TextBox 2"/>
          <p:cNvSpPr/>
          <p:nvPr/>
        </p:nvSpPr>
        <p:spPr>
          <a:xfrm>
            <a:off x="1097280" y="1463040"/>
            <a:ext cx="10058040" cy="475452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801"/>
              </a:spcAft>
            </a:pPr>
            <a:r>
              <a:rPr lang="en-US" sz="4400" b="1" u="none" strike="noStrike">
                <a:solidFill>
                  <a:srgbClr val="FFFFFF"/>
                </a:solidFill>
                <a:effectLst/>
                <a:uFillTx/>
                <a:latin typeface="JetBrains Mono"/>
              </a:rPr>
              <a:t>Conception</a:t>
            </a:r>
            <a:endParaRPr lang="en-US" sz="44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rPr>
              <a:t>•  </a:t>
            </a:r>
            <a:r>
              <a:rPr lang="en-US" sz="1700" b="1" u="none" strike="noStrike">
                <a:solidFill>
                  <a:srgbClr val="FFFFFF"/>
                </a:solidFill>
                <a:effectLst/>
                <a:uFillTx/>
                <a:latin typeface="JetBrains Mono"/>
              </a:rPr>
              <a:t>1 : </a:t>
            </a:r>
            <a:r>
              <a:rPr lang="en-US" sz="1600" b="0" u="none" strike="noStrike">
                <a:solidFill>
                  <a:srgbClr val="94A3B8"/>
                </a:solidFill>
                <a:effectLst/>
                <a:uFillTx/>
                <a:latin typeface="JetBrains Mono"/>
              </a:rPr>
              <a:t>Les Diagrammes De Sequence</a:t>
            </a:r>
            <a:endParaRPr lang="en-US" sz="16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rPr>
              <a:t>•  </a:t>
            </a:r>
            <a:r>
              <a:rPr lang="en-US" sz="1700" b="1" u="none" strike="noStrike">
                <a:solidFill>
                  <a:srgbClr val="FFFFFF"/>
                </a:solidFill>
                <a:effectLst/>
                <a:uFillTx/>
                <a:latin typeface="JetBrains Mono"/>
              </a:rPr>
              <a:t>2 : </a:t>
            </a:r>
            <a:r>
              <a:rPr lang="en-US" sz="1600" b="0" u="none" strike="noStrike">
                <a:solidFill>
                  <a:srgbClr val="94A3B8"/>
                </a:solidFill>
                <a:effectLst/>
                <a:uFillTx/>
                <a:latin typeface="JetBrains Mono"/>
              </a:rPr>
              <a:t>Le Diagramme De Classe</a:t>
            </a:r>
            <a:endParaRPr lang="en-US" sz="16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rPr>
              <a:t>•  </a:t>
            </a:r>
            <a:r>
              <a:rPr lang="en-US" sz="1700" b="1" u="none" strike="noStrike">
                <a:solidFill>
                  <a:srgbClr val="FFFFFF"/>
                </a:solidFill>
                <a:effectLst/>
                <a:uFillTx/>
                <a:latin typeface="JetBrains Mono"/>
              </a:rPr>
              <a:t>3 : </a:t>
            </a:r>
            <a:r>
              <a:rPr lang="en-US" sz="1600" b="0" u="none" strike="noStrike">
                <a:solidFill>
                  <a:srgbClr val="94A3B8"/>
                </a:solidFill>
                <a:effectLst/>
                <a:uFillTx/>
                <a:latin typeface="JetBrains Mono"/>
              </a:rPr>
              <a:t>Model Logique Des Donnees</a:t>
            </a:r>
            <a:endParaRPr lang="en-US" sz="1600" b="0" u="none" strike="noStrike">
              <a:solidFill>
                <a:srgbClr val="FFFFFF"/>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F0000"/>
        </a:solidFill>
      </p:bgPr>
    </p:bg>
    <p:spTree>
      <p:nvGrpSpPr>
        <p:cNvPr id="1" name=""/>
        <p:cNvGrpSpPr/>
        <p:nvPr/>
      </p:nvGrpSpPr>
      <p:grpSpPr>
        <a:xfrm>
          <a:off x="0" y="0"/>
          <a:ext cx="0" cy="0"/>
          <a:chOff x="0" y="0"/>
          <a:chExt cx="0" cy="0"/>
        </a:xfrm>
      </p:grpSpPr>
      <p:sp>
        <p:nvSpPr>
          <p:cNvPr id="208" name="Rectangle 1"/>
          <p:cNvSpPr/>
          <p:nvPr/>
        </p:nvSpPr>
        <p:spPr>
          <a:xfrm>
            <a:off x="1097280" y="1188720"/>
            <a:ext cx="1096920" cy="4536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720" rIns="90000" bIns="720" anchor="ctr">
            <a:noAutofit/>
          </a:bodyPr>
          <a:p>
            <a:pPr/>
            <a:endParaRPr lang="en-US" sz="1800" b="0" u="none" strike="noStrike">
              <a:solidFill>
                <a:schemeClr val="lt1"/>
              </a:solidFill>
              <a:effectLst/>
              <a:uFillTx/>
              <a:latin typeface="Calibri"/>
            </a:endParaRPr>
          </a:p>
        </p:txBody>
      </p:sp>
      <p:sp>
        <p:nvSpPr>
          <p:cNvPr id="209" name="TextBox 2"/>
          <p:cNvSpPr/>
          <p:nvPr/>
        </p:nvSpPr>
        <p:spPr>
          <a:xfrm>
            <a:off x="1097280" y="1463040"/>
            <a:ext cx="10058040" cy="475452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4400" b="1" u="none" strike="noStrike">
                <a:solidFill>
                  <a:srgbClr val="FFFFFF"/>
                </a:solidFill>
                <a:effectLst/>
                <a:uFillTx/>
                <a:latin typeface="JetBrains Mono"/>
              </a:rPr>
              <a:t>Les Diagrammes De Sequence</a:t>
            </a:r>
            <a:endParaRPr lang="en-US" sz="4400" b="0" u="none" strike="noStrike">
              <a:solidFill>
                <a:srgbClr val="FFFFFF"/>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10"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 Conception</a:t>
            </a:r>
            <a:endParaRPr lang="en-US" sz="1300" b="0" u="none" strike="noStrike">
              <a:solidFill>
                <a:srgbClr val="000000"/>
              </a:solidFill>
              <a:effectLst/>
              <a:uFillTx/>
              <a:latin typeface="Arial"/>
            </a:endParaRPr>
          </a:p>
        </p:txBody>
      </p:sp>
      <p:sp>
        <p:nvSpPr>
          <p:cNvPr id="211" name="TextBox 2"/>
          <p:cNvSpPr/>
          <p:nvPr/>
        </p:nvSpPr>
        <p:spPr>
          <a:xfrm>
            <a:off x="731520" y="96012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Conversion Des Prospects</a:t>
            </a:r>
            <a:endParaRPr lang="en-US" sz="3600" b="0" u="none" strike="noStrike">
              <a:solidFill>
                <a:srgbClr val="000000"/>
              </a:solidFill>
              <a:effectLst/>
              <a:uFillTx/>
              <a:latin typeface="Arial"/>
            </a:endParaRPr>
          </a:p>
        </p:txBody>
      </p:sp>
      <p:pic>
        <p:nvPicPr>
          <p:cNvPr id="212" name="Picture 3" descr="lead-convert.png"/>
          <p:cNvPicPr/>
          <p:nvPr/>
        </p:nvPicPr>
        <p:blipFill>
          <a:blip r:embed="rId1"/>
          <a:stretch/>
        </p:blipFill>
        <p:spPr>
          <a:xfrm>
            <a:off x="1828800" y="1920240"/>
            <a:ext cx="8558280" cy="475452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13"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 Conception</a:t>
            </a:r>
            <a:endParaRPr lang="en-US" sz="1300" b="0" u="none" strike="noStrike">
              <a:solidFill>
                <a:srgbClr val="000000"/>
              </a:solidFill>
              <a:effectLst/>
              <a:uFillTx/>
              <a:latin typeface="Arial"/>
            </a:endParaRPr>
          </a:p>
        </p:txBody>
      </p:sp>
      <p:sp>
        <p:nvSpPr>
          <p:cNvPr id="214" name="TextBox 2"/>
          <p:cNvSpPr/>
          <p:nvPr/>
        </p:nvSpPr>
        <p:spPr>
          <a:xfrm>
            <a:off x="731520" y="96012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Cloture Des Opportunites</a:t>
            </a:r>
            <a:endParaRPr lang="en-US" sz="3600" b="0" u="none" strike="noStrike">
              <a:solidFill>
                <a:srgbClr val="000000"/>
              </a:solidFill>
              <a:effectLst/>
              <a:uFillTx/>
              <a:latin typeface="Arial"/>
            </a:endParaRPr>
          </a:p>
        </p:txBody>
      </p:sp>
      <p:pic>
        <p:nvPicPr>
          <p:cNvPr id="215" name="Picture 3" descr="opp-close.png"/>
          <p:cNvPicPr/>
          <p:nvPr/>
        </p:nvPicPr>
        <p:blipFill>
          <a:blip r:embed="rId1"/>
          <a:stretch/>
        </p:blipFill>
        <p:spPr>
          <a:xfrm>
            <a:off x="1828800" y="1920240"/>
            <a:ext cx="8558280" cy="475452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16"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 Conception</a:t>
            </a:r>
            <a:endParaRPr lang="en-US" sz="1300" b="0" u="none" strike="noStrike">
              <a:solidFill>
                <a:srgbClr val="000000"/>
              </a:solidFill>
              <a:effectLst/>
              <a:uFillTx/>
              <a:latin typeface="Arial"/>
            </a:endParaRPr>
          </a:p>
        </p:txBody>
      </p:sp>
      <p:sp>
        <p:nvSpPr>
          <p:cNvPr id="217" name="TextBox 2"/>
          <p:cNvSpPr/>
          <p:nvPr/>
        </p:nvSpPr>
        <p:spPr>
          <a:xfrm>
            <a:off x="731520" y="96012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Activation Des Campagnes</a:t>
            </a:r>
            <a:endParaRPr lang="en-US" sz="3600" b="0" u="none" strike="noStrike">
              <a:solidFill>
                <a:srgbClr val="000000"/>
              </a:solidFill>
              <a:effectLst/>
              <a:uFillTx/>
              <a:latin typeface="Arial"/>
            </a:endParaRPr>
          </a:p>
        </p:txBody>
      </p:sp>
      <p:pic>
        <p:nvPicPr>
          <p:cNvPr id="218" name="Picture 3" descr="campagne-activation.png"/>
          <p:cNvPicPr/>
          <p:nvPr/>
        </p:nvPicPr>
        <p:blipFill>
          <a:blip r:embed="rId1"/>
          <a:stretch/>
        </p:blipFill>
        <p:spPr>
          <a:xfrm>
            <a:off x="1828800" y="1920240"/>
            <a:ext cx="8558280" cy="475452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19"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 Conception</a:t>
            </a:r>
            <a:endParaRPr lang="en-US" sz="1300" b="0" u="none" strike="noStrike">
              <a:solidFill>
                <a:srgbClr val="000000"/>
              </a:solidFill>
              <a:effectLst/>
              <a:uFillTx/>
              <a:latin typeface="Arial"/>
            </a:endParaRPr>
          </a:p>
        </p:txBody>
      </p:sp>
      <p:sp>
        <p:nvSpPr>
          <p:cNvPr id="220" name="TextBox 2"/>
          <p:cNvSpPr/>
          <p:nvPr/>
        </p:nvSpPr>
        <p:spPr>
          <a:xfrm>
            <a:off x="731520" y="96012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Affectation Des Permissions</a:t>
            </a:r>
            <a:endParaRPr lang="en-US" sz="3600" b="0" u="none" strike="noStrike">
              <a:solidFill>
                <a:srgbClr val="000000"/>
              </a:solidFill>
              <a:effectLst/>
              <a:uFillTx/>
              <a:latin typeface="Arial"/>
            </a:endParaRPr>
          </a:p>
        </p:txBody>
      </p:sp>
      <p:pic>
        <p:nvPicPr>
          <p:cNvPr id="221" name="Picture 3" descr="permission-assign.png"/>
          <p:cNvPicPr/>
          <p:nvPr/>
        </p:nvPicPr>
        <p:blipFill>
          <a:blip r:embed="rId1"/>
          <a:stretch/>
        </p:blipFill>
        <p:spPr>
          <a:xfrm>
            <a:off x="1828800" y="1920240"/>
            <a:ext cx="8558280" cy="475452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22"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 Conception</a:t>
            </a:r>
            <a:endParaRPr lang="en-US" sz="1300" b="0" u="none" strike="noStrike">
              <a:solidFill>
                <a:srgbClr val="000000"/>
              </a:solidFill>
              <a:effectLst/>
              <a:uFillTx/>
              <a:latin typeface="Arial"/>
            </a:endParaRPr>
          </a:p>
        </p:txBody>
      </p:sp>
      <p:sp>
        <p:nvSpPr>
          <p:cNvPr id="223" name="TextBox 2"/>
          <p:cNvSpPr/>
          <p:nvPr/>
        </p:nvSpPr>
        <p:spPr>
          <a:xfrm>
            <a:off x="731520" y="96012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Le Diagramme De Classe</a:t>
            </a:r>
            <a:endParaRPr lang="en-US" sz="3600" b="0" u="none" strike="noStrike">
              <a:solidFill>
                <a:srgbClr val="000000"/>
              </a:solidFill>
              <a:effectLst/>
              <a:uFillTx/>
              <a:latin typeface="Arial"/>
            </a:endParaRPr>
          </a:p>
        </p:txBody>
      </p:sp>
      <p:pic>
        <p:nvPicPr>
          <p:cNvPr id="224" name="Picture 3" descr="main class diagram.png"/>
          <p:cNvPicPr/>
          <p:nvPr/>
        </p:nvPicPr>
        <p:blipFill>
          <a:blip r:embed="rId1"/>
          <a:stretch/>
        </p:blipFill>
        <p:spPr>
          <a:xfrm>
            <a:off x="1828800" y="1920240"/>
            <a:ext cx="8558280" cy="475452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25"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a:endParaRPr lang="en-US" sz="1300" b="1" u="none" strike="noStrike">
              <a:solidFill>
                <a:srgbClr val="EB0025"/>
              </a:solidFill>
              <a:effectLst/>
              <a:uFillTx/>
              <a:latin typeface="JetBrains Mono"/>
            </a:endParaRPr>
          </a:p>
        </p:txBody>
      </p:sp>
      <p:sp>
        <p:nvSpPr>
          <p:cNvPr id="226" name="TextBox 2"/>
          <p:cNvSpPr/>
          <p:nvPr/>
        </p:nvSpPr>
        <p:spPr>
          <a:xfrm>
            <a:off x="731520" y="960120"/>
            <a:ext cx="10515240" cy="731160"/>
          </a:xfrm>
          <a:prstGeom prst="rect">
            <a:avLst/>
          </a:prstGeom>
          <a:noFill/>
          <a:ln w="0">
            <a:noFill/>
          </a:ln>
        </p:spPr>
        <p:style>
          <a:lnRef idx="0"/>
          <a:fillRef idx="0"/>
          <a:effectRef idx="0"/>
          <a:fontRef idx="minor"/>
        </p:style>
        <p:txBody>
          <a:bodyPr wrap="none" lIns="90000" tIns="45000" rIns="90000" bIns="45000" anchor="t">
            <a:spAutoFit/>
          </a:bodyPr>
          <a:p>
            <a:pPr/>
            <a:endParaRPr lang="en-US" sz="3600" b="1" u="none" strike="noStrike">
              <a:solidFill>
                <a:srgbClr val="271811"/>
              </a:solidFill>
              <a:effectLst/>
              <a:uFillTx/>
              <a:latin typeface="JetBrains Mono"/>
            </a:endParaRPr>
          </a:p>
        </p:txBody>
      </p:sp>
      <p:pic>
        <p:nvPicPr>
          <p:cNvPr id="227" name="Picture 3" descr="main class diagram.png"/>
          <p:cNvPicPr/>
          <p:nvPr/>
        </p:nvPicPr>
        <p:blipFill>
          <a:blip r:embed="rId1"/>
          <a:srcRect l="0" t="50956" r="46578" b="0"/>
          <a:stretch/>
        </p:blipFill>
        <p:spPr>
          <a:xfrm>
            <a:off x="0" y="-45360"/>
            <a:ext cx="12192480" cy="621756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28" name="TextBox 13"/>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a:endParaRPr lang="en-US" sz="1300" b="1" u="none" strike="noStrike">
              <a:solidFill>
                <a:srgbClr val="EB0025"/>
              </a:solidFill>
              <a:effectLst/>
              <a:uFillTx/>
              <a:latin typeface="JetBrains Mono"/>
            </a:endParaRPr>
          </a:p>
        </p:txBody>
      </p:sp>
      <p:sp>
        <p:nvSpPr>
          <p:cNvPr id="229" name="TextBox 14"/>
          <p:cNvSpPr/>
          <p:nvPr/>
        </p:nvSpPr>
        <p:spPr>
          <a:xfrm>
            <a:off x="731520" y="960120"/>
            <a:ext cx="10515240" cy="731160"/>
          </a:xfrm>
          <a:prstGeom prst="rect">
            <a:avLst/>
          </a:prstGeom>
          <a:noFill/>
          <a:ln w="0">
            <a:noFill/>
          </a:ln>
        </p:spPr>
        <p:style>
          <a:lnRef idx="0"/>
          <a:fillRef idx="0"/>
          <a:effectRef idx="0"/>
          <a:fontRef idx="minor"/>
        </p:style>
        <p:txBody>
          <a:bodyPr wrap="none" lIns="90000" tIns="45000" rIns="90000" bIns="45000" anchor="t">
            <a:spAutoFit/>
          </a:bodyPr>
          <a:p>
            <a:pPr/>
            <a:endParaRPr lang="en-US" sz="3600" b="1" u="none" strike="noStrike">
              <a:solidFill>
                <a:srgbClr val="271811"/>
              </a:solidFill>
              <a:effectLst/>
              <a:uFillTx/>
              <a:latin typeface="JetBrains Mono"/>
            </a:endParaRPr>
          </a:p>
        </p:txBody>
      </p:sp>
      <p:pic>
        <p:nvPicPr>
          <p:cNvPr id="230" name="Picture 3" descr="main class diagram.png"/>
          <p:cNvPicPr/>
          <p:nvPr/>
        </p:nvPicPr>
        <p:blipFill>
          <a:blip r:embed="rId1"/>
          <a:srcRect l="8012" t="17305" r="35894" b="34609"/>
          <a:stretch/>
        </p:blipFill>
        <p:spPr>
          <a:xfrm>
            <a:off x="-114480" y="457200"/>
            <a:ext cx="12481920" cy="594324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31" name="TextBox 15"/>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a:endParaRPr lang="en-US" sz="1300" b="1" u="none" strike="noStrike">
              <a:solidFill>
                <a:srgbClr val="EB0025"/>
              </a:solidFill>
              <a:effectLst/>
              <a:uFillTx/>
              <a:latin typeface="JetBrains Mono"/>
            </a:endParaRPr>
          </a:p>
        </p:txBody>
      </p:sp>
      <p:sp>
        <p:nvSpPr>
          <p:cNvPr id="232" name="TextBox 16"/>
          <p:cNvSpPr/>
          <p:nvPr/>
        </p:nvSpPr>
        <p:spPr>
          <a:xfrm>
            <a:off x="731520" y="960120"/>
            <a:ext cx="10515240" cy="731160"/>
          </a:xfrm>
          <a:prstGeom prst="rect">
            <a:avLst/>
          </a:prstGeom>
          <a:noFill/>
          <a:ln w="0">
            <a:noFill/>
          </a:ln>
        </p:spPr>
        <p:style>
          <a:lnRef idx="0"/>
          <a:fillRef idx="0"/>
          <a:effectRef idx="0"/>
          <a:fontRef idx="minor"/>
        </p:style>
        <p:txBody>
          <a:bodyPr wrap="none" lIns="90000" tIns="45000" rIns="90000" bIns="45000" anchor="t">
            <a:spAutoFit/>
          </a:bodyPr>
          <a:p>
            <a:pPr/>
            <a:endParaRPr lang="en-US" sz="3600" b="1" u="none" strike="noStrike">
              <a:solidFill>
                <a:srgbClr val="271811"/>
              </a:solidFill>
              <a:effectLst/>
              <a:uFillTx/>
              <a:latin typeface="JetBrains Mono"/>
            </a:endParaRPr>
          </a:p>
        </p:txBody>
      </p:sp>
      <p:pic>
        <p:nvPicPr>
          <p:cNvPr id="233" name="Picture 3" descr="main class diagram.png"/>
          <p:cNvPicPr/>
          <p:nvPr/>
        </p:nvPicPr>
        <p:blipFill>
          <a:blip r:embed="rId1"/>
          <a:srcRect l="56088" t="46149" r="0" b="10575"/>
          <a:stretch/>
        </p:blipFill>
        <p:spPr>
          <a:xfrm>
            <a:off x="0" y="0"/>
            <a:ext cx="12191760" cy="667404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34" name="TextBox 17"/>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a:endParaRPr lang="en-US" sz="1300" b="1" u="none" strike="noStrike">
              <a:solidFill>
                <a:srgbClr val="EB0025"/>
              </a:solidFill>
              <a:effectLst/>
              <a:uFillTx/>
              <a:latin typeface="JetBrains Mono"/>
            </a:endParaRPr>
          </a:p>
        </p:txBody>
      </p:sp>
      <p:sp>
        <p:nvSpPr>
          <p:cNvPr id="235" name="TextBox 18"/>
          <p:cNvSpPr/>
          <p:nvPr/>
        </p:nvSpPr>
        <p:spPr>
          <a:xfrm>
            <a:off x="731520" y="960120"/>
            <a:ext cx="10515240" cy="731160"/>
          </a:xfrm>
          <a:prstGeom prst="rect">
            <a:avLst/>
          </a:prstGeom>
          <a:noFill/>
          <a:ln w="0">
            <a:noFill/>
          </a:ln>
        </p:spPr>
        <p:style>
          <a:lnRef idx="0"/>
          <a:fillRef idx="0"/>
          <a:effectRef idx="0"/>
          <a:fontRef idx="minor"/>
        </p:style>
        <p:txBody>
          <a:bodyPr wrap="none" lIns="90000" tIns="45000" rIns="90000" bIns="45000" anchor="t">
            <a:spAutoFit/>
          </a:bodyPr>
          <a:p>
            <a:pPr/>
            <a:endParaRPr lang="en-US" sz="3600" b="1" u="none" strike="noStrike">
              <a:solidFill>
                <a:srgbClr val="271811"/>
              </a:solidFill>
              <a:effectLst/>
              <a:uFillTx/>
              <a:latin typeface="JetBrains Mono"/>
            </a:endParaRPr>
          </a:p>
        </p:txBody>
      </p:sp>
      <p:pic>
        <p:nvPicPr>
          <p:cNvPr id="236" name="Picture 3" descr="main class diagram.png"/>
          <p:cNvPicPr/>
          <p:nvPr/>
        </p:nvPicPr>
        <p:blipFill>
          <a:blip r:embed="rId1"/>
          <a:srcRect l="26709" t="0" r="17197" b="49033"/>
          <a:stretch/>
        </p:blipFill>
        <p:spPr>
          <a:xfrm>
            <a:off x="-37080" y="457200"/>
            <a:ext cx="12228840" cy="617220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F0000"/>
        </a:solidFill>
      </p:bgPr>
    </p:bg>
    <p:spTree>
      <p:nvGrpSpPr>
        <p:cNvPr id="1" name=""/>
        <p:cNvGrpSpPr/>
        <p:nvPr/>
      </p:nvGrpSpPr>
      <p:grpSpPr>
        <a:xfrm>
          <a:off x="0" y="0"/>
          <a:ext cx="0" cy="0"/>
          <a:chOff x="0" y="0"/>
          <a:chExt cx="0" cy="0"/>
        </a:xfrm>
      </p:grpSpPr>
      <p:sp>
        <p:nvSpPr>
          <p:cNvPr id="237" name="Rectangle 1"/>
          <p:cNvSpPr/>
          <p:nvPr/>
        </p:nvSpPr>
        <p:spPr>
          <a:xfrm>
            <a:off x="1097280" y="1188720"/>
            <a:ext cx="1096920" cy="4536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720" rIns="90000" bIns="720" anchor="ctr">
            <a:noAutofit/>
          </a:bodyPr>
          <a:p>
            <a:pPr/>
            <a:endParaRPr lang="en-US" sz="1800" b="0" u="none" strike="noStrike">
              <a:solidFill>
                <a:schemeClr val="lt1"/>
              </a:solidFill>
              <a:effectLst/>
              <a:uFillTx/>
              <a:latin typeface="Calibri"/>
            </a:endParaRPr>
          </a:p>
        </p:txBody>
      </p:sp>
      <p:sp>
        <p:nvSpPr>
          <p:cNvPr id="238" name="TextBox 2"/>
          <p:cNvSpPr/>
          <p:nvPr/>
        </p:nvSpPr>
        <p:spPr>
          <a:xfrm>
            <a:off x="1097280" y="1463040"/>
            <a:ext cx="10058040" cy="475452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4400" b="1" u="none" strike="noStrike">
                <a:solidFill>
                  <a:srgbClr val="FFFFFF"/>
                </a:solidFill>
                <a:effectLst/>
                <a:uFillTx/>
                <a:latin typeface="JetBrains Mono"/>
              </a:rPr>
              <a:t>Le Model Logique Des Donnees</a:t>
            </a:r>
            <a:endParaRPr lang="en-US" sz="4400" b="0" u="none" strike="noStrike">
              <a:solidFill>
                <a:srgbClr val="FFFFFF"/>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39"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 Conception</a:t>
            </a:r>
            <a:endParaRPr lang="en-US" sz="1300" b="0" u="none" strike="noStrike">
              <a:solidFill>
                <a:srgbClr val="000000"/>
              </a:solidFill>
              <a:effectLst/>
              <a:uFillTx/>
              <a:latin typeface="Arial"/>
            </a:endParaRPr>
          </a:p>
        </p:txBody>
      </p:sp>
      <p:sp>
        <p:nvSpPr>
          <p:cNvPr id="240" name="TextBox 2"/>
          <p:cNvSpPr/>
          <p:nvPr/>
        </p:nvSpPr>
        <p:spPr>
          <a:xfrm>
            <a:off x="731520" y="100584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Model Logique Des </a:t>
            </a:r>
            <a:r>
              <a:rPr lang="en-US" sz="3600" b="1" u="none" strike="noStrike">
                <a:solidFill>
                  <a:srgbClr val="271811"/>
                </a:solidFill>
                <a:effectLst/>
                <a:uFillTx/>
                <a:latin typeface="JetBrains Mono"/>
              </a:rPr>
              <a:t>Donnees</a:t>
            </a:r>
            <a:endParaRPr lang="en-US" sz="3600" b="0" u="none" strike="noStrike">
              <a:solidFill>
                <a:srgbClr val="000000"/>
              </a:solidFill>
              <a:effectLst/>
              <a:uFillTx/>
              <a:latin typeface="Arial"/>
            </a:endParaRPr>
          </a:p>
        </p:txBody>
      </p:sp>
      <p:sp>
        <p:nvSpPr>
          <p:cNvPr id="241" name="TextBox 3"/>
          <p:cNvSpPr/>
          <p:nvPr/>
        </p:nvSpPr>
        <p:spPr>
          <a:xfrm>
            <a:off x="731520" y="1828800"/>
            <a:ext cx="10972440" cy="50270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200" b="1" u="none" strike="noStrike">
                <a:solidFill>
                  <a:srgbClr val="271811"/>
                </a:solidFill>
                <a:effectLst/>
                <a:uFillTx/>
                <a:latin typeface="JetBrains Mono"/>
              </a:rPr>
              <a:t>Leads</a:t>
            </a:r>
            <a:r>
              <a:rPr lang="en-US" sz="2200" b="0" u="none" strike="noStrike">
                <a:solidFill>
                  <a:srgbClr val="271811"/>
                </a:solidFill>
                <a:effectLst/>
                <a:uFillTx/>
                <a:latin typeface="JetBrains Mono"/>
              </a:rPr>
              <a:t> (</a:t>
            </a:r>
            <a:r>
              <a:rPr lang="en-US" sz="2200" b="0" u="sng" strike="noStrike">
                <a:solidFill>
                  <a:srgbClr val="271811"/>
                </a:solidFill>
                <a:effectLst/>
                <a:uFillTx/>
                <a:latin typeface="JetBrains Mono"/>
              </a:rPr>
              <a:t>Id</a:t>
            </a:r>
            <a:r>
              <a:rPr lang="en-US" sz="2200" b="0" u="none" strike="noStrike">
                <a:solidFill>
                  <a:srgbClr val="271811"/>
                </a:solidFill>
                <a:effectLst/>
                <a:uFillTx/>
                <a:latin typeface="JetBrains Mono"/>
              </a:rPr>
              <a:t> , </a:t>
            </a:r>
            <a:r>
              <a:rPr lang="en-US" sz="2200" b="0" u="none" strike="noStrike">
                <a:solidFill>
                  <a:srgbClr val="271811"/>
                </a:solidFill>
                <a:effectLst/>
                <a:uFillTx/>
                <a:latin typeface="JetBrains Mono"/>
              </a:rPr>
              <a:t>FirstName, </a:t>
            </a:r>
            <a:r>
              <a:rPr lang="en-US" sz="2200" b="0" u="none" strike="noStrike">
                <a:solidFill>
                  <a:srgbClr val="271811"/>
                </a:solidFill>
                <a:effectLst/>
                <a:uFillTx/>
                <a:latin typeface="JetBrains Mono"/>
              </a:rPr>
              <a:t>LastName, </a:t>
            </a:r>
            <a:r>
              <a:rPr lang="en-US" sz="2200" b="0" u="none" strike="noStrike">
                <a:solidFill>
                  <a:srgbClr val="271811"/>
                </a:solidFill>
                <a:effectLst/>
                <a:uFillTx/>
                <a:latin typeface="JetBrains Mono"/>
              </a:rPr>
              <a:t>Description, </a:t>
            </a:r>
            <a:r>
              <a:rPr lang="en-US" sz="2200" b="0" u="none" strike="noStrike">
                <a:solidFill>
                  <a:srgbClr val="271811"/>
                </a:solidFill>
                <a:effectLst/>
                <a:uFillTx/>
                <a:latin typeface="JetBrains Mono"/>
              </a:rPr>
              <a:t>Status, Source, </a:t>
            </a:r>
            <a:r>
              <a:rPr lang="en-US" sz="2200" b="0" u="none" strike="noStrike">
                <a:solidFill>
                  <a:srgbClr val="271811"/>
                </a:solidFill>
                <a:effectLst/>
                <a:uFillTx/>
                <a:latin typeface="JetBrains Mono"/>
              </a:rPr>
              <a:t>Phone, Email, </a:t>
            </a:r>
            <a:r>
              <a:rPr lang="en-US" sz="2200" b="0" u="none" strike="noStrike">
                <a:solidFill>
                  <a:srgbClr val="271811"/>
                </a:solidFill>
                <a:effectLst/>
                <a:uFillTx/>
                <a:latin typeface="JetBrains Mono"/>
              </a:rPr>
              <a:t>UserID#, </a:t>
            </a:r>
            <a:r>
              <a:rPr lang="en-US" sz="2200" b="0" u="none" strike="noStrike">
                <a:solidFill>
                  <a:srgbClr val="271811"/>
                </a:solidFill>
                <a:effectLst/>
                <a:uFillTx/>
                <a:latin typeface="JetBrains Mono"/>
              </a:rPr>
              <a:t>AccountID#, </a:t>
            </a:r>
            <a:r>
              <a:rPr lang="en-US" sz="2200" b="0" u="none" strike="noStrike">
                <a:solidFill>
                  <a:srgbClr val="271811"/>
                </a:solidFill>
                <a:effectLst/>
                <a:uFillTx/>
                <a:latin typeface="JetBrains Mono"/>
              </a:rPr>
              <a:t>CampaignID#, </a:t>
            </a:r>
            <a:r>
              <a:rPr lang="en-US" sz="2200" b="0" u="none" strike="noStrike">
                <a:solidFill>
                  <a:srgbClr val="271811"/>
                </a:solidFill>
                <a:effectLst/>
                <a:uFillTx/>
                <a:latin typeface="JetBrains Mono"/>
              </a:rPr>
              <a:t>CreationTime, </a:t>
            </a:r>
            <a:r>
              <a:rPr lang="en-US" sz="2200" b="0" u="none" strike="noStrike">
                <a:solidFill>
                  <a:srgbClr val="271811"/>
                </a:solidFill>
                <a:effectLst/>
                <a:uFillTx/>
                <a:latin typeface="JetBrains Mono"/>
              </a:rPr>
              <a:t>CreatorId#, </a:t>
            </a:r>
            <a:r>
              <a:rPr lang="en-US" sz="2200" b="0" u="none" strike="noStrike">
                <a:solidFill>
                  <a:srgbClr val="271811"/>
                </a:solidFill>
                <a:effectLst/>
                <a:uFillTx/>
                <a:latin typeface="JetBrains Mono"/>
              </a:rPr>
              <a:t>LastModificationTi</a:t>
            </a:r>
            <a:r>
              <a:rPr lang="en-US" sz="2200" b="0" u="none" strike="noStrike">
                <a:solidFill>
                  <a:srgbClr val="271811"/>
                </a:solidFill>
                <a:effectLst/>
                <a:uFillTx/>
                <a:latin typeface="JetBrains Mono"/>
              </a:rPr>
              <a:t>me, </a:t>
            </a:r>
            <a:r>
              <a:rPr lang="en-US" sz="2200" b="0" u="none" strike="noStrike">
                <a:solidFill>
                  <a:srgbClr val="271811"/>
                </a:solidFill>
                <a:effectLst/>
                <a:uFillTx/>
                <a:latin typeface="JetBrains Mono"/>
              </a:rPr>
              <a:t>LastModifierId#, </a:t>
            </a:r>
            <a:r>
              <a:rPr lang="en-US" sz="2200" b="0" u="none" strike="noStrike">
                <a:solidFill>
                  <a:srgbClr val="271811"/>
                </a:solidFill>
                <a:effectLst/>
                <a:uFillTx/>
                <a:latin typeface="JetBrains Mono"/>
              </a:rPr>
              <a:t>IsDeleted, </a:t>
            </a:r>
            <a:r>
              <a:rPr lang="en-US" sz="2200" b="0" u="none" strike="noStrike">
                <a:solidFill>
                  <a:srgbClr val="271811"/>
                </a:solidFill>
                <a:effectLst/>
                <a:uFillTx/>
                <a:latin typeface="JetBrains Mono"/>
              </a:rPr>
              <a:t>DeleterId#, </a:t>
            </a:r>
            <a:r>
              <a:rPr lang="en-US" sz="2200" b="0" u="none" strike="noStrike">
                <a:solidFill>
                  <a:srgbClr val="271811"/>
                </a:solidFill>
                <a:effectLst/>
                <a:uFillTx/>
                <a:latin typeface="JetBrains Mono"/>
              </a:rPr>
              <a:t>DeletionTime );</a:t>
            </a:r>
            <a:br>
              <a:rPr sz="2200"/>
            </a:br>
            <a:r>
              <a:rPr lang="en-US" sz="2200" b="1" u="none" strike="noStrike">
                <a:solidFill>
                  <a:srgbClr val="271811"/>
                </a:solidFill>
                <a:effectLst/>
                <a:uFillTx/>
                <a:latin typeface="JetBrains Mono"/>
              </a:rPr>
              <a:t>Accounts</a:t>
            </a:r>
            <a:r>
              <a:rPr lang="en-US" sz="2200" b="0" u="none" strike="noStrike">
                <a:solidFill>
                  <a:srgbClr val="271811"/>
                </a:solidFill>
                <a:effectLst/>
                <a:uFillTx/>
                <a:latin typeface="JetBrains Mono"/>
              </a:rPr>
              <a:t> (</a:t>
            </a:r>
            <a:r>
              <a:rPr lang="en-US" sz="2200" b="0" u="sng" strike="noStrike">
                <a:solidFill>
                  <a:srgbClr val="271811"/>
                </a:solidFill>
                <a:effectLst/>
                <a:uFillTx/>
                <a:latin typeface="JetBrains Mono"/>
              </a:rPr>
              <a:t>Id</a:t>
            </a:r>
            <a:r>
              <a:rPr lang="en-US" sz="2200" b="0" u="none" strike="noStrike">
                <a:solidFill>
                  <a:srgbClr val="271811"/>
                </a:solidFill>
                <a:effectLst/>
                <a:uFillTx/>
                <a:latin typeface="JetBrains Mono"/>
              </a:rPr>
              <a:t> , </a:t>
            </a:r>
            <a:r>
              <a:rPr lang="en-US" sz="2200" b="0" u="none" strike="noStrike">
                <a:solidFill>
                  <a:srgbClr val="271811"/>
                </a:solidFill>
                <a:effectLst/>
                <a:uFillTx/>
                <a:latin typeface="JetBrains Mono"/>
              </a:rPr>
              <a:t>Name, Description, </a:t>
            </a:r>
            <a:r>
              <a:rPr lang="en-US" sz="2200" b="0" u="none" strike="noStrike">
                <a:solidFill>
                  <a:srgbClr val="271811"/>
                </a:solidFill>
                <a:effectLst/>
                <a:uFillTx/>
                <a:latin typeface="JetBrains Mono"/>
              </a:rPr>
              <a:t>Phone, Fax, Email, </a:t>
            </a:r>
            <a:r>
              <a:rPr lang="en-US" sz="2200" b="0" u="none" strike="noStrike">
                <a:solidFill>
                  <a:srgbClr val="271811"/>
                </a:solidFill>
                <a:effectLst/>
                <a:uFillTx/>
                <a:latin typeface="JetBrains Mono"/>
              </a:rPr>
              <a:t>Website, Street, </a:t>
            </a:r>
            <a:r>
              <a:rPr lang="en-US" sz="2200" b="0" u="none" strike="noStrike">
                <a:solidFill>
                  <a:srgbClr val="271811"/>
                </a:solidFill>
                <a:effectLst/>
                <a:uFillTx/>
                <a:latin typeface="JetBrains Mono"/>
              </a:rPr>
              <a:t>City, Country, </a:t>
            </a:r>
            <a:r>
              <a:rPr lang="en-US" sz="2200" b="0" u="none" strike="noStrike">
                <a:solidFill>
                  <a:srgbClr val="271811"/>
                </a:solidFill>
                <a:effectLst/>
                <a:uFillTx/>
                <a:latin typeface="JetBrains Mono"/>
              </a:rPr>
              <a:t>PostalCode, Type, </a:t>
            </a:r>
            <a:r>
              <a:rPr lang="en-US" sz="2200" b="0" u="none" strike="noStrike">
                <a:solidFill>
                  <a:srgbClr val="271811"/>
                </a:solidFill>
                <a:effectLst/>
                <a:uFillTx/>
                <a:latin typeface="JetBrains Mono"/>
              </a:rPr>
              <a:t>Industry, </a:t>
            </a:r>
            <a:r>
              <a:rPr lang="en-US" sz="2200" b="0" u="none" strike="noStrike">
                <a:solidFill>
                  <a:srgbClr val="271811"/>
                </a:solidFill>
                <a:effectLst/>
                <a:uFillTx/>
                <a:latin typeface="JetBrains Mono"/>
              </a:rPr>
              <a:t>IncomeValue, </a:t>
            </a:r>
            <a:r>
              <a:rPr lang="en-US" sz="2200" b="0" u="none" strike="noStrike">
                <a:solidFill>
                  <a:srgbClr val="271811"/>
                </a:solidFill>
                <a:effectLst/>
                <a:uFillTx/>
                <a:latin typeface="JetBrains Mono"/>
              </a:rPr>
              <a:t>IncomeCurrency, </a:t>
            </a:r>
            <a:r>
              <a:rPr lang="en-US" sz="2200" b="0" u="none" strike="noStrike">
                <a:solidFill>
                  <a:srgbClr val="271811"/>
                </a:solidFill>
                <a:effectLst/>
                <a:uFillTx/>
                <a:latin typeface="JetBrains Mono"/>
              </a:rPr>
              <a:t>Employees, </a:t>
            </a:r>
            <a:r>
              <a:rPr lang="en-US" sz="2200" b="0" u="none" strike="noStrike">
                <a:solidFill>
                  <a:srgbClr val="271811"/>
                </a:solidFill>
                <a:effectLst/>
                <a:uFillTx/>
                <a:latin typeface="JetBrains Mono"/>
              </a:rPr>
              <a:t>UserID#, </a:t>
            </a:r>
            <a:r>
              <a:rPr lang="en-US" sz="2200" b="0" u="none" strike="noStrike">
                <a:solidFill>
                  <a:srgbClr val="271811"/>
                </a:solidFill>
                <a:effectLst/>
                <a:uFillTx/>
                <a:latin typeface="JetBrains Mono"/>
              </a:rPr>
              <a:t>CampaignID# , </a:t>
            </a:r>
            <a:r>
              <a:rPr lang="en-US" sz="2200" b="0" u="none" strike="noStrike">
                <a:solidFill>
                  <a:srgbClr val="271811"/>
                </a:solidFill>
                <a:effectLst/>
                <a:uFillTx/>
                <a:latin typeface="JetBrains Mono"/>
              </a:rPr>
              <a:t>CreationTime, </a:t>
            </a:r>
            <a:r>
              <a:rPr lang="en-US" sz="2200" b="0" u="none" strike="noStrike">
                <a:solidFill>
                  <a:srgbClr val="271811"/>
                </a:solidFill>
                <a:effectLst/>
                <a:uFillTx/>
                <a:latin typeface="JetBrains Mono"/>
              </a:rPr>
              <a:t>CreatorId#, </a:t>
            </a:r>
            <a:r>
              <a:rPr lang="en-US" sz="2200" b="0" u="none" strike="noStrike">
                <a:solidFill>
                  <a:srgbClr val="271811"/>
                </a:solidFill>
                <a:effectLst/>
                <a:uFillTx/>
                <a:latin typeface="JetBrains Mono"/>
              </a:rPr>
              <a:t>LastModificationTi</a:t>
            </a:r>
            <a:r>
              <a:rPr lang="en-US" sz="2200" b="0" u="none" strike="noStrike">
                <a:solidFill>
                  <a:srgbClr val="271811"/>
                </a:solidFill>
                <a:effectLst/>
                <a:uFillTx/>
                <a:latin typeface="JetBrains Mono"/>
              </a:rPr>
              <a:t>me, </a:t>
            </a:r>
            <a:r>
              <a:rPr lang="en-US" sz="2200" b="0" u="none" strike="noStrike">
                <a:solidFill>
                  <a:srgbClr val="271811"/>
                </a:solidFill>
                <a:effectLst/>
                <a:uFillTx/>
                <a:latin typeface="JetBrains Mono"/>
              </a:rPr>
              <a:t>LastModifierId#, </a:t>
            </a:r>
            <a:r>
              <a:rPr lang="en-US" sz="2200" b="0" u="none" strike="noStrike">
                <a:solidFill>
                  <a:srgbClr val="271811"/>
                </a:solidFill>
                <a:effectLst/>
                <a:uFillTx/>
                <a:latin typeface="JetBrains Mono"/>
              </a:rPr>
              <a:t>IsDeleted, </a:t>
            </a:r>
            <a:r>
              <a:rPr lang="en-US" sz="2200" b="0" u="none" strike="noStrike">
                <a:solidFill>
                  <a:srgbClr val="271811"/>
                </a:solidFill>
                <a:effectLst/>
                <a:uFillTx/>
                <a:latin typeface="JetBrains Mono"/>
              </a:rPr>
              <a:t>DeleterId#, </a:t>
            </a:r>
            <a:r>
              <a:rPr lang="en-US" sz="2200" b="0" u="none" strike="noStrike">
                <a:solidFill>
                  <a:srgbClr val="271811"/>
                </a:solidFill>
                <a:effectLst/>
                <a:uFillTx/>
                <a:latin typeface="JetBrains Mono"/>
              </a:rPr>
              <a:t>DeletionTime );</a:t>
            </a:r>
            <a:br>
              <a:rPr sz="2200"/>
            </a:br>
            <a:r>
              <a:rPr lang="en-US" sz="2200" b="1" u="none" strike="noStrike">
                <a:solidFill>
                  <a:srgbClr val="271811"/>
                </a:solidFill>
                <a:effectLst/>
                <a:uFillTx/>
                <a:latin typeface="JetBrains Mono"/>
              </a:rPr>
              <a:t>Contacts</a:t>
            </a:r>
            <a:r>
              <a:rPr lang="en-US" sz="2200" b="0" u="none" strike="noStrike">
                <a:solidFill>
                  <a:srgbClr val="271811"/>
                </a:solidFill>
                <a:effectLst/>
                <a:uFillTx/>
                <a:latin typeface="JetBrains Mono"/>
              </a:rPr>
              <a:t> (</a:t>
            </a:r>
            <a:r>
              <a:rPr lang="en-US" sz="2200" b="0" u="sng" strike="noStrike">
                <a:solidFill>
                  <a:srgbClr val="271811"/>
                </a:solidFill>
                <a:effectLst/>
                <a:uFillTx/>
                <a:latin typeface="JetBrains Mono"/>
              </a:rPr>
              <a:t>Id</a:t>
            </a:r>
            <a:r>
              <a:rPr lang="en-US" sz="2200" b="0" u="none" strike="noStrike">
                <a:solidFill>
                  <a:srgbClr val="271811"/>
                </a:solidFill>
                <a:effectLst/>
                <a:uFillTx/>
                <a:latin typeface="JetBrains Mono"/>
              </a:rPr>
              <a:t> , </a:t>
            </a:r>
            <a:r>
              <a:rPr lang="en-US" sz="2200" b="0" u="none" strike="noStrike">
                <a:solidFill>
                  <a:srgbClr val="271811"/>
                </a:solidFill>
                <a:effectLst/>
                <a:uFillTx/>
                <a:latin typeface="JetBrains Mono"/>
              </a:rPr>
              <a:t>FirstName, </a:t>
            </a:r>
            <a:r>
              <a:rPr lang="en-US" sz="2200" b="0" u="none" strike="noStrike">
                <a:solidFill>
                  <a:srgbClr val="271811"/>
                </a:solidFill>
                <a:effectLst/>
                <a:uFillTx/>
                <a:latin typeface="JetBrains Mono"/>
              </a:rPr>
              <a:t>MiddleName, </a:t>
            </a:r>
            <a:r>
              <a:rPr lang="en-US" sz="2200" b="0" u="none" strike="noStrike">
                <a:solidFill>
                  <a:srgbClr val="271811"/>
                </a:solidFill>
                <a:effectLst/>
                <a:uFillTx/>
                <a:latin typeface="JetBrains Mono"/>
              </a:rPr>
              <a:t>LastName, </a:t>
            </a:r>
            <a:r>
              <a:rPr lang="en-US" sz="2200" b="0" u="none" strike="noStrike">
                <a:solidFill>
                  <a:srgbClr val="271811"/>
                </a:solidFill>
                <a:effectLst/>
                <a:uFillTx/>
                <a:latin typeface="JetBrains Mono"/>
              </a:rPr>
              <a:t>Description, </a:t>
            </a:r>
            <a:r>
              <a:rPr lang="en-US" sz="2200" b="0" u="none" strike="noStrike">
                <a:solidFill>
                  <a:srgbClr val="271811"/>
                </a:solidFill>
                <a:effectLst/>
                <a:uFillTx/>
                <a:latin typeface="JetBrains Mono"/>
              </a:rPr>
              <a:t>Status, Source, </a:t>
            </a:r>
            <a:r>
              <a:rPr lang="en-US" sz="2200" b="0" u="none" strike="noStrike">
                <a:solidFill>
                  <a:srgbClr val="271811"/>
                </a:solidFill>
                <a:effectLst/>
                <a:uFillTx/>
                <a:latin typeface="JetBrains Mono"/>
              </a:rPr>
              <a:t>Phone, Fax, Email, </a:t>
            </a:r>
            <a:r>
              <a:rPr lang="en-US" sz="2200" b="0" u="none" strike="noStrike">
                <a:solidFill>
                  <a:srgbClr val="271811"/>
                </a:solidFill>
                <a:effectLst/>
                <a:uFillTx/>
                <a:latin typeface="JetBrains Mono"/>
              </a:rPr>
              <a:t>Website, Street, </a:t>
            </a:r>
            <a:r>
              <a:rPr lang="en-US" sz="2200" b="0" u="none" strike="noStrike">
                <a:solidFill>
                  <a:srgbClr val="271811"/>
                </a:solidFill>
                <a:effectLst/>
                <a:uFillTx/>
                <a:latin typeface="JetBrains Mono"/>
              </a:rPr>
              <a:t>City, Country, </a:t>
            </a:r>
            <a:r>
              <a:rPr lang="en-US" sz="2200" b="0" u="none" strike="noStrike">
                <a:solidFill>
                  <a:srgbClr val="271811"/>
                </a:solidFill>
                <a:effectLst/>
                <a:uFillTx/>
                <a:latin typeface="JetBrains Mono"/>
              </a:rPr>
              <a:t>PostalCode, Job, </a:t>
            </a:r>
            <a:r>
              <a:rPr lang="en-US" sz="2200" b="0" u="none" strike="noStrike">
                <a:solidFill>
                  <a:srgbClr val="271811"/>
                </a:solidFill>
                <a:effectLst/>
                <a:uFillTx/>
                <a:latin typeface="JetBrains Mono"/>
              </a:rPr>
              <a:t>Department, </a:t>
            </a:r>
            <a:r>
              <a:rPr lang="en-US" sz="2200" b="0" u="none" strike="noStrike">
                <a:solidFill>
                  <a:srgbClr val="271811"/>
                </a:solidFill>
                <a:effectLst/>
                <a:uFillTx/>
                <a:latin typeface="JetBrains Mono"/>
              </a:rPr>
              <a:t>AccountID#, </a:t>
            </a:r>
            <a:r>
              <a:rPr lang="en-US" sz="2200" b="0" u="none" strike="noStrike">
                <a:solidFill>
                  <a:srgbClr val="271811"/>
                </a:solidFill>
                <a:effectLst/>
                <a:uFillTx/>
                <a:latin typeface="JetBrains Mono"/>
              </a:rPr>
              <a:t>LeadID#, UserID#,  </a:t>
            </a:r>
            <a:r>
              <a:rPr lang="en-US" sz="2200" b="0" u="none" strike="noStrike">
                <a:solidFill>
                  <a:srgbClr val="271811"/>
                </a:solidFill>
                <a:effectLst/>
                <a:uFillTx/>
                <a:latin typeface="JetBrains Mono"/>
              </a:rPr>
              <a:t>CampaignID#, </a:t>
            </a:r>
            <a:r>
              <a:rPr lang="en-US" sz="2200" b="0" u="none" strike="noStrike">
                <a:solidFill>
                  <a:srgbClr val="271811"/>
                </a:solidFill>
                <a:effectLst/>
                <a:uFillTx/>
                <a:latin typeface="JetBrains Mono"/>
              </a:rPr>
              <a:t>CreationTime, </a:t>
            </a:r>
            <a:r>
              <a:rPr lang="en-US" sz="2200" b="0" u="none" strike="noStrike">
                <a:solidFill>
                  <a:srgbClr val="271811"/>
                </a:solidFill>
                <a:effectLst/>
                <a:uFillTx/>
                <a:latin typeface="JetBrains Mono"/>
              </a:rPr>
              <a:t>CreatorId#, </a:t>
            </a:r>
            <a:r>
              <a:rPr lang="en-US" sz="2200" b="0" u="none" strike="noStrike">
                <a:solidFill>
                  <a:srgbClr val="271811"/>
                </a:solidFill>
                <a:effectLst/>
                <a:uFillTx/>
                <a:latin typeface="JetBrains Mono"/>
              </a:rPr>
              <a:t>LastModificationTi</a:t>
            </a:r>
            <a:r>
              <a:rPr lang="en-US" sz="2200" b="0" u="none" strike="noStrike">
                <a:solidFill>
                  <a:srgbClr val="271811"/>
                </a:solidFill>
                <a:effectLst/>
                <a:uFillTx/>
                <a:latin typeface="JetBrains Mono"/>
              </a:rPr>
              <a:t>me, </a:t>
            </a:r>
            <a:r>
              <a:rPr lang="en-US" sz="2200" b="0" u="none" strike="noStrike">
                <a:solidFill>
                  <a:srgbClr val="271811"/>
                </a:solidFill>
                <a:effectLst/>
                <a:uFillTx/>
                <a:latin typeface="JetBrains Mono"/>
              </a:rPr>
              <a:t>LastModifierId#, </a:t>
            </a:r>
            <a:r>
              <a:rPr lang="en-US" sz="2200" b="0" u="none" strike="noStrike">
                <a:solidFill>
                  <a:srgbClr val="271811"/>
                </a:solidFill>
                <a:effectLst/>
                <a:uFillTx/>
                <a:latin typeface="JetBrains Mono"/>
              </a:rPr>
              <a:t>IsDeleted, </a:t>
            </a:r>
            <a:r>
              <a:rPr lang="en-US" sz="2200" b="0" u="none" strike="noStrike">
                <a:solidFill>
                  <a:srgbClr val="271811"/>
                </a:solidFill>
                <a:effectLst/>
                <a:uFillTx/>
                <a:latin typeface="JetBrains Mono"/>
              </a:rPr>
              <a:t>DeleterId#, </a:t>
            </a:r>
            <a:r>
              <a:rPr lang="en-US" sz="2200" b="0" u="none" strike="noStrike">
                <a:solidFill>
                  <a:srgbClr val="271811"/>
                </a:solidFill>
                <a:effectLst/>
                <a:uFillTx/>
                <a:latin typeface="JetBrains Mono"/>
              </a:rPr>
              <a:t>DeletionTime );</a:t>
            </a:r>
            <a:endParaRPr lang="en-US" sz="2200" b="0" u="none" strike="noStrike">
              <a:solidFill>
                <a:srgbClr val="000000"/>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42"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 Conception</a:t>
            </a:r>
            <a:endParaRPr lang="en-US" sz="1300" b="0" u="none" strike="noStrike">
              <a:solidFill>
                <a:srgbClr val="000000"/>
              </a:solidFill>
              <a:effectLst/>
              <a:uFillTx/>
              <a:latin typeface="Arial"/>
            </a:endParaRPr>
          </a:p>
        </p:txBody>
      </p:sp>
      <p:sp>
        <p:nvSpPr>
          <p:cNvPr id="243" name="TextBox 2"/>
          <p:cNvSpPr/>
          <p:nvPr/>
        </p:nvSpPr>
        <p:spPr>
          <a:xfrm>
            <a:off x="731520" y="100584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Model Logique Des Donnees</a:t>
            </a:r>
            <a:endParaRPr lang="en-US" sz="3600" b="0" u="none" strike="noStrike">
              <a:solidFill>
                <a:srgbClr val="000000"/>
              </a:solidFill>
              <a:effectLst/>
              <a:uFillTx/>
              <a:latin typeface="Arial"/>
            </a:endParaRPr>
          </a:p>
        </p:txBody>
      </p:sp>
      <p:sp>
        <p:nvSpPr>
          <p:cNvPr id="244" name="TextBox 3"/>
          <p:cNvSpPr/>
          <p:nvPr/>
        </p:nvSpPr>
        <p:spPr>
          <a:xfrm>
            <a:off x="731520" y="1828800"/>
            <a:ext cx="10972440" cy="36864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200" b="1" u="none" strike="noStrike">
                <a:solidFill>
                  <a:srgbClr val="271811"/>
                </a:solidFill>
                <a:effectLst/>
                <a:uFillTx/>
                <a:latin typeface="JetBrains Mono"/>
              </a:rPr>
              <a:t>Opportunities</a:t>
            </a:r>
            <a:r>
              <a:rPr lang="en-US" sz="2200" b="0" u="none" strike="noStrike">
                <a:solidFill>
                  <a:srgbClr val="271811"/>
                </a:solidFill>
                <a:effectLst/>
                <a:uFillTx/>
                <a:latin typeface="JetBrains Mono"/>
              </a:rPr>
              <a:t> (</a:t>
            </a:r>
            <a:r>
              <a:rPr lang="en-US" sz="2200" b="0" u="sng" strike="noStrike">
                <a:solidFill>
                  <a:srgbClr val="271811"/>
                </a:solidFill>
                <a:effectLst/>
                <a:uFillTx/>
                <a:latin typeface="JetBrains Mono"/>
              </a:rPr>
              <a:t>Id</a:t>
            </a:r>
            <a:r>
              <a:rPr lang="en-US" sz="2200" b="0" u="none" strike="noStrike">
                <a:solidFill>
                  <a:srgbClr val="271811"/>
                </a:solidFill>
                <a:effectLst/>
                <a:uFillTx/>
                <a:latin typeface="JetBrains Mono"/>
              </a:rPr>
              <a:t> , Name, </a:t>
            </a:r>
            <a:r>
              <a:rPr lang="en-US" sz="2200" b="0" u="none" strike="noStrike">
                <a:solidFill>
                  <a:srgbClr val="271811"/>
                </a:solidFill>
                <a:effectLst/>
                <a:uFillTx/>
                <a:latin typeface="JetBrains Mono"/>
              </a:rPr>
              <a:t>Description, AmountValue, </a:t>
            </a:r>
            <a:r>
              <a:rPr lang="en-US" sz="2200" b="0" u="none" strike="noStrike">
                <a:solidFill>
                  <a:srgbClr val="271811"/>
                </a:solidFill>
                <a:effectLst/>
                <a:uFillTx/>
                <a:latin typeface="JetBrains Mono"/>
              </a:rPr>
              <a:t>AmountCurrency, Stage, Type, </a:t>
            </a:r>
            <a:r>
              <a:rPr lang="en-US" sz="2200" b="0" u="none" strike="noStrike">
                <a:solidFill>
                  <a:srgbClr val="271811"/>
                </a:solidFill>
                <a:effectLst/>
                <a:uFillTx/>
                <a:latin typeface="JetBrains Mono"/>
              </a:rPr>
              <a:t>Probability, NextStep, </a:t>
            </a:r>
            <a:r>
              <a:rPr lang="en-US" sz="2200" b="0" u="none" strike="noStrike">
                <a:solidFill>
                  <a:srgbClr val="271811"/>
                </a:solidFill>
                <a:effectLst/>
                <a:uFillTx/>
                <a:latin typeface="JetBrains Mono"/>
              </a:rPr>
              <a:t>ClosedAt, AccountID#, </a:t>
            </a:r>
            <a:r>
              <a:rPr lang="en-US" sz="2200" b="0" u="none" strike="noStrike">
                <a:solidFill>
                  <a:srgbClr val="271811"/>
                </a:solidFill>
                <a:effectLst/>
                <a:uFillTx/>
                <a:latin typeface="JetBrains Mono"/>
              </a:rPr>
              <a:t>ContactID#, LeadID#, </a:t>
            </a:r>
            <a:r>
              <a:rPr lang="en-US" sz="2200" b="0" u="none" strike="noStrike">
                <a:solidFill>
                  <a:srgbClr val="271811"/>
                </a:solidFill>
                <a:effectLst/>
                <a:uFillTx/>
                <a:latin typeface="JetBrains Mono"/>
              </a:rPr>
              <a:t>OwnerID#, CampaignID#,  </a:t>
            </a:r>
            <a:r>
              <a:rPr lang="en-US" sz="2200" b="0" u="none" strike="noStrike">
                <a:solidFill>
                  <a:srgbClr val="271811"/>
                </a:solidFill>
                <a:effectLst/>
                <a:uFillTx/>
                <a:latin typeface="JetBrains Mono"/>
              </a:rPr>
              <a:t>CreationTime, CreatorId#, </a:t>
            </a:r>
            <a:r>
              <a:rPr lang="en-US" sz="2200" b="0" u="none" strike="noStrike">
                <a:solidFill>
                  <a:srgbClr val="271811"/>
                </a:solidFill>
                <a:effectLst/>
                <a:uFillTx/>
                <a:latin typeface="JetBrains Mono"/>
              </a:rPr>
              <a:t>LastModificationTime, </a:t>
            </a:r>
            <a:r>
              <a:rPr lang="en-US" sz="2200" b="0" u="none" strike="noStrike">
                <a:solidFill>
                  <a:srgbClr val="271811"/>
                </a:solidFill>
                <a:effectLst/>
                <a:uFillTx/>
                <a:latin typeface="JetBrains Mono"/>
              </a:rPr>
              <a:t>LastModifierId#, IsDeleted, </a:t>
            </a:r>
            <a:r>
              <a:rPr lang="en-US" sz="2200" b="0" u="none" strike="noStrike">
                <a:solidFill>
                  <a:srgbClr val="271811"/>
                </a:solidFill>
                <a:effectLst/>
                <a:uFillTx/>
                <a:latin typeface="JetBrains Mono"/>
              </a:rPr>
              <a:t>DeleterId#, DeletionTime );</a:t>
            </a:r>
            <a:br>
              <a:rPr sz="2200"/>
            </a:br>
            <a:r>
              <a:rPr lang="en-US" sz="2200" b="1" u="none" strike="noStrike">
                <a:solidFill>
                  <a:srgbClr val="271811"/>
                </a:solidFill>
                <a:effectLst/>
                <a:uFillTx/>
                <a:latin typeface="JetBrains Mono"/>
              </a:rPr>
              <a:t>Campaign</a:t>
            </a:r>
            <a:r>
              <a:rPr lang="en-US" sz="2200" b="0" u="none" strike="noStrike">
                <a:solidFill>
                  <a:srgbClr val="271811"/>
                </a:solidFill>
                <a:effectLst/>
                <a:uFillTx/>
                <a:latin typeface="JetBrains Mono"/>
              </a:rPr>
              <a:t> (</a:t>
            </a:r>
            <a:r>
              <a:rPr lang="en-US" sz="2200" b="0" u="sng" strike="noStrike">
                <a:solidFill>
                  <a:srgbClr val="271811"/>
                </a:solidFill>
                <a:effectLst/>
                <a:uFillTx/>
                <a:latin typeface="JetBrains Mono"/>
              </a:rPr>
              <a:t>Id</a:t>
            </a:r>
            <a:r>
              <a:rPr lang="en-US" sz="2200" b="0" u="none" strike="noStrike">
                <a:solidFill>
                  <a:srgbClr val="271811"/>
                </a:solidFill>
                <a:effectLst/>
                <a:uFillTx/>
                <a:latin typeface="JetBrains Mono"/>
              </a:rPr>
              <a:t> , Name, </a:t>
            </a:r>
            <a:r>
              <a:rPr lang="en-US" sz="2200" b="0" u="none" strike="noStrike">
                <a:solidFill>
                  <a:srgbClr val="271811"/>
                </a:solidFill>
                <a:effectLst/>
                <a:uFillTx/>
                <a:latin typeface="JetBrains Mono"/>
              </a:rPr>
              <a:t>Description, Status, Budget, </a:t>
            </a:r>
            <a:r>
              <a:rPr lang="en-US" sz="2200" b="0" u="none" strike="noStrike">
                <a:solidFill>
                  <a:srgbClr val="271811"/>
                </a:solidFill>
                <a:effectLst/>
                <a:uFillTx/>
                <a:latin typeface="JetBrains Mono"/>
              </a:rPr>
              <a:t>CostSoFar, ExpectedAccounts, </a:t>
            </a:r>
            <a:r>
              <a:rPr lang="en-US" sz="2200" b="0" u="none" strike="noStrike">
                <a:solidFill>
                  <a:srgbClr val="271811"/>
                </a:solidFill>
                <a:effectLst/>
                <a:uFillTx/>
                <a:latin typeface="JetBrains Mono"/>
              </a:rPr>
              <a:t>ExpectedLeads, </a:t>
            </a:r>
            <a:r>
              <a:rPr lang="en-US" sz="2200" b="0" u="none" strike="noStrike">
                <a:solidFill>
                  <a:srgbClr val="271811"/>
                </a:solidFill>
                <a:effectLst/>
                <a:uFillTx/>
                <a:latin typeface="JetBrains Mono"/>
              </a:rPr>
              <a:t>ExpectedContacts, </a:t>
            </a:r>
            <a:r>
              <a:rPr lang="en-US" sz="2200" b="0" u="none" strike="noStrike">
                <a:solidFill>
                  <a:srgbClr val="271811"/>
                </a:solidFill>
                <a:effectLst/>
                <a:uFillTx/>
                <a:latin typeface="JetBrains Mono"/>
              </a:rPr>
              <a:t>ExpectedOpportunities, </a:t>
            </a:r>
            <a:r>
              <a:rPr lang="en-US" sz="2200" b="0" u="none" strike="noStrike">
                <a:solidFill>
                  <a:srgbClr val="271811"/>
                </a:solidFill>
                <a:effectLst/>
                <a:uFillTx/>
                <a:latin typeface="JetBrains Mono"/>
              </a:rPr>
              <a:t>StartDate, EndDate, </a:t>
            </a:r>
            <a:r>
              <a:rPr lang="en-US" sz="2200" b="0" u="none" strike="noStrike">
                <a:solidFill>
                  <a:srgbClr val="271811"/>
                </a:solidFill>
                <a:effectLst/>
                <a:uFillTx/>
                <a:latin typeface="JetBrains Mono"/>
              </a:rPr>
              <a:t>OwnerID#, CreationTime, </a:t>
            </a:r>
            <a:r>
              <a:rPr lang="en-US" sz="2200" b="0" u="none" strike="noStrike">
                <a:solidFill>
                  <a:srgbClr val="271811"/>
                </a:solidFill>
                <a:effectLst/>
                <a:uFillTx/>
                <a:latin typeface="JetBrains Mono"/>
              </a:rPr>
              <a:t>CreatorId#, </a:t>
            </a:r>
            <a:r>
              <a:rPr lang="en-US" sz="2200" b="0" u="none" strike="noStrike">
                <a:solidFill>
                  <a:srgbClr val="271811"/>
                </a:solidFill>
                <a:effectLst/>
                <a:uFillTx/>
                <a:latin typeface="JetBrains Mono"/>
              </a:rPr>
              <a:t>LastModificationTime, </a:t>
            </a:r>
            <a:r>
              <a:rPr lang="en-US" sz="2200" b="0" u="none" strike="noStrike">
                <a:solidFill>
                  <a:srgbClr val="271811"/>
                </a:solidFill>
                <a:effectLst/>
                <a:uFillTx/>
                <a:latin typeface="JetBrains Mono"/>
              </a:rPr>
              <a:t>LastModifierId#, IsDeleted, </a:t>
            </a:r>
            <a:r>
              <a:rPr lang="en-US" sz="2200" b="0" u="none" strike="noStrike">
                <a:solidFill>
                  <a:srgbClr val="271811"/>
                </a:solidFill>
                <a:effectLst/>
                <a:uFillTx/>
                <a:latin typeface="JetBrains Mono"/>
              </a:rPr>
              <a:t>DeleterId#, DeletionTime)</a:t>
            </a:r>
            <a:br>
              <a:rPr sz="2200"/>
            </a:br>
            <a:r>
              <a:rPr lang="en-US" sz="2200" b="0" u="none" strike="noStrike">
                <a:solidFill>
                  <a:srgbClr val="271811"/>
                </a:solidFill>
                <a:effectLst/>
                <a:uFillTx/>
                <a:latin typeface="JetBrains Mono"/>
              </a:rPr>
              <a:t>        </a:t>
            </a:r>
            <a:endParaRPr lang="en-US" sz="2200" b="0" u="none" strike="noStrike">
              <a:solidFill>
                <a:srgbClr val="000000"/>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45"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 Conception</a:t>
            </a:r>
            <a:endParaRPr lang="en-US" sz="1300" b="0" u="none" strike="noStrike">
              <a:solidFill>
                <a:srgbClr val="000000"/>
              </a:solidFill>
              <a:effectLst/>
              <a:uFillTx/>
              <a:latin typeface="Arial"/>
            </a:endParaRPr>
          </a:p>
        </p:txBody>
      </p:sp>
      <p:sp>
        <p:nvSpPr>
          <p:cNvPr id="246" name="TextBox 2"/>
          <p:cNvSpPr/>
          <p:nvPr/>
        </p:nvSpPr>
        <p:spPr>
          <a:xfrm>
            <a:off x="731520" y="100584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Model Logique Des Donnees</a:t>
            </a:r>
            <a:endParaRPr lang="en-US" sz="3600" b="0" u="none" strike="noStrike">
              <a:solidFill>
                <a:srgbClr val="000000"/>
              </a:solidFill>
              <a:effectLst/>
              <a:uFillTx/>
              <a:latin typeface="Arial"/>
            </a:endParaRPr>
          </a:p>
        </p:txBody>
      </p:sp>
      <p:sp>
        <p:nvSpPr>
          <p:cNvPr id="247" name="TextBox 3"/>
          <p:cNvSpPr/>
          <p:nvPr/>
        </p:nvSpPr>
        <p:spPr>
          <a:xfrm>
            <a:off x="731520" y="1828800"/>
            <a:ext cx="10972440" cy="469260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200" b="1" u="none" strike="noStrike">
                <a:solidFill>
                  <a:srgbClr val="271811"/>
                </a:solidFill>
                <a:effectLst/>
                <a:uFillTx/>
                <a:latin typeface="JetBrains Mono"/>
              </a:rPr>
              <a:t>Calls</a:t>
            </a:r>
            <a:r>
              <a:rPr lang="en-US" sz="2200" b="0" u="none" strike="noStrike">
                <a:solidFill>
                  <a:srgbClr val="271811"/>
                </a:solidFill>
                <a:effectLst/>
                <a:uFillTx/>
                <a:latin typeface="JetBrains Mono"/>
              </a:rPr>
              <a:t> (</a:t>
            </a:r>
            <a:r>
              <a:rPr lang="en-US" sz="2200" b="0" u="sng" strike="noStrike">
                <a:solidFill>
                  <a:srgbClr val="271811"/>
                </a:solidFill>
                <a:effectLst/>
                <a:uFillTx/>
                <a:latin typeface="JetBrains Mono"/>
              </a:rPr>
              <a:t>Id</a:t>
            </a:r>
            <a:r>
              <a:rPr lang="en-US" sz="2200" b="0" u="none" strike="noStrike">
                <a:solidFill>
                  <a:srgbClr val="271811"/>
                </a:solidFill>
                <a:effectLst/>
                <a:uFillTx/>
                <a:latin typeface="JetBrains Mono"/>
              </a:rPr>
              <a:t> , Name, Description, Status, Direction, StartTime, EndTime, Duration, PhoneNumber, AccountID#, ContactID#, OpportunityID#, LeadID#, OwnerID#, CreationTime, CreatorId#, LastModificationTime, LastModifierId#, IsDeleted, DeleterId#, DeletionTime );</a:t>
            </a:r>
            <a:br>
              <a:rPr sz="2200"/>
            </a:br>
            <a:r>
              <a:rPr lang="en-US" sz="2200" b="1" u="none" strike="noStrike">
                <a:solidFill>
                  <a:srgbClr val="271811"/>
                </a:solidFill>
                <a:effectLst/>
                <a:uFillTx/>
                <a:latin typeface="JetBrains Mono"/>
              </a:rPr>
              <a:t>Meetings</a:t>
            </a:r>
            <a:r>
              <a:rPr lang="en-US" sz="2200" b="0" u="none" strike="noStrike">
                <a:solidFill>
                  <a:srgbClr val="271811"/>
                </a:solidFill>
                <a:effectLst/>
                <a:uFillTx/>
                <a:latin typeface="JetBrains Mono"/>
              </a:rPr>
              <a:t> (</a:t>
            </a:r>
            <a:r>
              <a:rPr lang="en-US" sz="2200" b="0" u="sng" strike="noStrike">
                <a:solidFill>
                  <a:srgbClr val="271811"/>
                </a:solidFill>
                <a:effectLst/>
                <a:uFillTx/>
                <a:latin typeface="JetBrains Mono"/>
              </a:rPr>
              <a:t>Id</a:t>
            </a:r>
            <a:r>
              <a:rPr lang="en-US" sz="2200" b="0" u="none" strike="noStrike">
                <a:solidFill>
                  <a:srgbClr val="271811"/>
                </a:solidFill>
                <a:effectLst/>
                <a:uFillTx/>
                <a:latin typeface="JetBrains Mono"/>
              </a:rPr>
              <a:t>,  Name, Description, Status, StartTime, EndTime, Location, AccountID#, ContactID#, OpportunityID#, LeadID#, OwnerID#, CreationTime, CreatorId#, LastModificationTime, LastModifierId#, IsDeleted, DeleterId#, DeletionTime );</a:t>
            </a:r>
            <a:br>
              <a:rPr sz="2200"/>
            </a:br>
            <a:r>
              <a:rPr lang="en-US" sz="2200" b="1" u="none" strike="noStrike">
                <a:solidFill>
                  <a:srgbClr val="271811"/>
                </a:solidFill>
                <a:effectLst/>
                <a:uFillTx/>
                <a:latin typeface="JetBrains Mono"/>
              </a:rPr>
              <a:t>Tasks</a:t>
            </a:r>
            <a:r>
              <a:rPr lang="en-US" sz="2200" b="0" u="none" strike="noStrike">
                <a:solidFill>
                  <a:srgbClr val="271811"/>
                </a:solidFill>
                <a:effectLst/>
                <a:uFillTx/>
                <a:latin typeface="JetBrains Mono"/>
              </a:rPr>
              <a:t> (</a:t>
            </a:r>
            <a:r>
              <a:rPr lang="en-US" sz="2200" b="0" u="sng" strike="noStrike">
                <a:solidFill>
                  <a:srgbClr val="271811"/>
                </a:solidFill>
                <a:effectLst/>
                <a:uFillTx/>
                <a:latin typeface="JetBrains Mono"/>
              </a:rPr>
              <a:t>Id</a:t>
            </a:r>
            <a:r>
              <a:rPr lang="en-US" sz="2200" b="0" u="none" strike="noStrike">
                <a:solidFill>
                  <a:srgbClr val="271811"/>
                </a:solidFill>
                <a:effectLst/>
                <a:uFillTx/>
                <a:latin typeface="JetBrains Mono"/>
              </a:rPr>
              <a:t> , Name, Description, Status, Priority, StartTime, EndTime, CompletedAt, AccountID#, ContactID#, OpportunityID#, LeadID#, OwnerID#, CreationTime, CreatorId#, LastModificationTime, LastModifierId#, IsDeleted, DeleterId#, DeletionTime );</a:t>
            </a:r>
            <a:endParaRPr lang="en-US" sz="2200" b="0" u="none" strike="noStrike">
              <a:solidFill>
                <a:srgbClr val="000000"/>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48"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 Conception</a:t>
            </a:r>
            <a:endParaRPr lang="en-US" sz="1300" b="0" u="none" strike="noStrike">
              <a:solidFill>
                <a:srgbClr val="000000"/>
              </a:solidFill>
              <a:effectLst/>
              <a:uFillTx/>
              <a:latin typeface="Arial"/>
            </a:endParaRPr>
          </a:p>
        </p:txBody>
      </p:sp>
      <p:sp>
        <p:nvSpPr>
          <p:cNvPr id="249" name="TextBox 2"/>
          <p:cNvSpPr/>
          <p:nvPr/>
        </p:nvSpPr>
        <p:spPr>
          <a:xfrm>
            <a:off x="731520" y="100584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Model Logique Des Donnees</a:t>
            </a:r>
            <a:endParaRPr lang="en-US" sz="3600" b="0" u="none" strike="noStrike">
              <a:solidFill>
                <a:srgbClr val="000000"/>
              </a:solidFill>
              <a:effectLst/>
              <a:uFillTx/>
              <a:latin typeface="Arial"/>
            </a:endParaRPr>
          </a:p>
        </p:txBody>
      </p:sp>
      <p:sp>
        <p:nvSpPr>
          <p:cNvPr id="250" name="TextBox 3"/>
          <p:cNvSpPr/>
          <p:nvPr/>
        </p:nvSpPr>
        <p:spPr>
          <a:xfrm>
            <a:off x="731520" y="1828800"/>
            <a:ext cx="10972440" cy="335124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200" b="1" u="none" strike="noStrike">
                <a:solidFill>
                  <a:srgbClr val="271811"/>
                </a:solidFill>
                <a:effectLst/>
                <a:uFillTx/>
                <a:latin typeface="JetBrains Mono"/>
              </a:rPr>
              <a:t>Notes</a:t>
            </a:r>
            <a:r>
              <a:rPr lang="en-US" sz="2200" b="0" u="none" strike="noStrike">
                <a:solidFill>
                  <a:srgbClr val="271811"/>
                </a:solidFill>
                <a:effectLst/>
                <a:uFillTx/>
                <a:latin typeface="JetBrains Mono"/>
              </a:rPr>
              <a:t> (</a:t>
            </a:r>
            <a:r>
              <a:rPr lang="en-US" sz="2200" b="0" u="sng" strike="noStrike">
                <a:solidFill>
                  <a:srgbClr val="271811"/>
                </a:solidFill>
                <a:effectLst/>
                <a:uFillTx/>
                <a:latin typeface="JetBrains Mono"/>
              </a:rPr>
              <a:t>Id</a:t>
            </a:r>
            <a:r>
              <a:rPr lang="en-US" sz="2200" b="0" u="none" strike="noStrike">
                <a:solidFill>
                  <a:srgbClr val="271811"/>
                </a:solidFill>
                <a:effectLst/>
                <a:uFillTx/>
                <a:latin typeface="JetBrains Mono"/>
              </a:rPr>
              <a:t> , Title, Content, Type, AccountID#, ContactID#, OpportunityID#, LeadID#, OwnerID#, CreationTime, CreatorId#, LastModificationTime, LastModifierId#, IsDeleted, DeleterId#, DeletionTime );</a:t>
            </a:r>
            <a:endParaRPr lang="en-US" sz="2200" b="0" u="none" strike="noStrike">
              <a:solidFill>
                <a:srgbClr val="000000"/>
              </a:solidFill>
              <a:effectLst/>
              <a:uFillTx/>
              <a:latin typeface="Arial"/>
            </a:endParaRPr>
          </a:p>
          <a:p>
            <a:pPr defTabSz="457200">
              <a:lnSpc>
                <a:spcPct val="100000"/>
              </a:lnSpc>
            </a:pPr>
            <a:br>
              <a:rPr sz="2200"/>
            </a:br>
            <a:r>
              <a:rPr lang="en-US" sz="2200" b="1" u="none" strike="noStrike">
                <a:solidFill>
                  <a:srgbClr val="271811"/>
                </a:solidFill>
                <a:effectLst/>
                <a:uFillTx/>
                <a:latin typeface="JetBrains Mono"/>
              </a:rPr>
              <a:t>emails</a:t>
            </a:r>
            <a:r>
              <a:rPr lang="en-US" sz="2200" b="0" u="none" strike="noStrike">
                <a:solidFill>
                  <a:srgbClr val="271811"/>
                </a:solidFill>
                <a:effectLst/>
                <a:uFillTx/>
                <a:latin typeface="JetBrains Mono"/>
              </a:rPr>
              <a:t> (</a:t>
            </a:r>
            <a:r>
              <a:rPr lang="en-US" sz="2200" b="0" u="sng" strike="noStrike">
                <a:solidFill>
                  <a:srgbClr val="271811"/>
                </a:solidFill>
                <a:effectLst/>
                <a:uFillTx/>
                <a:latin typeface="JetBrains Mono"/>
              </a:rPr>
              <a:t>Id</a:t>
            </a:r>
            <a:r>
              <a:rPr lang="en-US" sz="2200" b="0" u="none" strike="noStrike">
                <a:solidFill>
                  <a:srgbClr val="271811"/>
                </a:solidFill>
                <a:effectLst/>
                <a:uFillTx/>
                <a:latin typeface="JetBrains Mono"/>
              </a:rPr>
              <a:t> , Subject, Body, Status, From, To, Cc, Bcc, SentAt, IsHtml, AccountID#, ContactID#, OpportunityID#, LeadID#, OwnerID#, CreationTime, CreatorId#, LastModificationTime, LastModifierId#, IsDeleted#, DeleterId#, DeletionTime);</a:t>
            </a:r>
            <a:br>
              <a:rPr sz="2200"/>
            </a:br>
            <a:r>
              <a:rPr lang="en-US" sz="2200" b="0" u="none" strike="noStrike">
                <a:solidFill>
                  <a:srgbClr val="271811"/>
                </a:solidFill>
                <a:effectLst/>
                <a:uFillTx/>
                <a:latin typeface="JetBrains Mono"/>
              </a:rPr>
              <a:t>        </a:t>
            </a:r>
            <a:endParaRPr lang="en-US" sz="2200" b="0" u="none" strike="noStrike">
              <a:solidFill>
                <a:srgbClr val="000000"/>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51"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La Conception</a:t>
            </a:r>
            <a:endParaRPr lang="en-US" sz="1300" b="0" u="none" strike="noStrike">
              <a:solidFill>
                <a:srgbClr val="000000"/>
              </a:solidFill>
              <a:effectLst/>
              <a:uFillTx/>
              <a:latin typeface="Arial"/>
            </a:endParaRPr>
          </a:p>
        </p:txBody>
      </p:sp>
      <p:sp>
        <p:nvSpPr>
          <p:cNvPr id="252" name="TextBox 2"/>
          <p:cNvSpPr/>
          <p:nvPr/>
        </p:nvSpPr>
        <p:spPr>
          <a:xfrm>
            <a:off x="731520" y="100584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Model Logique Des Donnees</a:t>
            </a:r>
            <a:endParaRPr lang="en-US" sz="3600" b="0" u="none" strike="noStrike">
              <a:solidFill>
                <a:srgbClr val="000000"/>
              </a:solidFill>
              <a:effectLst/>
              <a:uFillTx/>
              <a:latin typeface="Arial"/>
            </a:endParaRPr>
          </a:p>
        </p:txBody>
      </p:sp>
      <p:sp>
        <p:nvSpPr>
          <p:cNvPr id="253" name="TextBox 3"/>
          <p:cNvSpPr/>
          <p:nvPr/>
        </p:nvSpPr>
        <p:spPr>
          <a:xfrm>
            <a:off x="731520" y="1828800"/>
            <a:ext cx="10972440" cy="402156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200" b="1" u="none" strike="noStrike">
                <a:solidFill>
                  <a:srgbClr val="271811"/>
                </a:solidFill>
                <a:effectLst/>
                <a:uFillTx/>
                <a:latin typeface="JetBrains Mono"/>
              </a:rPr>
              <a:t>User</a:t>
            </a:r>
            <a:r>
              <a:rPr lang="en-US" sz="2200" b="0" u="none" strike="noStrike">
                <a:solidFill>
                  <a:srgbClr val="271811"/>
                </a:solidFill>
                <a:effectLst/>
                <a:uFillTx/>
                <a:latin typeface="JetBrains Mono"/>
              </a:rPr>
              <a:t> (</a:t>
            </a:r>
            <a:r>
              <a:rPr lang="en-US" sz="2200" b="0" u="sng" strike="noStrike">
                <a:solidFill>
                  <a:srgbClr val="271811"/>
                </a:solidFill>
                <a:effectLst/>
                <a:uFillTx/>
                <a:latin typeface="JetBrains Mono"/>
              </a:rPr>
              <a:t>Id</a:t>
            </a:r>
            <a:r>
              <a:rPr lang="en-US" sz="2200" b="0" u="none" strike="noStrike">
                <a:solidFill>
                  <a:srgbClr val="271811"/>
                </a:solidFill>
                <a:effectLst/>
                <a:uFillTx/>
                <a:latin typeface="JetBrains Mono"/>
              </a:rPr>
              <a:t> , username, passwordhash, name, surname, email, phone, CreationTime, CreatorId#, LastModificationTime, LastModifierId#, IsDeleted, DeleterId#, DeletionTime);</a:t>
            </a:r>
            <a:endParaRPr lang="en-US" sz="2200" b="0" u="none" strike="noStrike">
              <a:solidFill>
                <a:srgbClr val="000000"/>
              </a:solidFill>
              <a:effectLst/>
              <a:uFillTx/>
              <a:latin typeface="Arial"/>
            </a:endParaRPr>
          </a:p>
          <a:p>
            <a:pPr defTabSz="457200">
              <a:lnSpc>
                <a:spcPct val="100000"/>
              </a:lnSpc>
            </a:pPr>
            <a:br>
              <a:rPr sz="2200"/>
            </a:br>
            <a:r>
              <a:rPr lang="en-US" sz="2200" b="1" u="none" strike="noStrike">
                <a:solidFill>
                  <a:srgbClr val="271811"/>
                </a:solidFill>
                <a:effectLst/>
                <a:uFillTx/>
                <a:latin typeface="JetBrains Mono"/>
              </a:rPr>
              <a:t>Role</a:t>
            </a:r>
            <a:r>
              <a:rPr lang="en-US" sz="2200" b="0" u="none" strike="noStrike">
                <a:solidFill>
                  <a:srgbClr val="271811"/>
                </a:solidFill>
                <a:effectLst/>
                <a:uFillTx/>
                <a:latin typeface="JetBrains Mono"/>
              </a:rPr>
              <a:t> (</a:t>
            </a:r>
            <a:r>
              <a:rPr lang="en-US" sz="2200" b="0" u="sng" strike="noStrike">
                <a:solidFill>
                  <a:srgbClr val="271811"/>
                </a:solidFill>
                <a:effectLst/>
                <a:uFillTx/>
                <a:latin typeface="JetBrains Mono"/>
              </a:rPr>
              <a:t>Id</a:t>
            </a:r>
            <a:r>
              <a:rPr lang="en-US" sz="2200" b="0" u="none" strike="noStrike">
                <a:solidFill>
                  <a:srgbClr val="271811"/>
                </a:solidFill>
                <a:effectLst/>
                <a:uFillTx/>
                <a:latin typeface="JetBrains Mono"/>
              </a:rPr>
              <a:t> , name)</a:t>
            </a:r>
            <a:br>
              <a:rPr sz="2200"/>
            </a:br>
            <a:endParaRPr lang="en-US" sz="2200" b="0" u="none" strike="noStrike">
              <a:solidFill>
                <a:srgbClr val="000000"/>
              </a:solidFill>
              <a:effectLst/>
              <a:uFillTx/>
              <a:latin typeface="Arial"/>
            </a:endParaRPr>
          </a:p>
          <a:p>
            <a:pPr defTabSz="457200">
              <a:lnSpc>
                <a:spcPct val="100000"/>
              </a:lnSpc>
            </a:pPr>
            <a:r>
              <a:rPr lang="en-US" sz="2200" b="1" u="none" strike="noStrike">
                <a:solidFill>
                  <a:srgbClr val="271811"/>
                </a:solidFill>
                <a:effectLst/>
                <a:uFillTx/>
                <a:latin typeface="JetBrains Mono"/>
              </a:rPr>
              <a:t>Permission </a:t>
            </a:r>
            <a:r>
              <a:rPr lang="en-US" sz="2200" b="0" u="none" strike="noStrike">
                <a:solidFill>
                  <a:srgbClr val="271811"/>
                </a:solidFill>
                <a:effectLst/>
                <a:uFillTx/>
                <a:latin typeface="JetBrains Mono"/>
              </a:rPr>
              <a:t>(</a:t>
            </a:r>
            <a:r>
              <a:rPr lang="en-US" sz="2200" b="0" u="sng" strike="noStrike">
                <a:solidFill>
                  <a:srgbClr val="271811"/>
                </a:solidFill>
                <a:effectLst/>
                <a:uFillTx/>
                <a:latin typeface="JetBrains Mono"/>
              </a:rPr>
              <a:t>Id</a:t>
            </a:r>
            <a:r>
              <a:rPr lang="en-US" sz="2200" b="0" u="none" strike="noStrike">
                <a:solidFill>
                  <a:srgbClr val="271811"/>
                </a:solidFill>
                <a:effectLst/>
                <a:uFillTx/>
                <a:latin typeface="JetBrains Mono"/>
              </a:rPr>
              <a:t> , name)</a:t>
            </a:r>
            <a:endParaRPr lang="en-US" sz="2200" b="0" u="none" strike="noStrike">
              <a:solidFill>
                <a:srgbClr val="000000"/>
              </a:solidFill>
              <a:effectLst/>
              <a:uFillTx/>
              <a:latin typeface="Arial"/>
            </a:endParaRPr>
          </a:p>
          <a:p>
            <a:pPr defTabSz="457200">
              <a:lnSpc>
                <a:spcPct val="100000"/>
              </a:lnSpc>
            </a:pPr>
            <a:br>
              <a:rPr sz="2200"/>
            </a:br>
            <a:r>
              <a:rPr lang="en-US" sz="2200" b="1" u="none" strike="noStrike">
                <a:solidFill>
                  <a:srgbClr val="271811"/>
                </a:solidFill>
                <a:effectLst/>
                <a:uFillTx/>
                <a:latin typeface="JetBrains Mono"/>
              </a:rPr>
              <a:t>RoleUser</a:t>
            </a:r>
            <a:r>
              <a:rPr lang="en-US" sz="2200" b="0" u="none" strike="noStrike">
                <a:solidFill>
                  <a:srgbClr val="271811"/>
                </a:solidFill>
                <a:effectLst/>
                <a:uFillTx/>
                <a:latin typeface="JetBrains Mono"/>
              </a:rPr>
              <a:t>(</a:t>
            </a:r>
            <a:r>
              <a:rPr lang="en-US" sz="2200" b="0" u="sng" strike="noStrike">
                <a:solidFill>
                  <a:srgbClr val="271811"/>
                </a:solidFill>
                <a:effectLst/>
                <a:uFillTx/>
                <a:latin typeface="JetBrains Mono"/>
              </a:rPr>
              <a:t>IdRole# , IdUser# </a:t>
            </a:r>
            <a:r>
              <a:rPr lang="en-US" sz="2200" b="0" u="none" strike="noStrike">
                <a:solidFill>
                  <a:srgbClr val="271811"/>
                </a:solidFill>
                <a:effectLst/>
                <a:uFillTx/>
                <a:latin typeface="JetBrains Mono"/>
              </a:rPr>
              <a:t>)</a:t>
            </a:r>
            <a:endParaRPr lang="en-US" sz="2200" b="0" u="none" strike="noStrike">
              <a:solidFill>
                <a:srgbClr val="000000"/>
              </a:solidFill>
              <a:effectLst/>
              <a:uFillTx/>
              <a:latin typeface="Arial"/>
            </a:endParaRPr>
          </a:p>
          <a:p>
            <a:pPr defTabSz="457200">
              <a:lnSpc>
                <a:spcPct val="100000"/>
              </a:lnSpc>
            </a:pPr>
            <a:br>
              <a:rPr sz="2200"/>
            </a:br>
            <a:r>
              <a:rPr lang="en-US" sz="2200" b="1" u="none" strike="noStrike">
                <a:solidFill>
                  <a:srgbClr val="271811"/>
                </a:solidFill>
                <a:effectLst/>
                <a:uFillTx/>
                <a:latin typeface="JetBrains Mono"/>
              </a:rPr>
              <a:t>PermissionGrants</a:t>
            </a:r>
            <a:r>
              <a:rPr lang="en-US" sz="2200" b="0" u="none" strike="noStrike">
                <a:solidFill>
                  <a:srgbClr val="271811"/>
                </a:solidFill>
                <a:effectLst/>
                <a:uFillTx/>
                <a:latin typeface="JetBrains Mono"/>
              </a:rPr>
              <a:t>(</a:t>
            </a:r>
            <a:r>
              <a:rPr lang="en-US" sz="2200" b="0" u="sng" strike="noStrike">
                <a:solidFill>
                  <a:srgbClr val="271811"/>
                </a:solidFill>
                <a:effectLst/>
                <a:uFillTx/>
                <a:latin typeface="JetBrains Mono"/>
              </a:rPr>
              <a:t>IdPermission# ,IdRole# ,IdUser# </a:t>
            </a:r>
            <a:r>
              <a:rPr lang="en-US" sz="2200" b="0" u="none" strike="noStrike">
                <a:solidFill>
                  <a:srgbClr val="271811"/>
                </a:solidFill>
                <a:effectLst/>
                <a:uFillTx/>
                <a:latin typeface="JetBrains Mono"/>
              </a:rPr>
              <a:t>)</a:t>
            </a:r>
            <a:br>
              <a:rPr sz="2200"/>
            </a:br>
            <a:r>
              <a:rPr lang="en-US" sz="2200" b="0" u="none" strike="noStrike">
                <a:solidFill>
                  <a:srgbClr val="271811"/>
                </a:solidFill>
                <a:effectLst/>
                <a:uFillTx/>
                <a:latin typeface="JetBrains Mono"/>
              </a:rPr>
              <a:t>    </a:t>
            </a:r>
            <a:endParaRPr lang="en-US" sz="2200" b="0" u="none" strike="noStrike">
              <a:solidFill>
                <a:srgbClr val="000000"/>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F0000"/>
        </a:solidFill>
      </p:bgPr>
    </p:bg>
    <p:spTree>
      <p:nvGrpSpPr>
        <p:cNvPr id="1" name=""/>
        <p:cNvGrpSpPr/>
        <p:nvPr/>
      </p:nvGrpSpPr>
      <p:grpSpPr>
        <a:xfrm>
          <a:off x="0" y="0"/>
          <a:ext cx="0" cy="0"/>
          <a:chOff x="0" y="0"/>
          <a:chExt cx="0" cy="0"/>
        </a:xfrm>
      </p:grpSpPr>
      <p:sp>
        <p:nvSpPr>
          <p:cNvPr id="254" name="Rectangle 1"/>
          <p:cNvSpPr/>
          <p:nvPr/>
        </p:nvSpPr>
        <p:spPr>
          <a:xfrm>
            <a:off x="1097280" y="1188720"/>
            <a:ext cx="1096920" cy="4536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720" rIns="90000" bIns="720" anchor="ctr">
            <a:noAutofit/>
          </a:bodyPr>
          <a:p>
            <a:pPr/>
            <a:endParaRPr lang="en-US" sz="1800" b="0" u="none" strike="noStrike">
              <a:solidFill>
                <a:schemeClr val="lt1"/>
              </a:solidFill>
              <a:effectLst/>
              <a:uFillTx/>
              <a:latin typeface="Calibri"/>
            </a:endParaRPr>
          </a:p>
        </p:txBody>
      </p:sp>
      <p:sp>
        <p:nvSpPr>
          <p:cNvPr id="255" name="TextBox 2"/>
          <p:cNvSpPr/>
          <p:nvPr/>
        </p:nvSpPr>
        <p:spPr>
          <a:xfrm>
            <a:off x="1097280" y="1463040"/>
            <a:ext cx="10058040" cy="177804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801"/>
              </a:spcAft>
            </a:pPr>
            <a:r>
              <a:rPr lang="en-US" sz="4400" b="1" u="none" strike="noStrike">
                <a:solidFill>
                  <a:srgbClr val="FFFFFF"/>
                </a:solidFill>
                <a:effectLst/>
                <a:uFillTx/>
                <a:latin typeface="JetBrains Mono"/>
              </a:rPr>
              <a:t>Réalisation</a:t>
            </a:r>
            <a:endParaRPr lang="en-US" sz="44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rPr>
              <a:t>•  </a:t>
            </a:r>
            <a:r>
              <a:rPr lang="en-US" sz="1700" b="1" u="none" strike="noStrike">
                <a:solidFill>
                  <a:srgbClr val="FFFFFF"/>
                </a:solidFill>
                <a:effectLst/>
                <a:uFillTx/>
                <a:latin typeface="JetBrains Mono"/>
              </a:rPr>
              <a:t>1 : </a:t>
            </a:r>
            <a:r>
              <a:rPr lang="en-US" sz="1600" b="0" u="none" strike="noStrike">
                <a:solidFill>
                  <a:srgbClr val="94A3B8"/>
                </a:solidFill>
                <a:effectLst/>
                <a:uFillTx/>
                <a:latin typeface="JetBrains Mono"/>
              </a:rPr>
              <a:t>Les Languages De Programmation</a:t>
            </a:r>
            <a:r>
              <a:rPr lang="en-US" sz="1600" b="1" u="none" strike="noStrike">
                <a:solidFill>
                  <a:srgbClr val="94A3B8"/>
                </a:solidFill>
                <a:effectLst/>
                <a:uFillTx/>
                <a:latin typeface="JetBrains Mono"/>
              </a:rPr>
              <a:t> et </a:t>
            </a:r>
            <a:r>
              <a:rPr lang="en-US" sz="1600" b="0" u="none" strike="noStrike">
                <a:solidFill>
                  <a:srgbClr val="94A3B8"/>
                </a:solidFill>
                <a:effectLst/>
                <a:uFillTx/>
                <a:latin typeface="JetBrains Mono"/>
              </a:rPr>
              <a:t>Le SGBD</a:t>
            </a:r>
            <a:endParaRPr lang="en-US" sz="16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rPr>
              <a:t>•  </a:t>
            </a:r>
            <a:r>
              <a:rPr lang="en-US" sz="1800" b="1" u="none" strike="noStrike">
                <a:solidFill>
                  <a:srgbClr val="F0F8FF"/>
                </a:solidFill>
                <a:effectLst/>
                <a:uFillTx/>
                <a:latin typeface="JetBrains Mono"/>
              </a:rPr>
              <a:t>2</a:t>
            </a:r>
            <a:r>
              <a:rPr lang="en-US" sz="1700" b="1" u="none" strike="noStrike">
                <a:solidFill>
                  <a:srgbClr val="FFFFFF"/>
                </a:solidFill>
                <a:effectLst/>
                <a:uFillTx/>
                <a:latin typeface="JetBrains Mono"/>
              </a:rPr>
              <a:t> : </a:t>
            </a:r>
            <a:r>
              <a:rPr lang="en-US" sz="1600" b="0" u="none" strike="noStrike">
                <a:solidFill>
                  <a:srgbClr val="94A3B8"/>
                </a:solidFill>
                <a:effectLst/>
                <a:uFillTx/>
                <a:latin typeface="JetBrains Mono"/>
              </a:rPr>
              <a:t>Les Captures D'Ecran</a:t>
            </a:r>
            <a:endParaRPr lang="en-US" sz="1600" b="0" u="none" strike="noStrike">
              <a:solidFill>
                <a:srgbClr val="FFFFFF"/>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56"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BILAN</a:t>
            </a:r>
            <a:endParaRPr lang="en-US" sz="1300" b="0" u="none" strike="noStrike">
              <a:solidFill>
                <a:srgbClr val="000000"/>
              </a:solidFill>
              <a:effectLst/>
              <a:uFillTx/>
              <a:latin typeface="Arial"/>
            </a:endParaRPr>
          </a:p>
        </p:txBody>
      </p:sp>
      <p:sp>
        <p:nvSpPr>
          <p:cNvPr id="257" name="TextBox 2"/>
          <p:cNvSpPr/>
          <p:nvPr/>
        </p:nvSpPr>
        <p:spPr>
          <a:xfrm>
            <a:off x="731520" y="96012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Les Languages et outils</a:t>
            </a:r>
            <a:endParaRPr lang="en-US" sz="3600" b="0" u="none" strike="noStrike">
              <a:solidFill>
                <a:srgbClr val="000000"/>
              </a:solidFill>
              <a:effectLst/>
              <a:uFillTx/>
              <a:latin typeface="Arial"/>
            </a:endParaRPr>
          </a:p>
        </p:txBody>
      </p:sp>
      <p:sp>
        <p:nvSpPr>
          <p:cNvPr id="258" name="Rectangle 3"/>
          <p:cNvSpPr/>
          <p:nvPr/>
        </p:nvSpPr>
        <p:spPr>
          <a:xfrm>
            <a:off x="731520" y="1920240"/>
            <a:ext cx="3383280" cy="42519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182880" rIns="274320" bIns="182880" anchor="b">
            <a:noAutofit/>
          </a:bodyPr>
          <a:p>
            <a:pPr algn="ctr" defTabSz="457200">
              <a:lnSpc>
                <a:spcPct val="100000"/>
              </a:lnSpc>
              <a:spcAft>
                <a:spcPts val="400"/>
              </a:spcAft>
            </a:pPr>
            <a:endParaRPr lang="en-US" sz="1200" b="1" u="none" strike="noStrike">
              <a:solidFill>
                <a:srgbClr val="000000"/>
              </a:solidFill>
              <a:effectLst/>
              <a:uFillTx/>
              <a:latin typeface="Arial"/>
            </a:endParaRPr>
          </a:p>
          <a:p>
            <a:pPr algn="ctr" defTabSz="457200">
              <a:lnSpc>
                <a:spcPct val="100000"/>
              </a:lnSpc>
              <a:spcAft>
                <a:spcPts val="601"/>
              </a:spcAft>
            </a:pPr>
            <a:r>
              <a:rPr lang="en-US" sz="1600" b="1" u="none" strike="noStrike">
                <a:solidFill>
                  <a:srgbClr val="271811"/>
                </a:solidFill>
                <a:effectLst/>
                <a:uFillTx/>
                <a:latin typeface="JetBrains Mono"/>
              </a:rPr>
              <a:t>ASP.NET Core</a:t>
            </a:r>
            <a:endParaRPr lang="en-US" sz="1600" b="1" u="none" strike="noStrike">
              <a:solidFill>
                <a:srgbClr val="000000"/>
              </a:solidFill>
              <a:effectLst/>
              <a:uFillTx/>
              <a:latin typeface="Arial"/>
            </a:endParaRPr>
          </a:p>
          <a:p>
            <a:pPr algn="ctr" defTabSz="457200">
              <a:lnSpc>
                <a:spcPct val="100000"/>
              </a:lnSpc>
            </a:pPr>
            <a:r>
              <a:rPr lang="en-US" sz="1250" b="1" u="none" strike="noStrike">
                <a:solidFill>
                  <a:srgbClr val="64748B"/>
                </a:solidFill>
                <a:effectLst/>
                <a:uFillTx/>
                <a:latin typeface="JetBrains Mono"/>
              </a:rPr>
              <a:t>un framework développé pour créer des applications web en C#.</a:t>
            </a:r>
            <a:endParaRPr lang="en-US" sz="1250" b="1" u="none" strike="noStrike">
              <a:solidFill>
                <a:srgbClr val="000000"/>
              </a:solidFill>
              <a:effectLst/>
              <a:uFillTx/>
              <a:latin typeface="Arial"/>
            </a:endParaRPr>
          </a:p>
        </p:txBody>
      </p:sp>
      <p:sp>
        <p:nvSpPr>
          <p:cNvPr id="259" name="Rectangle 4"/>
          <p:cNvSpPr/>
          <p:nvPr/>
        </p:nvSpPr>
        <p:spPr>
          <a:xfrm>
            <a:off x="731520" y="1920240"/>
            <a:ext cx="3383280" cy="9396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1" u="none" strike="noStrike">
              <a:solidFill>
                <a:schemeClr val="lt1"/>
              </a:solidFill>
              <a:effectLst/>
              <a:uFillTx/>
              <a:latin typeface="Calibri"/>
            </a:endParaRPr>
          </a:p>
        </p:txBody>
      </p:sp>
      <p:sp>
        <p:nvSpPr>
          <p:cNvPr id="260" name="Rectangle 5"/>
          <p:cNvSpPr/>
          <p:nvPr/>
        </p:nvSpPr>
        <p:spPr>
          <a:xfrm>
            <a:off x="4389120" y="1920240"/>
            <a:ext cx="3611880" cy="42519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182880" rIns="274320" bIns="182880" anchor="b">
            <a:noAutofit/>
          </a:bodyPr>
          <a:p>
            <a:pPr algn="ctr" defTabSz="457200">
              <a:lnSpc>
                <a:spcPct val="100000"/>
              </a:lnSpc>
              <a:spcAft>
                <a:spcPts val="400"/>
              </a:spcAft>
            </a:pPr>
            <a:endParaRPr lang="en-US" sz="1200" b="1" u="none" strike="noStrike">
              <a:solidFill>
                <a:srgbClr val="000000"/>
              </a:solidFill>
              <a:effectLst/>
              <a:uFillTx/>
              <a:latin typeface="Arial"/>
            </a:endParaRPr>
          </a:p>
          <a:p>
            <a:pPr algn="ctr" defTabSz="457200">
              <a:lnSpc>
                <a:spcPct val="100000"/>
              </a:lnSpc>
              <a:spcAft>
                <a:spcPts val="601"/>
              </a:spcAft>
            </a:pPr>
            <a:r>
              <a:rPr lang="en-US" sz="1600" b="1" u="none" strike="noStrike">
                <a:solidFill>
                  <a:srgbClr val="271811"/>
                </a:solidFill>
                <a:effectLst/>
                <a:uFillTx/>
                <a:latin typeface="JetBrains Mono"/>
              </a:rPr>
              <a:t>Angular</a:t>
            </a:r>
            <a:endParaRPr lang="en-US" sz="1600" b="1" u="none" strike="noStrike">
              <a:solidFill>
                <a:srgbClr val="000000"/>
              </a:solidFill>
              <a:effectLst/>
              <a:uFillTx/>
              <a:latin typeface="Arial"/>
            </a:endParaRPr>
          </a:p>
          <a:p>
            <a:pPr algn="ctr" defTabSz="457200">
              <a:lnSpc>
                <a:spcPct val="100000"/>
              </a:lnSpc>
            </a:pPr>
            <a:r>
              <a:rPr lang="en-US" sz="1250" b="1" u="none" strike="noStrike">
                <a:solidFill>
                  <a:srgbClr val="64748B"/>
                </a:solidFill>
                <a:effectLst/>
                <a:uFillTx/>
                <a:latin typeface="JetBrains Mono"/>
              </a:rPr>
              <a:t>un framework web frontend permettant de créer des SPA.</a:t>
            </a:r>
            <a:endParaRPr lang="en-US" sz="1250" b="1" u="none" strike="noStrike">
              <a:solidFill>
                <a:srgbClr val="000000"/>
              </a:solidFill>
              <a:effectLst/>
              <a:uFillTx/>
              <a:latin typeface="Arial"/>
            </a:endParaRPr>
          </a:p>
          <a:p>
            <a:pPr algn="ctr" defTabSz="457200">
              <a:lnSpc>
                <a:spcPct val="100000"/>
              </a:lnSpc>
            </a:pPr>
            <a:endParaRPr lang="en-US" sz="1250" b="1" u="none" strike="noStrike">
              <a:solidFill>
                <a:srgbClr val="000000"/>
              </a:solidFill>
              <a:effectLst/>
              <a:uFillTx/>
              <a:latin typeface="Arial"/>
            </a:endParaRPr>
          </a:p>
        </p:txBody>
      </p:sp>
      <p:sp>
        <p:nvSpPr>
          <p:cNvPr id="261" name="Rectangle 6"/>
          <p:cNvSpPr/>
          <p:nvPr/>
        </p:nvSpPr>
        <p:spPr>
          <a:xfrm>
            <a:off x="4389120" y="1920240"/>
            <a:ext cx="3611880" cy="9396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1" u="none" strike="noStrike">
              <a:solidFill>
                <a:schemeClr val="lt1"/>
              </a:solidFill>
              <a:effectLst/>
              <a:uFillTx/>
              <a:latin typeface="Calibri"/>
            </a:endParaRPr>
          </a:p>
        </p:txBody>
      </p:sp>
      <p:sp>
        <p:nvSpPr>
          <p:cNvPr id="262" name="Rectangle 7"/>
          <p:cNvSpPr/>
          <p:nvPr/>
        </p:nvSpPr>
        <p:spPr>
          <a:xfrm>
            <a:off x="8275320" y="1920240"/>
            <a:ext cx="3611880" cy="42519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182880" rIns="274320" bIns="182880" anchor="b">
            <a:noAutofit/>
          </a:bodyPr>
          <a:p>
            <a:pPr algn="ctr" defTabSz="457200">
              <a:lnSpc>
                <a:spcPct val="100000"/>
              </a:lnSpc>
              <a:spcAft>
                <a:spcPts val="400"/>
              </a:spcAft>
            </a:pPr>
            <a:endParaRPr lang="en-US" sz="1200" b="1" u="none" strike="noStrike">
              <a:solidFill>
                <a:srgbClr val="000000"/>
              </a:solidFill>
              <a:effectLst/>
              <a:uFillTx/>
              <a:latin typeface="Arial"/>
            </a:endParaRPr>
          </a:p>
          <a:p>
            <a:pPr algn="ctr" defTabSz="457200">
              <a:lnSpc>
                <a:spcPct val="100000"/>
              </a:lnSpc>
              <a:spcAft>
                <a:spcPts val="601"/>
              </a:spcAft>
            </a:pPr>
            <a:r>
              <a:rPr lang="en-US" sz="1600" b="1" u="none" strike="noStrike">
                <a:solidFill>
                  <a:srgbClr val="271811"/>
                </a:solidFill>
                <a:effectLst/>
                <a:uFillTx/>
                <a:latin typeface="JetBrains Mono"/>
              </a:rPr>
              <a:t>SQL </a:t>
            </a:r>
            <a:r>
              <a:rPr lang="en-US" sz="1600" b="1" u="none" strike="noStrike">
                <a:solidFill>
                  <a:srgbClr val="271811"/>
                </a:solidFill>
                <a:effectLst/>
                <a:uFillTx/>
                <a:latin typeface="JetBrains Mono"/>
              </a:rPr>
              <a:t>Server</a:t>
            </a:r>
            <a:endParaRPr lang="en-US" sz="1600" b="1" u="none" strike="noStrike">
              <a:solidFill>
                <a:srgbClr val="000000"/>
              </a:solidFill>
              <a:effectLst/>
              <a:uFillTx/>
              <a:latin typeface="Arial"/>
            </a:endParaRPr>
          </a:p>
          <a:p>
            <a:pPr algn="ctr" defTabSz="457200">
              <a:lnSpc>
                <a:spcPct val="100000"/>
              </a:lnSpc>
            </a:pPr>
            <a:r>
              <a:rPr lang="en-US" sz="1250" b="1" u="none" strike="noStrike">
                <a:solidFill>
                  <a:srgbClr val="64748B"/>
                </a:solidFill>
                <a:effectLst/>
                <a:uFillTx/>
                <a:latin typeface="JetBrains Mono"/>
              </a:rPr>
              <a:t>un SGBDR </a:t>
            </a:r>
            <a:r>
              <a:rPr lang="en-US" sz="1250" b="1" u="none" strike="noStrike">
                <a:solidFill>
                  <a:srgbClr val="64748B"/>
                </a:solidFill>
                <a:effectLst/>
                <a:uFillTx/>
                <a:latin typeface="JetBrains Mono"/>
              </a:rPr>
              <a:t>développé </a:t>
            </a:r>
            <a:r>
              <a:rPr lang="en-US" sz="1250" b="1" u="none" strike="noStrike">
                <a:solidFill>
                  <a:srgbClr val="64748B"/>
                </a:solidFill>
                <a:effectLst/>
                <a:uFillTx/>
                <a:latin typeface="JetBrains Mono"/>
              </a:rPr>
              <a:t>par </a:t>
            </a:r>
            <a:r>
              <a:rPr lang="en-US" sz="1250" b="1" u="none" strike="noStrike">
                <a:solidFill>
                  <a:srgbClr val="64748B"/>
                </a:solidFill>
                <a:effectLst/>
                <a:uFillTx/>
                <a:latin typeface="JetBrains Mono"/>
              </a:rPr>
              <a:t>Microsoft.</a:t>
            </a:r>
            <a:endParaRPr lang="en-US" sz="1250" b="1" u="none" strike="noStrike">
              <a:solidFill>
                <a:srgbClr val="000000"/>
              </a:solidFill>
              <a:effectLst/>
              <a:uFillTx/>
              <a:latin typeface="Arial"/>
            </a:endParaRPr>
          </a:p>
          <a:p>
            <a:pPr algn="ctr" defTabSz="457200">
              <a:lnSpc>
                <a:spcPct val="100000"/>
              </a:lnSpc>
            </a:pPr>
            <a:endParaRPr lang="en-US" sz="1250" b="1" u="none" strike="noStrike">
              <a:solidFill>
                <a:srgbClr val="000000"/>
              </a:solidFill>
              <a:effectLst/>
              <a:uFillTx/>
              <a:latin typeface="Arial"/>
            </a:endParaRPr>
          </a:p>
        </p:txBody>
      </p:sp>
      <p:sp>
        <p:nvSpPr>
          <p:cNvPr id="263" name="Rectangle 8"/>
          <p:cNvSpPr/>
          <p:nvPr/>
        </p:nvSpPr>
        <p:spPr>
          <a:xfrm>
            <a:off x="8275320" y="1920240"/>
            <a:ext cx="3611880" cy="9396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1" u="none" strike="noStrike">
              <a:solidFill>
                <a:schemeClr val="lt1"/>
              </a:solidFill>
              <a:effectLst/>
              <a:uFillTx/>
              <a:latin typeface="Calibri"/>
            </a:endParaRPr>
          </a:p>
        </p:txBody>
      </p:sp>
      <p:pic>
        <p:nvPicPr>
          <p:cNvPr id="264" name=""/>
          <p:cNvPicPr/>
          <p:nvPr/>
        </p:nvPicPr>
        <p:blipFill>
          <a:blip r:embed="rId1"/>
          <a:stretch/>
        </p:blipFill>
        <p:spPr>
          <a:xfrm>
            <a:off x="1371600" y="2331720"/>
            <a:ext cx="2240280" cy="2240280"/>
          </a:xfrm>
          <a:prstGeom prst="rect">
            <a:avLst/>
          </a:prstGeom>
          <a:noFill/>
          <a:ln w="38160">
            <a:noFill/>
          </a:ln>
        </p:spPr>
      </p:pic>
      <p:pic>
        <p:nvPicPr>
          <p:cNvPr id="265" name=""/>
          <p:cNvPicPr/>
          <p:nvPr/>
        </p:nvPicPr>
        <p:blipFill>
          <a:blip r:embed="rId2"/>
          <a:stretch/>
        </p:blipFill>
        <p:spPr>
          <a:xfrm>
            <a:off x="5029200" y="2242800"/>
            <a:ext cx="2276640" cy="2557800"/>
          </a:xfrm>
          <a:prstGeom prst="rect">
            <a:avLst/>
          </a:prstGeom>
          <a:noFill/>
          <a:ln w="38160">
            <a:noFill/>
          </a:ln>
        </p:spPr>
      </p:pic>
      <p:pic>
        <p:nvPicPr>
          <p:cNvPr id="266" name=""/>
          <p:cNvPicPr/>
          <p:nvPr/>
        </p:nvPicPr>
        <p:blipFill>
          <a:blip r:embed="rId3"/>
          <a:srcRect l="22311" t="10961" r="22819" b="32873"/>
          <a:stretch/>
        </p:blipFill>
        <p:spPr>
          <a:xfrm>
            <a:off x="8915400" y="2286000"/>
            <a:ext cx="2514240" cy="2573640"/>
          </a:xfrm>
          <a:prstGeom prst="rect">
            <a:avLst/>
          </a:prstGeom>
          <a:noFill/>
          <a:ln w="38160">
            <a:noFill/>
          </a:ln>
        </p:spPr>
      </p:pic>
    </p:spTree>
  </p:cSld>
  <mc:AlternateContent>
    <mc:Choice Requires="p14">
      <p:transition p14:dur="250">
        <p:fade thruBlk="true"/>
      </p:transition>
    </mc:Choice>
    <mc:Fallback>
      <p:transition>
        <p:fade thruBlk="true"/>
      </p:transition>
    </mc:Fallback>
  </mc:AlternateContent>
  <p:timing>
    <p:tnLst>
      <p:par>
        <p:cTn id="135" dur="indefinite" restart="never" nodeType="tmRoot">
          <p:childTnLst>
            <p:seq>
              <p:cTn id="136" dur="indefinite" nodeType="mainSeq">
                <p:childTnLst>
                  <p:par>
                    <p:cTn id="137" fill="hold">
                      <p:stCondLst>
                        <p:cond delay="indefinite"/>
                      </p:stCondLst>
                      <p:childTnLst>
                        <p:par>
                          <p:cTn id="138" fill="hold">
                            <p:stCondLst>
                              <p:cond delay="0"/>
                            </p:stCondLst>
                            <p:childTnLst>
                              <p:par>
                                <p:cTn id="139" presetID="1" presetClass="entr" fill="hold" nodeType="clickEffect">
                                  <p:stCondLst>
                                    <p:cond delay="0"/>
                                  </p:stCondLst>
                                  <p:childTnLst>
                                    <p:set>
                                      <p:cBhvr>
                                        <p:cTn id="140" dur="1" fill="hold">
                                          <p:stCondLst>
                                            <p:cond delay="0"/>
                                          </p:stCondLst>
                                        </p:cTn>
                                        <p:tgtEl>
                                          <p:spTgt spid="258"/>
                                        </p:tgtEl>
                                        <p:attrNameLst>
                                          <p:attrName>style.visibility</p:attrName>
                                        </p:attrNameLst>
                                      </p:cBhvr>
                                      <p:to>
                                        <p:strVal val="visible"/>
                                      </p:to>
                                    </p:set>
                                  </p:childTnLst>
                                </p:cTn>
                              </p:par>
                              <p:par>
                                <p:cTn id="141" presetID="1" presetClass="entr" fill="hold" nodeType="withEffect">
                                  <p:stCondLst>
                                    <p:cond delay="0"/>
                                  </p:stCondLst>
                                  <p:childTnLst>
                                    <p:set>
                                      <p:cBhvr>
                                        <p:cTn id="142" dur="1" fill="hold">
                                          <p:stCondLst>
                                            <p:cond delay="0"/>
                                          </p:stCondLst>
                                        </p:cTn>
                                        <p:tgtEl>
                                          <p:spTgt spid="259"/>
                                        </p:tgtEl>
                                        <p:attrNameLst>
                                          <p:attrName>style.visibility</p:attrName>
                                        </p:attrNameLst>
                                      </p:cBhvr>
                                      <p:to>
                                        <p:strVal val="visible"/>
                                      </p:to>
                                    </p:set>
                                  </p:childTnLst>
                                </p:cTn>
                              </p:par>
                              <p:par>
                                <p:cTn id="143" presetID="1" presetClass="entr" fill="hold" nodeType="withEffect">
                                  <p:stCondLst>
                                    <p:cond delay="0"/>
                                  </p:stCondLst>
                                  <p:childTnLst>
                                    <p:set>
                                      <p:cBhvr>
                                        <p:cTn id="144" dur="1" fill="hold">
                                          <p:stCondLst>
                                            <p:cond delay="0"/>
                                          </p:stCondLst>
                                        </p:cTn>
                                        <p:tgtEl>
                                          <p:spTgt spid="264"/>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fill="hold" nodeType="clickEffect">
                                  <p:stCondLst>
                                    <p:cond delay="0"/>
                                  </p:stCondLst>
                                  <p:childTnLst>
                                    <p:set>
                                      <p:cBhvr>
                                        <p:cTn id="148" dur="1" fill="hold">
                                          <p:stCondLst>
                                            <p:cond delay="0"/>
                                          </p:stCondLst>
                                        </p:cTn>
                                        <p:tgtEl>
                                          <p:spTgt spid="260"/>
                                        </p:tgtEl>
                                        <p:attrNameLst>
                                          <p:attrName>style.visibility</p:attrName>
                                        </p:attrNameLst>
                                      </p:cBhvr>
                                      <p:to>
                                        <p:strVal val="visible"/>
                                      </p:to>
                                    </p:set>
                                  </p:childTnLst>
                                </p:cTn>
                              </p:par>
                              <p:par>
                                <p:cTn id="149" presetID="1" presetClass="entr" fill="hold" nodeType="withEffect">
                                  <p:stCondLst>
                                    <p:cond delay="0"/>
                                  </p:stCondLst>
                                  <p:childTnLst>
                                    <p:set>
                                      <p:cBhvr>
                                        <p:cTn id="150" dur="1" fill="hold">
                                          <p:stCondLst>
                                            <p:cond delay="0"/>
                                          </p:stCondLst>
                                        </p:cTn>
                                        <p:tgtEl>
                                          <p:spTgt spid="261"/>
                                        </p:tgtEl>
                                        <p:attrNameLst>
                                          <p:attrName>style.visibility</p:attrName>
                                        </p:attrNameLst>
                                      </p:cBhvr>
                                      <p:to>
                                        <p:strVal val="visible"/>
                                      </p:to>
                                    </p:set>
                                  </p:childTnLst>
                                </p:cTn>
                              </p:par>
                              <p:par>
                                <p:cTn id="151" presetID="1" presetClass="entr" fill="hold" nodeType="withEffect">
                                  <p:stCondLst>
                                    <p:cond delay="0"/>
                                  </p:stCondLst>
                                  <p:childTnLst>
                                    <p:set>
                                      <p:cBhvr>
                                        <p:cTn id="152" dur="1" fill="hold">
                                          <p:stCondLst>
                                            <p:cond delay="0"/>
                                          </p:stCondLst>
                                        </p:cTn>
                                        <p:tgtEl>
                                          <p:spTgt spid="265"/>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fill="hold" nodeType="clickEffect">
                                  <p:stCondLst>
                                    <p:cond delay="0"/>
                                  </p:stCondLst>
                                  <p:childTnLst>
                                    <p:set>
                                      <p:cBhvr>
                                        <p:cTn id="156" dur="1" fill="hold">
                                          <p:stCondLst>
                                            <p:cond delay="0"/>
                                          </p:stCondLst>
                                        </p:cTn>
                                        <p:tgtEl>
                                          <p:spTgt spid="262"/>
                                        </p:tgtEl>
                                        <p:attrNameLst>
                                          <p:attrName>style.visibility</p:attrName>
                                        </p:attrNameLst>
                                      </p:cBhvr>
                                      <p:to>
                                        <p:strVal val="visible"/>
                                      </p:to>
                                    </p:set>
                                  </p:childTnLst>
                                </p:cTn>
                              </p:par>
                              <p:par>
                                <p:cTn id="157" presetID="1" presetClass="entr" fill="hold" nodeType="withEffect">
                                  <p:stCondLst>
                                    <p:cond delay="0"/>
                                  </p:stCondLst>
                                  <p:childTnLst>
                                    <p:set>
                                      <p:cBhvr>
                                        <p:cTn id="158" dur="1" fill="hold">
                                          <p:stCondLst>
                                            <p:cond delay="0"/>
                                          </p:stCondLst>
                                        </p:cTn>
                                        <p:tgtEl>
                                          <p:spTgt spid="263"/>
                                        </p:tgtEl>
                                        <p:attrNameLst>
                                          <p:attrName>style.visibility</p:attrName>
                                        </p:attrNameLst>
                                      </p:cBhvr>
                                      <p:to>
                                        <p:strVal val="visible"/>
                                      </p:to>
                                    </p:set>
                                  </p:childTnLst>
                                </p:cTn>
                              </p:par>
                              <p:par>
                                <p:cTn id="159" presetID="1" presetClass="entr" fill="hold" nodeType="withEffect">
                                  <p:stCondLst>
                                    <p:cond delay="0"/>
                                  </p:stCondLst>
                                  <p:childTnLst>
                                    <p:set>
                                      <p:cBhvr>
                                        <p:cTn id="160" dur="1" fill="hold">
                                          <p:stCondLst>
                                            <p:cond delay="0"/>
                                          </p:stCondLst>
                                        </p:cTn>
                                        <p:tgtEl>
                                          <p:spTgt spid="2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F0000"/>
        </a:solidFill>
      </p:bgPr>
    </p:bg>
    <p:spTree>
      <p:nvGrpSpPr>
        <p:cNvPr id="1" name=""/>
        <p:cNvGrpSpPr/>
        <p:nvPr/>
      </p:nvGrpSpPr>
      <p:grpSpPr>
        <a:xfrm>
          <a:off x="0" y="0"/>
          <a:ext cx="0" cy="0"/>
          <a:chOff x="0" y="0"/>
          <a:chExt cx="0" cy="0"/>
        </a:xfrm>
      </p:grpSpPr>
      <p:sp>
        <p:nvSpPr>
          <p:cNvPr id="267" name="Rectangle 1"/>
          <p:cNvSpPr/>
          <p:nvPr/>
        </p:nvSpPr>
        <p:spPr>
          <a:xfrm>
            <a:off x="1097280" y="1188720"/>
            <a:ext cx="1096920" cy="4536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720" rIns="90000" bIns="720" anchor="ctr">
            <a:noAutofit/>
          </a:bodyPr>
          <a:p>
            <a:pPr/>
            <a:endParaRPr lang="en-US" sz="1800" b="0" u="none" strike="noStrike">
              <a:solidFill>
                <a:schemeClr val="lt1"/>
              </a:solidFill>
              <a:effectLst/>
              <a:uFillTx/>
              <a:latin typeface="Calibri"/>
            </a:endParaRPr>
          </a:p>
        </p:txBody>
      </p:sp>
      <p:sp>
        <p:nvSpPr>
          <p:cNvPr id="268" name="TextBox 2"/>
          <p:cNvSpPr/>
          <p:nvPr/>
        </p:nvSpPr>
        <p:spPr>
          <a:xfrm>
            <a:off x="1097280" y="1463040"/>
            <a:ext cx="10058040" cy="4754520"/>
          </a:xfrm>
          <a:prstGeom prst="rect">
            <a:avLst/>
          </a:prstGeom>
          <a:noFill/>
          <a:ln w="0">
            <a:noFill/>
          </a:ln>
        </p:spPr>
        <p:style>
          <a:lnRef idx="0"/>
          <a:fillRef idx="0"/>
          <a:effectRef idx="0"/>
          <a:fontRef idx="minor"/>
        </p:style>
        <p:txBody>
          <a:bodyPr lIns="0" tIns="0" rIns="0" bIns="0" anchor="t">
            <a:spAutoFit/>
          </a:bodyPr>
          <a:p>
            <a:pPr algn="ctr" defTabSz="457200">
              <a:lnSpc>
                <a:spcPct val="100000"/>
              </a:lnSpc>
            </a:pPr>
            <a:r>
              <a:rPr lang="en-US" sz="4400" b="1" u="none" strike="noStrike">
                <a:solidFill>
                  <a:srgbClr val="FFFFFF"/>
                </a:solidFill>
                <a:effectLst/>
                <a:uFillTx/>
                <a:latin typeface="JetBrains Mono"/>
              </a:rPr>
              <a:t>Les Captures D'Ecran</a:t>
            </a:r>
            <a:endParaRPr lang="en-US" sz="4400" b="0" u="none" strike="noStrike">
              <a:solidFill>
                <a:srgbClr val="FFFFFF"/>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69"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Prospects</a:t>
            </a:r>
            <a:endParaRPr lang="en-US" sz="1300" b="0" u="none" strike="noStrike">
              <a:solidFill>
                <a:srgbClr val="000000"/>
              </a:solidFill>
              <a:effectLst/>
              <a:uFillTx/>
              <a:latin typeface="Arial"/>
            </a:endParaRPr>
          </a:p>
        </p:txBody>
      </p:sp>
      <p:sp>
        <p:nvSpPr>
          <p:cNvPr id="270" name="TextBox 2"/>
          <p:cNvSpPr/>
          <p:nvPr/>
        </p:nvSpPr>
        <p:spPr>
          <a:xfrm>
            <a:off x="731520" y="96012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La Qualification D'un Prospect</a:t>
            </a:r>
            <a:endParaRPr lang="en-US" sz="3600" b="0" u="none" strike="noStrike">
              <a:solidFill>
                <a:srgbClr val="000000"/>
              </a:solidFill>
              <a:effectLst/>
              <a:uFillTx/>
              <a:latin typeface="Arial"/>
            </a:endParaRPr>
          </a:p>
        </p:txBody>
      </p:sp>
      <p:pic>
        <p:nvPicPr>
          <p:cNvPr id="271" name="Picture 3" descr="qualifyingaprospect.png"/>
          <p:cNvPicPr/>
          <p:nvPr/>
        </p:nvPicPr>
        <p:blipFill>
          <a:blip r:embed="rId1"/>
          <a:stretch/>
        </p:blipFill>
        <p:spPr>
          <a:xfrm>
            <a:off x="1828800" y="1920240"/>
            <a:ext cx="8558280" cy="475452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72"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Prospects</a:t>
            </a:r>
            <a:endParaRPr lang="en-US" sz="1300" b="0" u="none" strike="noStrike">
              <a:solidFill>
                <a:srgbClr val="000000"/>
              </a:solidFill>
              <a:effectLst/>
              <a:uFillTx/>
              <a:latin typeface="Arial"/>
            </a:endParaRPr>
          </a:p>
        </p:txBody>
      </p:sp>
      <p:sp>
        <p:nvSpPr>
          <p:cNvPr id="273" name="TextBox 2"/>
          <p:cNvSpPr/>
          <p:nvPr/>
        </p:nvSpPr>
        <p:spPr>
          <a:xfrm>
            <a:off x="731520" y="96012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La Conversion D'un Prospect</a:t>
            </a:r>
            <a:endParaRPr lang="en-US" sz="3600" b="0" u="none" strike="noStrike">
              <a:solidFill>
                <a:srgbClr val="000000"/>
              </a:solidFill>
              <a:effectLst/>
              <a:uFillTx/>
              <a:latin typeface="Arial"/>
            </a:endParaRPr>
          </a:p>
        </p:txBody>
      </p:sp>
      <p:pic>
        <p:nvPicPr>
          <p:cNvPr id="274" name="Picture 3" descr="convertingaprospect.png"/>
          <p:cNvPicPr/>
          <p:nvPr/>
        </p:nvPicPr>
        <p:blipFill>
          <a:blip r:embed="rId1"/>
          <a:stretch/>
        </p:blipFill>
        <p:spPr>
          <a:xfrm>
            <a:off x="1828800" y="1920240"/>
            <a:ext cx="8558280" cy="475452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75"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Opportunites</a:t>
            </a:r>
            <a:endParaRPr lang="en-US" sz="1300" b="0" u="none" strike="noStrike">
              <a:solidFill>
                <a:srgbClr val="000000"/>
              </a:solidFill>
              <a:effectLst/>
              <a:uFillTx/>
              <a:latin typeface="Arial"/>
            </a:endParaRPr>
          </a:p>
        </p:txBody>
      </p:sp>
      <p:sp>
        <p:nvSpPr>
          <p:cNvPr id="276" name="TextBox 2"/>
          <p:cNvSpPr/>
          <p:nvPr/>
        </p:nvSpPr>
        <p:spPr>
          <a:xfrm>
            <a:off x="731520" y="96012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Le Cloture D'Une Oppotunite</a:t>
            </a:r>
            <a:endParaRPr lang="en-US" sz="3600" b="0" u="none" strike="noStrike">
              <a:solidFill>
                <a:srgbClr val="000000"/>
              </a:solidFill>
              <a:effectLst/>
              <a:uFillTx/>
              <a:latin typeface="Arial"/>
            </a:endParaRPr>
          </a:p>
        </p:txBody>
      </p:sp>
      <p:pic>
        <p:nvPicPr>
          <p:cNvPr id="277" name="Picture 3" descr="closinganopportunity.png"/>
          <p:cNvPicPr/>
          <p:nvPr/>
        </p:nvPicPr>
        <p:blipFill>
          <a:blip r:embed="rId1"/>
          <a:stretch/>
        </p:blipFill>
        <p:spPr>
          <a:xfrm>
            <a:off x="1828800" y="1920240"/>
            <a:ext cx="8558280" cy="475452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78"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Campagnes</a:t>
            </a:r>
            <a:endParaRPr lang="en-US" sz="1300" b="0" u="none" strike="noStrike">
              <a:solidFill>
                <a:srgbClr val="000000"/>
              </a:solidFill>
              <a:effectLst/>
              <a:uFillTx/>
              <a:latin typeface="Arial"/>
            </a:endParaRPr>
          </a:p>
        </p:txBody>
      </p:sp>
      <p:sp>
        <p:nvSpPr>
          <p:cNvPr id="279" name="TextBox 2"/>
          <p:cNvSpPr/>
          <p:nvPr/>
        </p:nvSpPr>
        <p:spPr>
          <a:xfrm>
            <a:off x="731520" y="96012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L'analytique D'Une Campagne</a:t>
            </a:r>
            <a:endParaRPr lang="en-US" sz="3600" b="0" u="none" strike="noStrike">
              <a:solidFill>
                <a:srgbClr val="000000"/>
              </a:solidFill>
              <a:effectLst/>
              <a:uFillTx/>
              <a:latin typeface="Arial"/>
            </a:endParaRPr>
          </a:p>
        </p:txBody>
      </p:sp>
      <p:pic>
        <p:nvPicPr>
          <p:cNvPr id="280" name="Picture 3" descr="campagne.png"/>
          <p:cNvPicPr/>
          <p:nvPr/>
        </p:nvPicPr>
        <p:blipFill>
          <a:blip r:embed="rId1"/>
          <a:stretch/>
        </p:blipFill>
        <p:spPr>
          <a:xfrm>
            <a:off x="1828800" y="1920240"/>
            <a:ext cx="8558280" cy="4754520"/>
          </a:xfrm>
          <a:prstGeom prst="rect">
            <a:avLst/>
          </a:prstGeom>
          <a:noFill/>
          <a:ln w="0">
            <a:noFill/>
          </a:ln>
        </p:spPr>
      </p:pic>
    </p:spTree>
  </p:cSld>
  <mc:AlternateContent>
    <mc:Choice Requires="p14">
      <p:transition p14:dur="250">
        <p:fade thruBlk="true"/>
      </p:transition>
    </mc:Choice>
    <mc:Fallback>
      <p:transition>
        <p:fade thruBlk="tru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F0000"/>
        </a:solidFill>
      </p:bgPr>
    </p:bg>
    <p:spTree>
      <p:nvGrpSpPr>
        <p:cNvPr id="1" name=""/>
        <p:cNvGrpSpPr/>
        <p:nvPr/>
      </p:nvGrpSpPr>
      <p:grpSpPr>
        <a:xfrm>
          <a:off x="0" y="0"/>
          <a:ext cx="0" cy="0"/>
          <a:chOff x="0" y="0"/>
          <a:chExt cx="0" cy="0"/>
        </a:xfrm>
      </p:grpSpPr>
      <p:sp>
        <p:nvSpPr>
          <p:cNvPr id="281" name="Rectangle 1"/>
          <p:cNvSpPr/>
          <p:nvPr/>
        </p:nvSpPr>
        <p:spPr>
          <a:xfrm>
            <a:off x="1097280" y="1188720"/>
            <a:ext cx="1096920" cy="4536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720" rIns="90000" bIns="720" anchor="ctr">
            <a:noAutofit/>
          </a:bodyPr>
          <a:p>
            <a:pPr/>
            <a:endParaRPr lang="en-US" sz="1800" b="0" u="none" strike="noStrike">
              <a:solidFill>
                <a:schemeClr val="lt1"/>
              </a:solidFill>
              <a:effectLst/>
              <a:uFillTx/>
              <a:latin typeface="Calibri"/>
            </a:endParaRPr>
          </a:p>
        </p:txBody>
      </p:sp>
      <p:sp>
        <p:nvSpPr>
          <p:cNvPr id="282" name="TextBox 2"/>
          <p:cNvSpPr/>
          <p:nvPr/>
        </p:nvSpPr>
        <p:spPr>
          <a:xfrm>
            <a:off x="1097280" y="1463040"/>
            <a:ext cx="10058040" cy="475452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2801"/>
              </a:spcAft>
            </a:pPr>
            <a:r>
              <a:rPr lang="en-US" sz="4400" b="1" u="none" strike="noStrike">
                <a:solidFill>
                  <a:srgbClr val="FFFFFF"/>
                </a:solidFill>
                <a:effectLst/>
                <a:uFillTx/>
                <a:latin typeface="JetBrains Mono"/>
              </a:rPr>
              <a:t>Conclusion</a:t>
            </a:r>
            <a:endParaRPr lang="en-US" sz="44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rPr>
              <a:t>•  </a:t>
            </a:r>
            <a:r>
              <a:rPr lang="en-US" sz="1700" b="1" u="none" strike="noStrike">
                <a:solidFill>
                  <a:srgbClr val="FFFFFF"/>
                </a:solidFill>
                <a:effectLst/>
                <a:uFillTx/>
                <a:latin typeface="JetBrains Mono"/>
              </a:rPr>
              <a:t>1 : </a:t>
            </a:r>
            <a:r>
              <a:rPr lang="en-US" sz="1600" b="0" u="none" strike="noStrike">
                <a:solidFill>
                  <a:srgbClr val="94A3B8"/>
                </a:solidFill>
                <a:effectLst/>
                <a:uFillTx/>
                <a:latin typeface="JetBrains Mono"/>
              </a:rPr>
              <a:t>Ce que ce projet apporte</a:t>
            </a:r>
            <a:endParaRPr lang="en-US" sz="16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rPr>
              <a:t>•  </a:t>
            </a:r>
            <a:r>
              <a:rPr lang="en-US" sz="1700" b="1" u="none" strike="noStrike">
                <a:solidFill>
                  <a:srgbClr val="FFFFFF"/>
                </a:solidFill>
                <a:effectLst/>
                <a:uFillTx/>
                <a:latin typeface="JetBrains Mono"/>
              </a:rPr>
              <a:t>2 : </a:t>
            </a:r>
            <a:r>
              <a:rPr lang="en-US" sz="1600" b="0" u="none" strike="noStrike">
                <a:solidFill>
                  <a:srgbClr val="94A3B8"/>
                </a:solidFill>
                <a:effectLst/>
                <a:uFillTx/>
                <a:latin typeface="JetBrains Mono"/>
              </a:rPr>
              <a:t>Difficultés rencontrées</a:t>
            </a:r>
            <a:endParaRPr lang="en-US" sz="1600" b="0" u="none" strike="noStrike">
              <a:solidFill>
                <a:srgbClr val="FFFFFF"/>
              </a:solidFill>
              <a:effectLst/>
              <a:uFillTx/>
              <a:latin typeface="Arial"/>
            </a:endParaRPr>
          </a:p>
          <a:p>
            <a:pPr defTabSz="457200">
              <a:lnSpc>
                <a:spcPct val="100000"/>
              </a:lnSpc>
              <a:spcAft>
                <a:spcPts val="1599"/>
              </a:spcAft>
            </a:pPr>
            <a:r>
              <a:rPr lang="en-US" sz="1800" b="1" u="none" strike="noStrike">
                <a:solidFill>
                  <a:srgbClr val="EB0025"/>
                </a:solidFill>
                <a:effectLst/>
                <a:uFillTx/>
                <a:latin typeface="JetBrains Mono"/>
              </a:rPr>
              <a:t>•  </a:t>
            </a:r>
            <a:r>
              <a:rPr lang="en-US" sz="1700" b="1" u="none" strike="noStrike">
                <a:solidFill>
                  <a:srgbClr val="FFFFFF"/>
                </a:solidFill>
                <a:effectLst/>
                <a:uFillTx/>
                <a:latin typeface="JetBrains Mono"/>
              </a:rPr>
              <a:t>3 : </a:t>
            </a:r>
            <a:r>
              <a:rPr lang="en-US" sz="1600" b="0" u="none" strike="noStrike">
                <a:solidFill>
                  <a:srgbClr val="94A3B8"/>
                </a:solidFill>
                <a:effectLst/>
                <a:uFillTx/>
                <a:latin typeface="JetBrains Mono"/>
              </a:rPr>
              <a:t>Prespective Futur</a:t>
            </a:r>
            <a:endParaRPr lang="en-US" sz="1600" b="0" u="none" strike="noStrike">
              <a:solidFill>
                <a:srgbClr val="FFFFFF"/>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83"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CONCLUSION</a:t>
            </a:r>
            <a:endParaRPr lang="en-US" sz="1300" b="0" u="none" strike="noStrike">
              <a:solidFill>
                <a:srgbClr val="000000"/>
              </a:solidFill>
              <a:effectLst/>
              <a:uFillTx/>
              <a:latin typeface="Arial"/>
            </a:endParaRPr>
          </a:p>
        </p:txBody>
      </p:sp>
      <p:sp>
        <p:nvSpPr>
          <p:cNvPr id="284" name="TextBox 2"/>
          <p:cNvSpPr/>
          <p:nvPr/>
        </p:nvSpPr>
        <p:spPr>
          <a:xfrm>
            <a:off x="731520" y="100584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Ce que ce projet apporte</a:t>
            </a:r>
            <a:endParaRPr lang="en-US" sz="3600" b="0" u="none" strike="noStrike">
              <a:solidFill>
                <a:srgbClr val="000000"/>
              </a:solidFill>
              <a:effectLst/>
              <a:uFillTx/>
              <a:latin typeface="Arial"/>
            </a:endParaRPr>
          </a:p>
        </p:txBody>
      </p:sp>
      <p:sp>
        <p:nvSpPr>
          <p:cNvPr id="285" name="Rectangle 3"/>
          <p:cNvSpPr/>
          <p:nvPr/>
        </p:nvSpPr>
        <p:spPr>
          <a:xfrm>
            <a:off x="731520" y="2011680"/>
            <a:ext cx="3291480" cy="13320"/>
          </a:xfrm>
          <a:prstGeom prst="rect">
            <a:avLst/>
          </a:prstGeom>
          <a:solidFill>
            <a:srgbClr val="64748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1320" rIns="90000" bIns="-31320" anchor="ctr">
            <a:noAutofit/>
          </a:bodyPr>
          <a:p>
            <a:pPr/>
            <a:endParaRPr lang="en-US" sz="1800" b="0" u="none" strike="noStrike">
              <a:solidFill>
                <a:schemeClr val="lt1"/>
              </a:solidFill>
              <a:effectLst/>
              <a:uFillTx/>
              <a:latin typeface="Calibri"/>
            </a:endParaRPr>
          </a:p>
        </p:txBody>
      </p:sp>
      <p:sp>
        <p:nvSpPr>
          <p:cNvPr id="286" name="TextBox 4"/>
          <p:cNvSpPr/>
          <p:nvPr/>
        </p:nvSpPr>
        <p:spPr>
          <a:xfrm>
            <a:off x="731520" y="2194560"/>
            <a:ext cx="3291480" cy="16455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1001"/>
              </a:spcAft>
            </a:pPr>
            <a:r>
              <a:rPr lang="en-US" sz="1200" b="0" u="none" strike="noStrike">
                <a:solidFill>
                  <a:srgbClr val="475569"/>
                </a:solidFill>
                <a:effectLst/>
                <a:uFillTx/>
                <a:latin typeface="JetBrains Mono"/>
              </a:rPr>
              <a:t>CHERCHÉ À FAIRE</a:t>
            </a:r>
            <a:endParaRPr lang="en-US" sz="1200" b="0" u="none" strike="noStrike">
              <a:solidFill>
                <a:srgbClr val="000000"/>
              </a:solidFill>
              <a:effectLst/>
              <a:uFillTx/>
              <a:latin typeface="Arial"/>
            </a:endParaRPr>
          </a:p>
          <a:p>
            <a:pPr defTabSz="457200">
              <a:lnSpc>
                <a:spcPct val="100000"/>
              </a:lnSpc>
            </a:pPr>
            <a:r>
              <a:rPr lang="en-US" sz="1350" b="0" u="none" strike="noStrike">
                <a:solidFill>
                  <a:srgbClr val="271811"/>
                </a:solidFill>
                <a:effectLst/>
                <a:uFillTx/>
                <a:latin typeface="JetBrains Mono"/>
              </a:rPr>
              <a:t>Doter UniFlow-Suite d'un CRM moderne, sécurisé et évolutif, hébergeable en Algérie</a:t>
            </a:r>
            <a:endParaRPr lang="en-US" sz="1350" b="0" u="none" strike="noStrike">
              <a:solidFill>
                <a:srgbClr val="000000"/>
              </a:solidFill>
              <a:effectLst/>
              <a:uFillTx/>
              <a:latin typeface="Arial"/>
            </a:endParaRPr>
          </a:p>
        </p:txBody>
      </p:sp>
      <p:sp>
        <p:nvSpPr>
          <p:cNvPr id="287" name="Rectangle 5"/>
          <p:cNvSpPr/>
          <p:nvPr/>
        </p:nvSpPr>
        <p:spPr>
          <a:xfrm>
            <a:off x="731520" y="3749040"/>
            <a:ext cx="1371240" cy="2700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p>
            <a:pPr/>
            <a:endParaRPr lang="en-US" sz="1800" b="0" u="none" strike="noStrike">
              <a:solidFill>
                <a:schemeClr val="lt1"/>
              </a:solidFill>
              <a:effectLst/>
              <a:uFillTx/>
              <a:latin typeface="Calibri"/>
            </a:endParaRPr>
          </a:p>
        </p:txBody>
      </p:sp>
      <p:sp>
        <p:nvSpPr>
          <p:cNvPr id="288" name="Rectangle 6"/>
          <p:cNvSpPr/>
          <p:nvPr/>
        </p:nvSpPr>
        <p:spPr>
          <a:xfrm>
            <a:off x="4389120" y="2011680"/>
            <a:ext cx="3291480" cy="13320"/>
          </a:xfrm>
          <a:prstGeom prst="rect">
            <a:avLst/>
          </a:prstGeom>
          <a:solidFill>
            <a:srgbClr val="64748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1320" rIns="90000" bIns="-31320" anchor="ctr">
            <a:noAutofit/>
          </a:bodyPr>
          <a:p>
            <a:pPr/>
            <a:endParaRPr lang="en-US" sz="1800" b="0" u="none" strike="noStrike">
              <a:solidFill>
                <a:schemeClr val="lt1"/>
              </a:solidFill>
              <a:effectLst/>
              <a:uFillTx/>
              <a:latin typeface="Calibri"/>
            </a:endParaRPr>
          </a:p>
        </p:txBody>
      </p:sp>
      <p:sp>
        <p:nvSpPr>
          <p:cNvPr id="289" name="TextBox 7"/>
          <p:cNvSpPr/>
          <p:nvPr/>
        </p:nvSpPr>
        <p:spPr>
          <a:xfrm>
            <a:off x="4389120" y="2194560"/>
            <a:ext cx="3291480" cy="16455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1001"/>
              </a:spcAft>
            </a:pPr>
            <a:r>
              <a:rPr lang="en-US" sz="1200" b="0" u="none" strike="noStrike">
                <a:solidFill>
                  <a:srgbClr val="475569"/>
                </a:solidFill>
                <a:effectLst/>
                <a:uFillTx/>
                <a:latin typeface="JetBrains Mono"/>
              </a:rPr>
              <a:t>RÉALISÉ</a:t>
            </a:r>
            <a:endParaRPr lang="en-US" sz="1200" b="0" u="none" strike="noStrike">
              <a:solidFill>
                <a:srgbClr val="000000"/>
              </a:solidFill>
              <a:effectLst/>
              <a:uFillTx/>
              <a:latin typeface="Arial"/>
            </a:endParaRPr>
          </a:p>
          <a:p>
            <a:pPr defTabSz="457200">
              <a:lnSpc>
                <a:spcPct val="100000"/>
              </a:lnSpc>
            </a:pPr>
            <a:r>
              <a:rPr lang="en-US" sz="1350" b="0" u="none" strike="noStrike">
                <a:solidFill>
                  <a:srgbClr val="271811"/>
                </a:solidFill>
                <a:effectLst/>
                <a:uFillTx/>
                <a:latin typeface="JetBrains Mono"/>
              </a:rPr>
              <a:t>Une application web complète couvrant le cycle commercial, les activités, l'audit et les analytiques</a:t>
            </a:r>
            <a:endParaRPr lang="en-US" sz="1350" b="0" u="none" strike="noStrike">
              <a:solidFill>
                <a:srgbClr val="000000"/>
              </a:solidFill>
              <a:effectLst/>
              <a:uFillTx/>
              <a:latin typeface="Arial"/>
            </a:endParaRPr>
          </a:p>
        </p:txBody>
      </p:sp>
      <p:sp>
        <p:nvSpPr>
          <p:cNvPr id="290" name="Rectangle 8"/>
          <p:cNvSpPr/>
          <p:nvPr/>
        </p:nvSpPr>
        <p:spPr>
          <a:xfrm>
            <a:off x="8046720" y="2011680"/>
            <a:ext cx="3291480" cy="1332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1320" rIns="90000" bIns="-31320" anchor="ctr">
            <a:noAutofit/>
          </a:bodyPr>
          <a:p>
            <a:pPr/>
            <a:endParaRPr lang="en-US" sz="1800" b="0" u="none" strike="noStrike">
              <a:solidFill>
                <a:schemeClr val="lt1"/>
              </a:solidFill>
              <a:effectLst/>
              <a:uFillTx/>
              <a:latin typeface="Calibri"/>
            </a:endParaRPr>
          </a:p>
        </p:txBody>
      </p:sp>
      <p:sp>
        <p:nvSpPr>
          <p:cNvPr id="291" name="TextBox 9"/>
          <p:cNvSpPr/>
          <p:nvPr/>
        </p:nvSpPr>
        <p:spPr>
          <a:xfrm>
            <a:off x="8046720" y="2194560"/>
            <a:ext cx="3291480" cy="164556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1001"/>
              </a:spcAft>
            </a:pPr>
            <a:r>
              <a:rPr lang="en-US" sz="1200" b="0" u="none" strike="noStrike">
                <a:solidFill>
                  <a:srgbClr val="EB0025"/>
                </a:solidFill>
                <a:effectLst/>
                <a:uFillTx/>
                <a:latin typeface="JetBrains Mono"/>
              </a:rPr>
              <a:t>OBTENU</a:t>
            </a:r>
            <a:endParaRPr lang="en-US" sz="1200" b="0" u="none" strike="noStrike">
              <a:solidFill>
                <a:srgbClr val="000000"/>
              </a:solidFill>
              <a:effectLst/>
              <a:uFillTx/>
              <a:latin typeface="Arial"/>
            </a:endParaRPr>
          </a:p>
          <a:p>
            <a:pPr defTabSz="457200">
              <a:lnSpc>
                <a:spcPct val="100000"/>
              </a:lnSpc>
            </a:pPr>
            <a:r>
              <a:rPr lang="en-US" sz="1350" b="0" u="none" strike="noStrike">
                <a:solidFill>
                  <a:srgbClr val="271811"/>
                </a:solidFill>
                <a:effectLst/>
                <a:uFillTx/>
                <a:latin typeface="JetBrains Mono"/>
              </a:rPr>
              <a:t>Quatre objectifs techniques atteints et démontrables, objectifs métier outillés</a:t>
            </a:r>
            <a:endParaRPr lang="en-US" sz="1350" b="0" u="none" strike="noStrike">
              <a:solidFill>
                <a:srgbClr val="000000"/>
              </a:solidFill>
              <a:effectLst/>
              <a:uFillTx/>
              <a:latin typeface="Arial"/>
            </a:endParaRPr>
          </a:p>
        </p:txBody>
      </p:sp>
      <p:sp>
        <p:nvSpPr>
          <p:cNvPr id="292" name="TextBox 10"/>
          <p:cNvSpPr/>
          <p:nvPr/>
        </p:nvSpPr>
        <p:spPr>
          <a:xfrm>
            <a:off x="731520" y="4206240"/>
            <a:ext cx="10515240" cy="1462680"/>
          </a:xfrm>
          <a:prstGeom prst="rect">
            <a:avLst/>
          </a:prstGeom>
          <a:noFill/>
          <a:ln w="0">
            <a:noFill/>
          </a:ln>
        </p:spPr>
        <p:style>
          <a:lnRef idx="0"/>
          <a:fillRef idx="0"/>
          <a:effectRef idx="0"/>
          <a:fontRef idx="minor"/>
        </p:style>
        <p:txBody>
          <a:bodyPr lIns="0" tIns="0" rIns="0" bIns="0" anchor="t">
            <a:spAutoFit/>
          </a:bodyPr>
          <a:p>
            <a:pPr defTabSz="457200">
              <a:lnSpc>
                <a:spcPct val="100000"/>
              </a:lnSpc>
            </a:pPr>
            <a:r>
              <a:rPr lang="en-US" sz="2200" b="0" u="none" strike="noStrike">
                <a:solidFill>
                  <a:srgbClr val="271811"/>
                </a:solidFill>
                <a:effectLst/>
                <a:uFillTx/>
                <a:latin typeface="JetBrains Mono"/>
              </a:rPr>
              <a:t>Valeur ajoutée : un module intégré à un écosystème existant, hébergé en Algérie, porté par une architecture qui absorbera les évolutions sans être réécrite.</a:t>
            </a:r>
            <a:endParaRPr lang="en-US" sz="2200" b="0" u="none" strike="noStrike">
              <a:solidFill>
                <a:srgbClr val="000000"/>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93"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BILAN</a:t>
            </a:r>
            <a:endParaRPr lang="en-US" sz="1300" b="0" u="none" strike="noStrike">
              <a:solidFill>
                <a:srgbClr val="000000"/>
              </a:solidFill>
              <a:effectLst/>
              <a:uFillTx/>
              <a:latin typeface="Arial"/>
            </a:endParaRPr>
          </a:p>
        </p:txBody>
      </p:sp>
      <p:sp>
        <p:nvSpPr>
          <p:cNvPr id="294" name="TextBox 2"/>
          <p:cNvSpPr/>
          <p:nvPr/>
        </p:nvSpPr>
        <p:spPr>
          <a:xfrm>
            <a:off x="731520" y="96012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800" b="1" u="none" strike="noStrike">
                <a:solidFill>
                  <a:srgbClr val="271811"/>
                </a:solidFill>
                <a:effectLst/>
                <a:uFillTx/>
                <a:latin typeface="JetBrains Mono"/>
              </a:rPr>
              <a:t>Difficultés rencontrées </a:t>
            </a:r>
            <a:endParaRPr lang="en-US" sz="1800" b="0" u="none" strike="noStrike">
              <a:solidFill>
                <a:srgbClr val="000000"/>
              </a:solidFill>
              <a:effectLst/>
              <a:uFillTx/>
              <a:latin typeface="Arial"/>
            </a:endParaRPr>
          </a:p>
        </p:txBody>
      </p:sp>
      <p:sp>
        <p:nvSpPr>
          <p:cNvPr id="295" name="TextBox 3"/>
          <p:cNvSpPr/>
          <p:nvPr/>
        </p:nvSpPr>
        <p:spPr>
          <a:xfrm>
            <a:off x="731520" y="2845800"/>
            <a:ext cx="5178600" cy="149760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799"/>
              </a:spcAft>
            </a:pPr>
            <a:r>
              <a:rPr lang="en-US" sz="1500" b="0" u="none" strike="noStrike">
                <a:solidFill>
                  <a:srgbClr val="EB0025"/>
                </a:solidFill>
                <a:effectLst/>
                <a:uFillTx/>
                <a:latin typeface="JetBrains Mono"/>
              </a:rPr>
              <a:t>Difficulté 1</a:t>
            </a:r>
            <a:endParaRPr lang="en-US" sz="1500" b="0" u="none" strike="noStrike">
              <a:solidFill>
                <a:srgbClr val="000000"/>
              </a:solidFill>
              <a:effectLst/>
              <a:uFillTx/>
              <a:latin typeface="Arial"/>
            </a:endParaRPr>
          </a:p>
          <a:p>
            <a:pPr defTabSz="457200">
              <a:lnSpc>
                <a:spcPct val="100000"/>
              </a:lnSpc>
              <a:spcAft>
                <a:spcPts val="799"/>
              </a:spcAft>
            </a:pPr>
            <a:r>
              <a:rPr lang="en-US" sz="2200" b="1" u="none" strike="noStrike">
                <a:solidFill>
                  <a:srgbClr val="271811"/>
                </a:solidFill>
                <a:effectLst/>
                <a:uFillTx/>
                <a:latin typeface="JetBrains Mono"/>
              </a:rPr>
              <a:t>Apprendre le stack</a:t>
            </a:r>
            <a:endParaRPr lang="en-US" sz="2200" b="0" u="none" strike="noStrike">
              <a:solidFill>
                <a:srgbClr val="000000"/>
              </a:solidFill>
              <a:effectLst/>
              <a:uFillTx/>
              <a:latin typeface="Arial"/>
            </a:endParaRPr>
          </a:p>
          <a:p>
            <a:pPr defTabSz="457200">
              <a:lnSpc>
                <a:spcPct val="100000"/>
              </a:lnSpc>
            </a:pPr>
            <a:r>
              <a:rPr lang="en-US" sz="1600" b="0" u="none" strike="noStrike">
                <a:solidFill>
                  <a:srgbClr val="64748B"/>
                </a:solidFill>
                <a:effectLst/>
                <a:uFillTx/>
                <a:latin typeface="JetBrains Mono"/>
              </a:rPr>
              <a:t>ITcomp a utilisé ABP et Angular, deux frameworks que j'ai dû apprendre pour réaliser le projet.</a:t>
            </a:r>
            <a:endParaRPr lang="en-US" sz="1600" b="0" u="none" strike="noStrike">
              <a:solidFill>
                <a:srgbClr val="000000"/>
              </a:solidFill>
              <a:effectLst/>
              <a:uFillTx/>
              <a:latin typeface="Arial"/>
            </a:endParaRPr>
          </a:p>
        </p:txBody>
      </p:sp>
      <p:sp>
        <p:nvSpPr>
          <p:cNvPr id="296" name="TextBox 4"/>
          <p:cNvSpPr/>
          <p:nvPr/>
        </p:nvSpPr>
        <p:spPr>
          <a:xfrm>
            <a:off x="6480000" y="2845800"/>
            <a:ext cx="5178600" cy="1497600"/>
          </a:xfrm>
          <a:prstGeom prst="rect">
            <a:avLst/>
          </a:prstGeom>
          <a:noFill/>
          <a:ln w="0">
            <a:noFill/>
          </a:ln>
        </p:spPr>
        <p:style>
          <a:lnRef idx="0"/>
          <a:fillRef idx="0"/>
          <a:effectRef idx="0"/>
          <a:fontRef idx="minor"/>
        </p:style>
        <p:txBody>
          <a:bodyPr lIns="0" tIns="0" rIns="0" bIns="0" anchor="t">
            <a:spAutoFit/>
          </a:bodyPr>
          <a:p>
            <a:pPr defTabSz="457200">
              <a:lnSpc>
                <a:spcPct val="100000"/>
              </a:lnSpc>
              <a:spcAft>
                <a:spcPts val="799"/>
              </a:spcAft>
            </a:pPr>
            <a:r>
              <a:rPr lang="en-US" sz="1500" b="0" u="none" strike="noStrike">
                <a:solidFill>
                  <a:srgbClr val="EB0025"/>
                </a:solidFill>
                <a:effectLst/>
                <a:uFillTx/>
                <a:latin typeface="JetBrains Mono"/>
              </a:rPr>
              <a:t>Difficulté 2</a:t>
            </a:r>
            <a:endParaRPr lang="en-US" sz="1500" b="0" u="none" strike="noStrike">
              <a:solidFill>
                <a:srgbClr val="000000"/>
              </a:solidFill>
              <a:effectLst/>
              <a:uFillTx/>
              <a:latin typeface="Arial"/>
            </a:endParaRPr>
          </a:p>
          <a:p>
            <a:pPr defTabSz="457200">
              <a:lnSpc>
                <a:spcPct val="100000"/>
              </a:lnSpc>
              <a:spcAft>
                <a:spcPts val="799"/>
              </a:spcAft>
            </a:pPr>
            <a:r>
              <a:rPr lang="en-US" sz="2200" b="1" u="none" strike="noStrike">
                <a:solidFill>
                  <a:srgbClr val="271811"/>
                </a:solidFill>
                <a:effectLst/>
                <a:uFillTx/>
                <a:latin typeface="JetBrains Mono"/>
              </a:rPr>
              <a:t>La production d’un code propre</a:t>
            </a:r>
            <a:endParaRPr lang="en-US" sz="2200" b="0" u="none" strike="noStrike">
              <a:solidFill>
                <a:srgbClr val="000000"/>
              </a:solidFill>
              <a:effectLst/>
              <a:uFillTx/>
              <a:latin typeface="Arial"/>
            </a:endParaRPr>
          </a:p>
          <a:p>
            <a:pPr defTabSz="457200">
              <a:lnSpc>
                <a:spcPct val="100000"/>
              </a:lnSpc>
            </a:pPr>
            <a:r>
              <a:rPr lang="en-US" sz="1600" b="0" u="none" strike="noStrike">
                <a:solidFill>
                  <a:srgbClr val="64748B"/>
                </a:solidFill>
                <a:effectLst/>
                <a:uFillTx/>
                <a:latin typeface="JetBrains Mono"/>
              </a:rPr>
              <a:t>ULa production d’un code propreutorité reconnue n'a pas pu être acquis dans le cadre du projet.</a:t>
            </a:r>
            <a:endParaRPr lang="en-US" sz="1600" b="0" u="none" strike="noStrike">
              <a:solidFill>
                <a:srgbClr val="000000"/>
              </a:solidFill>
              <a:effectLst/>
              <a:uFillTx/>
              <a:latin typeface="Arial"/>
            </a:endParaRPr>
          </a:p>
        </p:txBody>
      </p:sp>
    </p:spTree>
  </p:cSld>
  <mc:AlternateContent>
    <mc:Choice Requires="p14">
      <p:transition p14:dur="250">
        <p:fade thruBlk="true"/>
      </p:transition>
    </mc:Choice>
    <mc:Fallback>
      <p:transition>
        <p:fade thruBlk="tru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4F0"/>
        </a:solidFill>
      </p:bgPr>
    </p:bg>
    <p:spTree>
      <p:nvGrpSpPr>
        <p:cNvPr id="1" name=""/>
        <p:cNvGrpSpPr/>
        <p:nvPr/>
      </p:nvGrpSpPr>
      <p:grpSpPr>
        <a:xfrm>
          <a:off x="0" y="0"/>
          <a:ext cx="0" cy="0"/>
          <a:chOff x="0" y="0"/>
          <a:chExt cx="0" cy="0"/>
        </a:xfrm>
      </p:grpSpPr>
      <p:sp>
        <p:nvSpPr>
          <p:cNvPr id="297" name="TextBox 1"/>
          <p:cNvSpPr/>
          <p:nvPr/>
        </p:nvSpPr>
        <p:spPr>
          <a:xfrm>
            <a:off x="731520" y="640080"/>
            <a:ext cx="10515240" cy="36540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1300" b="1" u="none" strike="noStrike">
                <a:solidFill>
                  <a:srgbClr val="EB0025"/>
                </a:solidFill>
                <a:effectLst/>
                <a:uFillTx/>
                <a:latin typeface="JetBrains Mono"/>
              </a:rPr>
              <a:t>BILAN</a:t>
            </a:r>
            <a:endParaRPr lang="en-US" sz="1300" b="0" u="none" strike="noStrike">
              <a:solidFill>
                <a:srgbClr val="000000"/>
              </a:solidFill>
              <a:effectLst/>
              <a:uFillTx/>
              <a:latin typeface="Arial"/>
            </a:endParaRPr>
          </a:p>
        </p:txBody>
      </p:sp>
      <p:sp>
        <p:nvSpPr>
          <p:cNvPr id="298" name="TextBox 2"/>
          <p:cNvSpPr/>
          <p:nvPr/>
        </p:nvSpPr>
        <p:spPr>
          <a:xfrm>
            <a:off x="731520" y="960120"/>
            <a:ext cx="10515240" cy="731160"/>
          </a:xfrm>
          <a:prstGeom prst="rect">
            <a:avLst/>
          </a:prstGeom>
          <a:noFill/>
          <a:ln w="0">
            <a:noFill/>
          </a:ln>
        </p:spPr>
        <p:style>
          <a:lnRef idx="0"/>
          <a:fillRef idx="0"/>
          <a:effectRef idx="0"/>
          <a:fontRef idx="minor"/>
        </p:style>
        <p:txBody>
          <a:bodyPr wrap="none" lIns="90000" tIns="45000" rIns="90000" bIns="45000" anchor="t">
            <a:spAutoFit/>
          </a:bodyPr>
          <a:p>
            <a:pPr defTabSz="457200">
              <a:lnSpc>
                <a:spcPct val="100000"/>
              </a:lnSpc>
            </a:pPr>
            <a:r>
              <a:rPr lang="en-US" sz="3600" b="1" u="none" strike="noStrike">
                <a:solidFill>
                  <a:srgbClr val="271811"/>
                </a:solidFill>
                <a:effectLst/>
                <a:uFillTx/>
                <a:latin typeface="JetBrains Mono"/>
              </a:rPr>
              <a:t>Perspectives</a:t>
            </a:r>
            <a:endParaRPr lang="en-US" sz="3600" b="0" u="none" strike="noStrike">
              <a:solidFill>
                <a:srgbClr val="000000"/>
              </a:solidFill>
              <a:effectLst/>
              <a:uFillTx/>
              <a:latin typeface="Arial"/>
            </a:endParaRPr>
          </a:p>
        </p:txBody>
      </p:sp>
      <p:sp>
        <p:nvSpPr>
          <p:cNvPr id="299" name="Rectangle 3"/>
          <p:cNvSpPr/>
          <p:nvPr/>
        </p:nvSpPr>
        <p:spPr>
          <a:xfrm>
            <a:off x="731520" y="2514600"/>
            <a:ext cx="5241960" cy="31089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182880" rIns="274320" bIns="182880" anchor="ctr">
            <a:noAutofit/>
          </a:bodyPr>
          <a:p>
            <a:pPr algn="ctr" defTabSz="457200">
              <a:lnSpc>
                <a:spcPct val="100000"/>
              </a:lnSpc>
              <a:spcAft>
                <a:spcPts val="400"/>
              </a:spcAft>
            </a:pPr>
            <a:r>
              <a:rPr lang="en-US" sz="1200" b="0" u="none" strike="noStrike">
                <a:solidFill>
                  <a:srgbClr val="EB0025"/>
                </a:solidFill>
                <a:effectLst/>
                <a:uFillTx/>
                <a:latin typeface="JetBrains Mono"/>
              </a:rPr>
              <a:t>01</a:t>
            </a:r>
            <a:endParaRPr lang="en-US" sz="1200" b="0" u="none" strike="noStrike">
              <a:solidFill>
                <a:srgbClr val="000000"/>
              </a:solidFill>
              <a:effectLst/>
              <a:uFillTx/>
              <a:latin typeface="Arial"/>
            </a:endParaRPr>
          </a:p>
          <a:p>
            <a:pPr defTabSz="457200">
              <a:lnSpc>
                <a:spcPct val="100000"/>
              </a:lnSpc>
              <a:spcAft>
                <a:spcPts val="601"/>
              </a:spcAft>
            </a:pPr>
            <a:r>
              <a:rPr lang="en-US" sz="1600" b="1" u="none" strike="noStrike">
                <a:solidFill>
                  <a:srgbClr val="271811"/>
                </a:solidFill>
                <a:effectLst/>
                <a:uFillTx/>
                <a:latin typeface="JetBrains Mono"/>
              </a:rPr>
              <a:t>L'integration avec les reseaux sociaux</a:t>
            </a:r>
            <a:endParaRPr lang="en-US" sz="1600" b="0" u="none" strike="noStrike">
              <a:solidFill>
                <a:srgbClr val="000000"/>
              </a:solidFill>
              <a:effectLst/>
              <a:uFillTx/>
              <a:latin typeface="Arial"/>
            </a:endParaRPr>
          </a:p>
          <a:p>
            <a:pPr defTabSz="457200">
              <a:lnSpc>
                <a:spcPct val="100000"/>
              </a:lnSpc>
            </a:pPr>
            <a:r>
              <a:rPr lang="en-US" sz="1250" b="0" u="none" strike="noStrike">
                <a:solidFill>
                  <a:srgbClr val="64748B"/>
                </a:solidFill>
                <a:effectLst/>
                <a:uFillTx/>
                <a:latin typeface="JetBrains Mono"/>
              </a:rPr>
              <a:t>Envoi en masse de messages personnalisés, offres ciblées, reconquête des clients inactifs</a:t>
            </a:r>
            <a:endParaRPr lang="en-US" sz="1250" b="0" u="none" strike="noStrike">
              <a:solidFill>
                <a:srgbClr val="000000"/>
              </a:solidFill>
              <a:effectLst/>
              <a:uFillTx/>
              <a:latin typeface="Arial"/>
            </a:endParaRPr>
          </a:p>
        </p:txBody>
      </p:sp>
      <p:sp>
        <p:nvSpPr>
          <p:cNvPr id="300" name="Rectangle 4"/>
          <p:cNvSpPr/>
          <p:nvPr/>
        </p:nvSpPr>
        <p:spPr>
          <a:xfrm>
            <a:off x="731520" y="2514600"/>
            <a:ext cx="5241960" cy="6876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4120" rIns="90000" bIns="24120" anchor="ctr">
            <a:noAutofit/>
          </a:bodyPr>
          <a:p>
            <a:pPr/>
            <a:endParaRPr lang="en-US" sz="1800" b="0" u="none" strike="noStrike">
              <a:solidFill>
                <a:schemeClr val="lt1"/>
              </a:solidFill>
              <a:effectLst/>
              <a:uFillTx/>
              <a:latin typeface="Calibri"/>
            </a:endParaRPr>
          </a:p>
        </p:txBody>
      </p:sp>
      <p:sp>
        <p:nvSpPr>
          <p:cNvPr id="301" name="Rectangle 5"/>
          <p:cNvSpPr/>
          <p:nvPr/>
        </p:nvSpPr>
        <p:spPr>
          <a:xfrm>
            <a:off x="6217920" y="2514600"/>
            <a:ext cx="5241960" cy="310896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274320" tIns="182880" rIns="274320" bIns="182880" anchor="ctr">
            <a:noAutofit/>
          </a:bodyPr>
          <a:p>
            <a:pPr algn="ctr" defTabSz="457200">
              <a:lnSpc>
                <a:spcPct val="100000"/>
              </a:lnSpc>
              <a:spcAft>
                <a:spcPts val="400"/>
              </a:spcAft>
            </a:pPr>
            <a:r>
              <a:rPr lang="en-US" sz="1200" b="0" u="none" strike="noStrike">
                <a:solidFill>
                  <a:srgbClr val="EB0025"/>
                </a:solidFill>
                <a:effectLst/>
                <a:uFillTx/>
                <a:latin typeface="JetBrains Mono"/>
              </a:rPr>
              <a:t>02</a:t>
            </a:r>
            <a:endParaRPr lang="en-US" sz="1200" b="0" u="none" strike="noStrike">
              <a:solidFill>
                <a:srgbClr val="000000"/>
              </a:solidFill>
              <a:effectLst/>
              <a:uFillTx/>
              <a:latin typeface="Arial"/>
            </a:endParaRPr>
          </a:p>
          <a:p>
            <a:pPr defTabSz="457200">
              <a:lnSpc>
                <a:spcPct val="100000"/>
              </a:lnSpc>
              <a:spcAft>
                <a:spcPts val="601"/>
              </a:spcAft>
            </a:pPr>
            <a:r>
              <a:rPr lang="en-US" sz="1600" b="1" u="none" strike="noStrike">
                <a:solidFill>
                  <a:srgbClr val="271811"/>
                </a:solidFill>
                <a:effectLst/>
                <a:uFillTx/>
                <a:latin typeface="JetBrains Mono"/>
              </a:rPr>
              <a:t>Intelligence artificielle</a:t>
            </a:r>
            <a:endParaRPr lang="en-US" sz="1600" b="0" u="none" strike="noStrike">
              <a:solidFill>
                <a:srgbClr val="000000"/>
              </a:solidFill>
              <a:effectLst/>
              <a:uFillTx/>
              <a:latin typeface="Arial"/>
            </a:endParaRPr>
          </a:p>
          <a:p>
            <a:pPr defTabSz="457200">
              <a:lnSpc>
                <a:spcPct val="100000"/>
              </a:lnSpc>
            </a:pPr>
            <a:r>
              <a:rPr lang="en-US" sz="1250" b="0" u="none" strike="noStrike">
                <a:solidFill>
                  <a:srgbClr val="64748B"/>
                </a:solidFill>
                <a:effectLst/>
                <a:uFillTx/>
                <a:latin typeface="JetBrains Mono"/>
              </a:rPr>
              <a:t>Identification des clients à traiter en priorité pour mieux répartir l'effort commercial</a:t>
            </a:r>
            <a:endParaRPr lang="en-US" sz="1250" b="0" u="none" strike="noStrike">
              <a:solidFill>
                <a:srgbClr val="000000"/>
              </a:solidFill>
              <a:effectLst/>
              <a:uFillTx/>
              <a:latin typeface="Arial"/>
            </a:endParaRPr>
          </a:p>
        </p:txBody>
      </p:sp>
      <p:sp>
        <p:nvSpPr>
          <p:cNvPr id="302" name="Rectangle 6"/>
          <p:cNvSpPr/>
          <p:nvPr/>
        </p:nvSpPr>
        <p:spPr>
          <a:xfrm>
            <a:off x="6217920" y="2514600"/>
            <a:ext cx="5241960" cy="68760"/>
          </a:xfrm>
          <a:prstGeom prst="rect">
            <a:avLst/>
          </a:prstGeom>
          <a:solidFill>
            <a:srgbClr val="EB002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4120" rIns="90000" bIns="24120" anchor="ctr">
            <a:noAutofit/>
          </a:bodyPr>
          <a:p>
            <a:pPr/>
            <a:endParaRPr lang="en-US" sz="1800" b="0" u="none" strike="noStrike">
              <a:solidFill>
                <a:schemeClr val="lt1"/>
              </a:solidFill>
              <a:effectLst/>
              <a:uFillTx/>
              <a:latin typeface="Calibri"/>
            </a:endParaRPr>
          </a:p>
        </p:txBody>
      </p:sp>
    </p:spTree>
  </p:cSld>
  <mc:AlternateContent>
    <mc:Choice Requires="p14">
      <p:transition p14:dur="250">
        <p:fade thruBlk="true"/>
      </p:transition>
    </mc:Choice>
    <mc:Fallback>
      <p:transition>
        <p:fade thruBlk="tru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itchFamily="0" charset="1"/>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21</TotalTime>
  <Application>LibreOffice/26.8.0.3$Linux_X86_64 LibreOffice_project/680$Build-3</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2026-09-30T13:18:08Z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