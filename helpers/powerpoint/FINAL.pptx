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theme/theme11.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29.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52.xml" ContentType="application/vnd.openxmlformats-officedocument.presentationml.slide+xml"/>
  <Override PartName="/ppt/slides/slide14.xml" ContentType="application/vnd.openxmlformats-officedocument.presentationml.slide+xml"/>
  <Override PartName="/ppt/slides/slide5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24.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54.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2" r:id="rId4"/>
    <p:sldMasterId id="2147483653" r:id="rId5"/>
    <p:sldMasterId id="2147483654" r:id="rId6"/>
    <p:sldMasterId id="2147483655" r:id="rId7"/>
    <p:sldMasterId id="2147483656" r:id="rId8"/>
    <p:sldMasterId id="2147483657" r:id="rId9"/>
    <p:sldMasterId id="2147483658" r:id="rId10"/>
    <p:sldMasterId id="2147483659" r:id="rId11"/>
    <p:sldMasterId id="2147483660"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074E259D-A219-4CC8-BC65-7AFE55349D39}" type="slidenum">
              <a:t>&lt;#&gt;</a:t>
            </a:fld>
          </a:p>
        </p:txBody>
      </p:sp>
      <p:sp>
        <p:nvSpPr>
          <p:cNvPr id="4" name="PlaceHolder 3"/>
          <p:cNvSpPr>
            <a:spLocks noGrp="1"/>
          </p:cNvSpPr>
          <p:nvPr>
            <p:ph type="dt" idx="1"/>
          </p:nvPr>
        </p:nvSpPr>
        <p:spPr/>
        <p:txBody>
          <a:bodyPr/>
          <a:p>
            <a:r>
              <a:rPr lang="en-US"/>
              <a:t/>
            </a: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1720" cy="1144440"/>
          </a:xfrm>
          <a:prstGeom prst="rect">
            <a:avLst/>
          </a:prstGeom>
          <a:noFill/>
          <a:ln w="0">
            <a:noFill/>
          </a:ln>
        </p:spPr>
        <p:txBody>
          <a:bodyPr lIns="0" tIns="0" rIns="0" bIns="0" anchor="ctr">
            <a:spAutoFit/>
          </a:bodyPr>
          <a:p>
            <a:pPr indent="0" algn="ctr" defTabSz="457200">
              <a:buNone/>
              <a:tabLst>
                <a:tab pos="0" algn="l"/>
              </a:tabLst>
            </a:pPr>
            <a:endParaRPr lang="en-US" sz="4400" b="0" u="none" strike="noStrike">
              <a:solidFill>
                <a:schemeClr val="dk1"/>
              </a:solidFill>
              <a:effectLst/>
              <a:uFillTx/>
              <a:latin typeface="Calibri"/>
            </a:endParaRPr>
          </a:p>
        </p:txBody>
      </p:sp>
      <p:sp>
        <p:nvSpPr>
          <p:cNvPr id="8" name="PlaceHolder 2"/>
          <p:cNvSpPr>
            <a:spLocks noGrp="1"/>
          </p:cNvSpPr>
          <p:nvPr>
            <p:ph type="subTitle"/>
          </p:nvPr>
        </p:nvSpPr>
        <p:spPr>
          <a:xfrm>
            <a:off x="609480" y="1604520"/>
            <a:ext cx="10971720" cy="397692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0D7C293-9884-4178-B87B-8DA9C080E21F}" type="slidenum">
              <a:t>&lt;#&gt;</a:t>
            </a:fld>
          </a:p>
        </p:txBody>
      </p:sp>
      <p:sp>
        <p:nvSpPr>
          <p:cNvPr id="6" name="PlaceHolder 5"/>
          <p:cNvSpPr>
            <a:spLocks noGrp="1"/>
          </p:cNvSpPr>
          <p:nvPr>
            <p:ph type="dt" idx="1"/>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
</Relationships>
</file>

<file path=ppt/slideMasters/_rels/slideMaster3.xml.rels><?xml version="1.0" encoding="UTF-8"?>
<Relationships xmlns="http://schemas.openxmlformats.org/package/2006/relationships"><Relationship Id="rId1" Type="http://schemas.openxmlformats.org/officeDocument/2006/relationships/theme" Target="../theme/theme3.xml"/>
</Relationships>
</file>

<file path=ppt/slideMasters/_rels/slideMaster4.xml.rels><?xml version="1.0" encoding="UTF-8"?>
<Relationships xmlns="http://schemas.openxmlformats.org/package/2006/relationships"><Relationship Id="rId1" Type="http://schemas.openxmlformats.org/officeDocument/2006/relationships/theme" Target="../theme/theme4.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
</Relationships>
</file>

<file path=ppt/slideMasters/_rels/slideMaster8.xml.rels><?xml version="1.0" encoding="UTF-8"?>
<Relationships xmlns="http://schemas.openxmlformats.org/package/2006/relationships"><Relationship Id="rId1" Type="http://schemas.openxmlformats.org/officeDocument/2006/relationships/theme" Target="../theme/theme8.xml"/>
</Relationships>
</file>

<file path=ppt/slideMasters/_rels/slideMaster9.xml.rels><?xml version="1.0" encoding="UTF-8"?>
<Relationships xmlns="http://schemas.openxmlformats.org/package/2006/relationships"><Relationship Id="rId1" Type="http://schemas.openxmlformats.org/officeDocument/2006/relationships/theme" Target="../theme/theme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12560117-475D-4BFC-BFF4-3C446F0909A6}" type="slidenum">
              <a:rPr lang="en-US" sz="1200" b="0" u="none" strike="noStrike">
                <a:solidFill>
                  <a:schemeClr val="dk1">
                    <a:tint val="75000"/>
                  </a:schemeClr>
                </a:solidFill>
                <a:effectLst/>
                <a:uFillTx/>
                <a:latin typeface="Calibri"/>
              </a:rPr>
              <a:t>45</a:t>
            </a:fld>
            <a:endParaRPr lang="en-US"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172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480" y="1604520"/>
            <a:ext cx="10971720" cy="39769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0"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indent="0" algn="l" defTabSz="457200">
              <a:lnSpc>
                <a:spcPct val="100000"/>
              </a:lnSpc>
              <a:spcBef>
                <a:spcPts val="641"/>
              </a:spcBef>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stStyle>
          <a:p>
            <a:pPr indent="0" algn="l" defTabSz="457200">
              <a:lnSpc>
                <a:spcPct val="100000"/>
              </a:lnSpc>
              <a:spcBef>
                <a:spcPts val="641"/>
              </a:spcBef>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1"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2"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3"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C1E96619-B2DB-43D0-AFD7-0CCA9FBBA08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6" name="PlaceHolder 2"/>
          <p:cNvSpPr>
            <a:spLocks noGrp="1"/>
          </p:cNvSpPr>
          <p:nvPr>
            <p:ph type="pic"/>
          </p:nvPr>
        </p:nvSpPr>
        <p:spPr>
          <a:xfrm>
            <a:off x="1792440" y="612720"/>
            <a:ext cx="5485680" cy="4114080"/>
          </a:xfrm>
          <a:prstGeom prst="rect">
            <a:avLst/>
          </a:prstGeom>
          <a:noFill/>
          <a:ln w="38160">
            <a:noFill/>
          </a:ln>
        </p:spPr>
        <p:txBody>
          <a:bodyPr lIns="90000" tIns="45000" rIns="90000" bIns="45000" anchor="ctr" anchorCtr="1">
            <a:noAutofit/>
          </a:bodyPr>
          <a:p>
            <a:pPr indent="0" algn="ctr">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17"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8"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018AC56-C044-4763-BAC6-68969987A64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2"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3"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4"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D754F38-4703-463F-8B28-AC90A57D3CF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6"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stStyle>
          <a:p>
            <a:pPr indent="-32400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7"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8"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9"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E53BAF4-85C9-413D-8C2C-7D10B894B6D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t" anchorCtr="1"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1"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stStyle>
          <a:p>
            <a:pPr indent="-32400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2"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3"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02CD2AC-62AC-4CCD-A5AB-AEF134F5B5F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6"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stStyle>
          <a:p>
            <a:pPr indent="-32400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7"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72FCC45-ECD9-4712-A117-D4C859CEDDB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41"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2"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A7A0A09-A361-44C8-BD75-94FD546A27A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6"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SzPct val="45000"/>
              <a:buFont typeface="Wingdings" charset="2"/>
              <a:buChar char=""/>
              <a:defRPr lang="en-US" sz="1800" b="0" u="none" strike="noStrike">
                <a:solidFill>
                  <a:schemeClr val="dk1"/>
                </a:solidFill>
                <a:effectLst/>
                <a:uFillTx/>
                <a:latin typeface="Calibri"/>
              </a:defRPr>
            </a:lvl5pPr>
          </a:lstStyle>
          <a:p>
            <a:pPr indent="-32400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457200">
              <a:lnSpc>
                <a:spcPct val="100000"/>
              </a:lnSpc>
              <a:spcBef>
                <a:spcPts val="47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457200">
              <a:lnSpc>
                <a:spcPct val="100000"/>
              </a:lnSpc>
              <a:spcBef>
                <a:spcPts val="360"/>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457200">
              <a:lnSpc>
                <a:spcPct val="100000"/>
              </a:lnSpc>
              <a:spcBef>
                <a:spcPts val="360"/>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7"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8"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9"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0"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FDF15569-F55B-44CA-B497-6FA953622B9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2"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algn="l" defTabSz="457200">
              <a:lnSpc>
                <a:spcPct val="100000"/>
              </a:lnSpc>
              <a:spcBef>
                <a:spcPts val="479"/>
              </a:spcBef>
              <a:buClr>
                <a:srgbClr val="000000"/>
              </a:buClr>
              <a:buFont typeface="Arial"/>
              <a:buChar char="•"/>
              <a:tabLst>
                <a:tab pos="0" algn="l"/>
              </a:tabLst>
              <a:defRPr lang="en-US" sz="2400" b="1" u="none" strike="noStrike">
                <a:solidFill>
                  <a:schemeClr val="dk1"/>
                </a:solidFill>
                <a:effectLst/>
                <a:uFillTx/>
                <a:latin typeface="Calibri"/>
              </a:defRPr>
            </a:lvl1pPr>
          </a:lstStyle>
          <a:p>
            <a:pPr indent="-324000" algn="l" defTabSz="457200">
              <a:lnSpc>
                <a:spcPct val="100000"/>
              </a:lnSpc>
              <a:spcBef>
                <a:spcPts val="479"/>
              </a:spcBef>
              <a:buClr>
                <a:srgbClr val="000000"/>
              </a:buClr>
              <a:buFont typeface="Arial"/>
              <a:buChar char="•"/>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5"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6"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7"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8"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F2BD72FB-E011-43F9-A84E-6890E63BB0E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60"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1"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2"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51919A4-0BB6-4237-B319-37DEAA19F0B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63" name="TextBox 1"/>
          <p:cNvSpPr/>
          <p:nvPr/>
        </p:nvSpPr>
        <p:spPr>
          <a:xfrm>
            <a:off x="731520" y="731520"/>
            <a:ext cx="36370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94A3B8"/>
                </a:solidFill>
                <a:effectLst/>
                <a:uFillTx/>
                <a:latin typeface="JetBrains Mono"/>
              </a:rPr>
              <a:t>PROJET DE FIN D'ÉTUDES — SOUTENANCE</a:t>
            </a:r>
            <a:endParaRPr lang="en-US" sz="1300" b="0" u="none" strike="noStrike">
              <a:solidFill>
                <a:srgbClr val="FFFFFF"/>
              </a:solidFill>
              <a:effectLst/>
              <a:uFillTx/>
              <a:latin typeface="Arial"/>
            </a:endParaRPr>
          </a:p>
        </p:txBody>
      </p:sp>
      <p:sp>
        <p:nvSpPr>
          <p:cNvPr id="64" name="Rectangle 2"/>
          <p:cNvSpPr/>
          <p:nvPr/>
        </p:nvSpPr>
        <p:spPr>
          <a:xfrm>
            <a:off x="731520" y="128016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65" name="TextBox 3"/>
          <p:cNvSpPr/>
          <p:nvPr/>
        </p:nvSpPr>
        <p:spPr>
          <a:xfrm>
            <a:off x="731520" y="1645920"/>
            <a:ext cx="10514880" cy="11876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FFFFFF"/>
                </a:solidFill>
                <a:effectLst/>
                <a:uFillTx/>
                <a:latin typeface="JetBrains Mono"/>
              </a:rPr>
              <a:t>Conception et réalisation d'un module CRM pour la plateforme UniFlow-Suite</a:t>
            </a:r>
            <a:endParaRPr lang="en-US" sz="3600" b="0" u="none" strike="noStrike">
              <a:solidFill>
                <a:srgbClr val="FFFFFF"/>
              </a:solidFill>
              <a:effectLst/>
              <a:uFillTx/>
              <a:latin typeface="Arial"/>
            </a:endParaRPr>
          </a:p>
        </p:txBody>
      </p:sp>
      <p:sp>
        <p:nvSpPr>
          <p:cNvPr id="66" name="TextBox 4"/>
          <p:cNvSpPr/>
          <p:nvPr/>
        </p:nvSpPr>
        <p:spPr>
          <a:xfrm>
            <a:off x="731520" y="3840480"/>
            <a:ext cx="10057680" cy="639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94A3B8"/>
                </a:solidFill>
                <a:effectLst/>
                <a:uFillTx/>
                <a:latin typeface="JetBrains Mono"/>
              </a:rPr>
              <a:t>Une solution SaaS de gestion de la relation client, hébergée en Algérie et intégrée à l'écosystème logiciel d'ITComp</a:t>
            </a:r>
            <a:endParaRPr lang="en-US" sz="1800" b="0" u="none" strike="noStrike">
              <a:solidFill>
                <a:srgbClr val="FFFFFF"/>
              </a:solidFill>
              <a:effectLst/>
              <a:uFillTx/>
              <a:latin typeface="Arial"/>
            </a:endParaRPr>
          </a:p>
        </p:txBody>
      </p:sp>
      <p:sp>
        <p:nvSpPr>
          <p:cNvPr id="67" name="TextBox 5"/>
          <p:cNvSpPr/>
          <p:nvPr/>
        </p:nvSpPr>
        <p:spPr>
          <a:xfrm>
            <a:off x="731520" y="5120640"/>
            <a:ext cx="2285280" cy="491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Présenté par:</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Aimen Sassi</a:t>
            </a:r>
            <a:endParaRPr lang="en-US" sz="1200" b="0" u="none" strike="noStrike">
              <a:solidFill>
                <a:srgbClr val="FFFFFF"/>
              </a:solidFill>
              <a:effectLst/>
              <a:uFillTx/>
              <a:latin typeface="Arial"/>
            </a:endParaRPr>
          </a:p>
        </p:txBody>
      </p:sp>
      <p:sp>
        <p:nvSpPr>
          <p:cNvPr id="68" name="TextBox 6"/>
          <p:cNvSpPr/>
          <p:nvPr/>
        </p:nvSpPr>
        <p:spPr>
          <a:xfrm>
            <a:off x="3108960" y="5120640"/>
            <a:ext cx="2285280" cy="491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Encadreur:</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Mr Farouk Belhoucine</a:t>
            </a:r>
            <a:endParaRPr lang="en-US" sz="1200" b="0" u="none" strike="noStrike">
              <a:solidFill>
                <a:srgbClr val="FFFFFF"/>
              </a:solidFill>
              <a:effectLst/>
              <a:uFillTx/>
              <a:latin typeface="Arial"/>
            </a:endParaRPr>
          </a:p>
        </p:txBody>
      </p:sp>
      <p:sp>
        <p:nvSpPr>
          <p:cNvPr id="69" name="TextBox 7"/>
          <p:cNvSpPr/>
          <p:nvPr/>
        </p:nvSpPr>
        <p:spPr>
          <a:xfrm>
            <a:off x="5486400" y="5120640"/>
            <a:ext cx="2285280" cy="491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Promotrice:</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Mme Faiza Allaoua</a:t>
            </a:r>
            <a:endParaRPr lang="en-US" sz="1200" b="0" u="none" strike="noStrike">
              <a:solidFill>
                <a:srgbClr val="FFFFFF"/>
              </a:solidFill>
              <a:effectLst/>
              <a:uFillTx/>
              <a:latin typeface="Arial"/>
            </a:endParaRPr>
          </a:p>
        </p:txBody>
      </p:sp>
      <p:sp>
        <p:nvSpPr>
          <p:cNvPr id="70" name="TextBox 8"/>
          <p:cNvSpPr/>
          <p:nvPr/>
        </p:nvSpPr>
        <p:spPr>
          <a:xfrm>
            <a:off x="7863840" y="5120640"/>
            <a:ext cx="2285280" cy="491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Organisme d'accueil:</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ITComp</a:t>
            </a:r>
            <a:endParaRPr lang="en-US" sz="1200" b="0" u="none" strike="noStrike">
              <a:solidFill>
                <a:srgbClr val="FFFFFF"/>
              </a:solidFill>
              <a:effectLst/>
              <a:uFillTx/>
              <a:latin typeface="Arial"/>
            </a:endParaRPr>
          </a:p>
        </p:txBody>
      </p:sp>
      <p:sp>
        <p:nvSpPr>
          <p:cNvPr id="71" name="TextBox 9"/>
          <p:cNvSpPr/>
          <p:nvPr/>
        </p:nvSpPr>
        <p:spPr>
          <a:xfrm>
            <a:off x="10241280" y="5120640"/>
            <a:ext cx="2285280" cy="491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Année:</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2026</a:t>
            </a:r>
            <a:endParaRPr lang="en-US" sz="12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72" name="TextBox 1"/>
          <p:cNvSpPr/>
          <p:nvPr/>
        </p:nvSpPr>
        <p:spPr>
          <a:xfrm>
            <a:off x="731520" y="640080"/>
            <a:ext cx="97092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SOMMAIRE</a:t>
            </a:r>
            <a:endParaRPr lang="en-US" sz="1300" b="0" u="none" strike="noStrike">
              <a:solidFill>
                <a:srgbClr val="000000"/>
              </a:solidFill>
              <a:effectLst/>
              <a:uFillTx/>
              <a:latin typeface="Arial"/>
            </a:endParaRPr>
          </a:p>
        </p:txBody>
      </p:sp>
      <p:sp>
        <p:nvSpPr>
          <p:cNvPr id="73" name="TextBox 2"/>
          <p:cNvSpPr/>
          <p:nvPr/>
        </p:nvSpPr>
        <p:spPr>
          <a:xfrm>
            <a:off x="731520" y="1005840"/>
            <a:ext cx="649008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Plan de la présentation</a:t>
            </a:r>
            <a:endParaRPr lang="en-US" sz="3600" b="0" u="none" strike="noStrike">
              <a:solidFill>
                <a:srgbClr val="000000"/>
              </a:solidFill>
              <a:effectLst/>
              <a:uFillTx/>
              <a:latin typeface="Arial"/>
            </a:endParaRPr>
          </a:p>
        </p:txBody>
      </p:sp>
      <p:sp>
        <p:nvSpPr>
          <p:cNvPr id="74" name="TextBox 3"/>
          <p:cNvSpPr/>
          <p:nvPr/>
        </p:nvSpPr>
        <p:spPr>
          <a:xfrm>
            <a:off x="731520" y="2103120"/>
            <a:ext cx="5119920" cy="920880"/>
          </a:xfrm>
          <a:prstGeom prst="rect">
            <a:avLst/>
          </a:prstGeom>
          <a:noFill/>
          <a:ln w="0">
            <a:noFill/>
          </a:ln>
        </p:spPr>
        <p:style>
          <a:lnRef idx="0"/>
          <a:fillRef idx="0"/>
          <a:effectRef idx="0"/>
          <a:fontRef idx="minor"/>
        </p:style>
        <p:txBody>
          <a:bodyPr lIns="0" tIns="292680" rIns="0" bIns="292680" anchor="t">
            <a:spAutoFit/>
          </a:bodyPr>
          <a:p>
            <a:pPr defTabSz="457200">
              <a:lnSpc>
                <a:spcPct val="100000"/>
              </a:lnSpc>
              <a:spcAft>
                <a:spcPts val="400"/>
              </a:spcAft>
            </a:pPr>
            <a:r>
              <a:rPr lang="en-US" sz="2000" b="1" u="none" strike="noStrike">
                <a:solidFill>
                  <a:srgbClr val="EB0025"/>
                </a:solidFill>
                <a:effectLst/>
                <a:uFillTx/>
                <a:latin typeface="JetBrains Mono"/>
              </a:rPr>
              <a:t>01  </a:t>
            </a:r>
            <a:r>
              <a:rPr lang="en-US" sz="2200" b="1" u="none" strike="noStrike">
                <a:solidFill>
                  <a:srgbClr val="271811"/>
                </a:solidFill>
                <a:effectLst/>
                <a:uFillTx/>
                <a:latin typeface="JetBrains Mono"/>
              </a:rPr>
              <a:t>Étude préalable</a:t>
            </a:r>
            <a:endParaRPr lang="en-US" sz="2200" b="0" u="none" strike="noStrike">
              <a:solidFill>
                <a:srgbClr val="000000"/>
              </a:solidFill>
              <a:effectLst/>
              <a:uFillTx/>
              <a:latin typeface="Arial"/>
            </a:endParaRPr>
          </a:p>
        </p:txBody>
      </p:sp>
      <p:sp>
        <p:nvSpPr>
          <p:cNvPr id="75" name="TextBox 4"/>
          <p:cNvSpPr/>
          <p:nvPr/>
        </p:nvSpPr>
        <p:spPr>
          <a:xfrm>
            <a:off x="6217920" y="2103120"/>
            <a:ext cx="5119920" cy="920880"/>
          </a:xfrm>
          <a:prstGeom prst="rect">
            <a:avLst/>
          </a:prstGeom>
          <a:noFill/>
          <a:ln w="0">
            <a:noFill/>
          </a:ln>
        </p:spPr>
        <p:style>
          <a:lnRef idx="0"/>
          <a:fillRef idx="0"/>
          <a:effectRef idx="0"/>
          <a:fontRef idx="minor"/>
        </p:style>
        <p:txBody>
          <a:bodyPr lIns="0" tIns="292680" rIns="0" bIns="292680" anchor="t">
            <a:spAutoFit/>
          </a:bodyPr>
          <a:p>
            <a:pPr defTabSz="457200">
              <a:lnSpc>
                <a:spcPct val="100000"/>
              </a:lnSpc>
              <a:spcAft>
                <a:spcPts val="400"/>
              </a:spcAft>
            </a:pPr>
            <a:r>
              <a:rPr lang="en-US" sz="2000" b="1" u="none" strike="noStrike">
                <a:solidFill>
                  <a:srgbClr val="EB0025"/>
                </a:solidFill>
                <a:effectLst/>
                <a:uFillTx/>
                <a:latin typeface="JetBrains Mono"/>
              </a:rPr>
              <a:t>02  </a:t>
            </a:r>
            <a:r>
              <a:rPr lang="en-US" sz="2200" b="1" u="none" strike="noStrike">
                <a:solidFill>
                  <a:srgbClr val="271811"/>
                </a:solidFill>
                <a:effectLst/>
                <a:uFillTx/>
                <a:latin typeface="JetBrains Mono"/>
              </a:rPr>
              <a:t>Analyse des besoins</a:t>
            </a:r>
            <a:endParaRPr lang="en-US" sz="2200" b="0" u="none" strike="noStrike">
              <a:solidFill>
                <a:srgbClr val="000000"/>
              </a:solidFill>
              <a:effectLst/>
              <a:uFillTx/>
              <a:latin typeface="Arial"/>
            </a:endParaRPr>
          </a:p>
        </p:txBody>
      </p:sp>
      <p:sp>
        <p:nvSpPr>
          <p:cNvPr id="76" name="TextBox 5"/>
          <p:cNvSpPr/>
          <p:nvPr/>
        </p:nvSpPr>
        <p:spPr>
          <a:xfrm>
            <a:off x="731520" y="4401000"/>
            <a:ext cx="5119920" cy="920880"/>
          </a:xfrm>
          <a:prstGeom prst="rect">
            <a:avLst/>
          </a:prstGeom>
          <a:noFill/>
          <a:ln w="0">
            <a:noFill/>
          </a:ln>
        </p:spPr>
        <p:style>
          <a:lnRef idx="0"/>
          <a:fillRef idx="0"/>
          <a:effectRef idx="0"/>
          <a:fontRef idx="minor"/>
        </p:style>
        <p:txBody>
          <a:bodyPr lIns="0" tIns="292680" rIns="0" bIns="292680" anchor="t">
            <a:spAutoFit/>
          </a:bodyPr>
          <a:p>
            <a:pPr defTabSz="457200">
              <a:lnSpc>
                <a:spcPct val="100000"/>
              </a:lnSpc>
              <a:spcAft>
                <a:spcPts val="400"/>
              </a:spcAft>
            </a:pPr>
            <a:r>
              <a:rPr lang="en-US" sz="2000" b="1" u="none" strike="noStrike">
                <a:solidFill>
                  <a:srgbClr val="EB0025"/>
                </a:solidFill>
                <a:effectLst/>
                <a:uFillTx/>
                <a:latin typeface="JetBrains Mono"/>
              </a:rPr>
              <a:t>03  </a:t>
            </a:r>
            <a:r>
              <a:rPr lang="en-US" sz="2200" b="1" u="none" strike="noStrike">
                <a:solidFill>
                  <a:srgbClr val="271811"/>
                </a:solidFill>
                <a:effectLst/>
                <a:uFillTx/>
                <a:latin typeface="JetBrains Mono"/>
              </a:rPr>
              <a:t>Conception</a:t>
            </a:r>
            <a:endParaRPr lang="en-US" sz="2200" b="0" u="none" strike="noStrike">
              <a:solidFill>
                <a:srgbClr val="000000"/>
              </a:solidFill>
              <a:effectLst/>
              <a:uFillTx/>
              <a:latin typeface="Arial"/>
            </a:endParaRPr>
          </a:p>
        </p:txBody>
      </p:sp>
      <p:sp>
        <p:nvSpPr>
          <p:cNvPr id="77" name="TextBox 6"/>
          <p:cNvSpPr/>
          <p:nvPr/>
        </p:nvSpPr>
        <p:spPr>
          <a:xfrm>
            <a:off x="6217920" y="4401000"/>
            <a:ext cx="5119920" cy="920880"/>
          </a:xfrm>
          <a:prstGeom prst="rect">
            <a:avLst/>
          </a:prstGeom>
          <a:noFill/>
          <a:ln w="0">
            <a:noFill/>
          </a:ln>
        </p:spPr>
        <p:style>
          <a:lnRef idx="0"/>
          <a:fillRef idx="0"/>
          <a:effectRef idx="0"/>
          <a:fontRef idx="minor"/>
        </p:style>
        <p:txBody>
          <a:bodyPr lIns="0" tIns="292680" rIns="0" bIns="292680" anchor="t">
            <a:spAutoFit/>
          </a:bodyPr>
          <a:p>
            <a:pPr defTabSz="457200">
              <a:lnSpc>
                <a:spcPct val="100000"/>
              </a:lnSpc>
              <a:spcAft>
                <a:spcPts val="400"/>
              </a:spcAft>
            </a:pPr>
            <a:r>
              <a:rPr lang="en-US" sz="2000" b="1" u="none" strike="noStrike">
                <a:solidFill>
                  <a:srgbClr val="EB0025"/>
                </a:solidFill>
                <a:effectLst/>
                <a:uFillTx/>
                <a:latin typeface="JetBrains Mono"/>
              </a:rPr>
              <a:t>04  </a:t>
            </a:r>
            <a:r>
              <a:rPr lang="en-US" sz="2200" b="1" u="none" strike="noStrike">
                <a:solidFill>
                  <a:srgbClr val="271811"/>
                </a:solidFill>
                <a:effectLst/>
                <a:uFillTx/>
                <a:latin typeface="JetBrains Mono"/>
              </a:rPr>
              <a:t>Réalisation</a:t>
            </a:r>
            <a:endParaRPr lang="en-US" sz="2200" b="0" u="none" strike="noStrike">
              <a:solidFill>
                <a:srgbClr val="000000"/>
              </a:solidFill>
              <a:effectLst/>
              <a:uFillTx/>
              <a:latin typeface="Arial"/>
            </a:endParaRPr>
          </a:p>
        </p:txBody>
      </p:sp>
      <p:sp>
        <p:nvSpPr>
          <p:cNvPr id="78" name="Rectangle 7"/>
          <p:cNvSpPr/>
          <p:nvPr/>
        </p:nvSpPr>
        <p:spPr>
          <a:xfrm>
            <a:off x="731520" y="3864600"/>
            <a:ext cx="5119920" cy="140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6000" rIns="90000" bIns="-36000" anchor="ctr">
            <a:noAutofit/>
          </a:bodyPr>
          <a:p>
            <a:pPr/>
            <a:endParaRPr lang="en-US" sz="1800" b="0" u="none" strike="noStrike">
              <a:solidFill>
                <a:schemeClr val="lt1"/>
              </a:solidFill>
              <a:effectLst/>
              <a:uFillTx/>
              <a:latin typeface="Calibri"/>
            </a:endParaRPr>
          </a:p>
        </p:txBody>
      </p:sp>
      <p:sp>
        <p:nvSpPr>
          <p:cNvPr id="79" name="Rectangle 8"/>
          <p:cNvSpPr/>
          <p:nvPr/>
        </p:nvSpPr>
        <p:spPr>
          <a:xfrm>
            <a:off x="6217920" y="3864600"/>
            <a:ext cx="5119920" cy="140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6000" rIns="90000" bIns="-3600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80"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81" name="TextBox 2"/>
          <p:cNvSpPr/>
          <p:nvPr/>
        </p:nvSpPr>
        <p:spPr>
          <a:xfrm>
            <a:off x="1097280" y="1463040"/>
            <a:ext cx="10057680" cy="2732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Étude préalable</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a:t>
            </a:r>
            <a:r>
              <a:rPr lang="en-US" sz="1600" b="0" u="none" strike="noStrike">
                <a:solidFill>
                  <a:srgbClr val="94A3B8"/>
                </a:solidFill>
                <a:effectLst/>
                <a:uFillTx/>
                <a:latin typeface="JetBrains Mono"/>
              </a:rPr>
              <a:t>Presentation De ITComp </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ea typeface="Noto Sans"/>
              </a:rPr>
              <a:t>•  </a:t>
            </a:r>
            <a:r>
              <a:rPr lang="en-US" sz="1700" b="1" u="none" strike="noStrike">
                <a:solidFill>
                  <a:srgbClr val="FFFFFF"/>
                </a:solidFill>
                <a:effectLst/>
                <a:uFillTx/>
                <a:latin typeface="JetBrains Mono"/>
                <a:ea typeface="Noto Sans"/>
              </a:rPr>
              <a:t>2: </a:t>
            </a:r>
            <a:r>
              <a:rPr lang="en-US" sz="1600" b="0" u="none" strike="noStrike">
                <a:solidFill>
                  <a:srgbClr val="94A3B8"/>
                </a:solidFill>
                <a:effectLst/>
                <a:uFillTx/>
                <a:latin typeface="JetBrains Mono"/>
                <a:ea typeface="Noto Sans"/>
              </a:rPr>
              <a:t>Presentation De Uniflow suite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ea typeface="Noto Sans"/>
              </a:rPr>
              <a:t>•  </a:t>
            </a:r>
            <a:r>
              <a:rPr lang="en-US" sz="1700" b="1" u="none" strike="noStrike">
                <a:solidFill>
                  <a:srgbClr val="FFFFFF"/>
                </a:solidFill>
                <a:effectLst/>
                <a:uFillTx/>
                <a:latin typeface="JetBrains Mono"/>
                <a:ea typeface="Noto Sans"/>
              </a:rPr>
              <a:t>3: </a:t>
            </a:r>
            <a:r>
              <a:rPr lang="en-US" sz="1600" b="0" u="none" strike="noStrike">
                <a:solidFill>
                  <a:srgbClr val="94A3B8"/>
                </a:solidFill>
                <a:effectLst/>
                <a:uFillTx/>
                <a:latin typeface="JetBrains Mono"/>
                <a:ea typeface="Noto Sans"/>
              </a:rPr>
              <a:t>Le Problematique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ea typeface="Noto Sans"/>
              </a:rPr>
              <a:t>•  </a:t>
            </a:r>
            <a:r>
              <a:rPr lang="en-US" sz="1700" b="1" u="none" strike="noStrike">
                <a:solidFill>
                  <a:srgbClr val="FFFFFF"/>
                </a:solidFill>
                <a:effectLst/>
                <a:uFillTx/>
                <a:latin typeface="JetBrains Mono"/>
                <a:ea typeface="Noto Sans"/>
              </a:rPr>
              <a:t>4: </a:t>
            </a:r>
            <a:r>
              <a:rPr lang="en-US" sz="1600" b="0" u="none" strike="noStrike">
                <a:solidFill>
                  <a:srgbClr val="94A3B8"/>
                </a:solidFill>
                <a:effectLst/>
                <a:uFillTx/>
                <a:latin typeface="JetBrains Mono"/>
                <a:ea typeface="Noto Sans"/>
              </a:rPr>
              <a:t>Les Objectifs</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82" name="TextBox 1"/>
          <p:cNvSpPr/>
          <p:nvPr/>
        </p:nvSpPr>
        <p:spPr>
          <a:xfrm>
            <a:off x="731520" y="640080"/>
            <a:ext cx="166212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83" name="TextBox 2"/>
          <p:cNvSpPr/>
          <p:nvPr/>
        </p:nvSpPr>
        <p:spPr>
          <a:xfrm>
            <a:off x="731520" y="1005840"/>
            <a:ext cx="594144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Presentation d'ITComp</a:t>
            </a:r>
            <a:endParaRPr lang="en-US" sz="3600" b="0" u="none" strike="noStrike">
              <a:solidFill>
                <a:srgbClr val="000000"/>
              </a:solidFill>
              <a:effectLst/>
              <a:uFillTx/>
              <a:latin typeface="Arial"/>
            </a:endParaRPr>
          </a:p>
        </p:txBody>
      </p:sp>
      <p:sp>
        <p:nvSpPr>
          <p:cNvPr id="84" name="TextBox 3"/>
          <p:cNvSpPr/>
          <p:nvPr/>
        </p:nvSpPr>
        <p:spPr>
          <a:xfrm>
            <a:off x="5257800" y="2057400"/>
            <a:ext cx="6445800" cy="3657960"/>
          </a:xfrm>
          <a:prstGeom prst="rect">
            <a:avLst/>
          </a:prstGeom>
          <a:noFill/>
          <a:ln w="0">
            <a:noFill/>
          </a:ln>
        </p:spPr>
        <p:style>
          <a:lnRef idx="0"/>
          <a:fillRef idx="0"/>
          <a:effectRef idx="0"/>
          <a:fontRef idx="minor"/>
        </p:style>
        <p:txBody>
          <a:bodyPr lIns="0" tIns="0" rIns="0" bIns="0" anchor="t">
            <a:spAutoFit/>
          </a:bodyPr>
          <a:p>
            <a:pPr marL="216000" indent="-216000" defTabSz="457200">
              <a:lnSpc>
                <a:spcPct val="100000"/>
              </a:lnSpc>
              <a:buClr>
                <a:srgbClr val="271811"/>
              </a:buClr>
              <a:buFont typeface="Wingdings" charset="2"/>
              <a:buChar char=""/>
            </a:pPr>
            <a:r>
              <a:rPr lang="en-US" sz="2400" b="1" u="none" strike="noStrike">
                <a:solidFill>
                  <a:srgbClr val="271811"/>
                </a:solidFill>
                <a:effectLst/>
                <a:uFillTx/>
                <a:latin typeface="JetBrainsMono NF SemiBold"/>
              </a:rPr>
              <a:t>Entreprise de Services du Numérique (ESN) algérienne.</a:t>
            </a:r>
            <a:br>
              <a:rPr sz="2400"/>
            </a:br>
            <a:br>
              <a:rPr sz="2400"/>
            </a:br>
            <a:r>
              <a:rPr lang="en-US" sz="2400" b="1" u="none" strike="noStrike">
                <a:solidFill>
                  <a:srgbClr val="271811"/>
                </a:solidFill>
                <a:effectLst/>
                <a:uFillTx/>
                <a:latin typeface="JetBrainsMono NF SemiBold"/>
              </a:rPr>
              <a:t> </a:t>
            </a:r>
            <a:endParaRPr lang="en-US" sz="2400" b="0" u="none" strike="noStrike">
              <a:solidFill>
                <a:srgbClr val="000000"/>
              </a:solidFill>
              <a:effectLst/>
              <a:uFillTx/>
              <a:latin typeface="Arial"/>
            </a:endParaRPr>
          </a:p>
          <a:p>
            <a:pPr marL="216000" indent="-216000" defTabSz="457200">
              <a:lnSpc>
                <a:spcPct val="100000"/>
              </a:lnSpc>
              <a:buClr>
                <a:srgbClr val="271811"/>
              </a:buClr>
              <a:buFont typeface="Wingdings" charset="2"/>
              <a:buChar char=""/>
            </a:pPr>
            <a:r>
              <a:rPr lang="en-US" sz="2400" b="1" u="none" strike="noStrike">
                <a:solidFill>
                  <a:srgbClr val="271811"/>
                </a:solidFill>
                <a:effectLst/>
                <a:uFillTx/>
                <a:latin typeface="JetBrainsMono NF SemiBold"/>
              </a:rPr>
              <a:t>créée en 2003 après avoir débuté comme centre de formation en 1999.</a:t>
            </a:r>
            <a:br>
              <a:rPr sz="2400"/>
            </a:br>
            <a:br>
              <a:rPr sz="2400"/>
            </a:br>
            <a:r>
              <a:rPr lang="en-US" sz="2400" b="1" u="none" strike="noStrike">
                <a:solidFill>
                  <a:srgbClr val="271811"/>
                </a:solidFill>
                <a:effectLst/>
                <a:uFillTx/>
                <a:latin typeface="JetBrainsMono NF SemiBold"/>
              </a:rPr>
              <a:t> </a:t>
            </a:r>
            <a:endParaRPr lang="en-US" sz="2400" b="0" u="none" strike="noStrike">
              <a:solidFill>
                <a:srgbClr val="000000"/>
              </a:solidFill>
              <a:effectLst/>
              <a:uFillTx/>
              <a:latin typeface="Arial"/>
            </a:endParaRPr>
          </a:p>
          <a:p>
            <a:pPr marL="216000" indent="-216000" defTabSz="457200">
              <a:lnSpc>
                <a:spcPct val="100000"/>
              </a:lnSpc>
              <a:buClr>
                <a:srgbClr val="271811"/>
              </a:buClr>
              <a:buFont typeface="Wingdings" charset="2"/>
              <a:buChar char=""/>
            </a:pPr>
            <a:r>
              <a:rPr lang="en-US" sz="2400" b="1" u="none" strike="noStrike">
                <a:solidFill>
                  <a:srgbClr val="271811"/>
                </a:solidFill>
                <a:effectLst/>
                <a:uFillTx/>
                <a:latin typeface="JetBrainsMono NF SemiBold"/>
              </a:rPr>
              <a:t>partenaire de grandes entreprises comme Microsoft et Oracle.</a:t>
            </a:r>
            <a:endParaRPr lang="en-US" sz="2400" b="0" u="none" strike="noStrike">
              <a:solidFill>
                <a:srgbClr val="000000"/>
              </a:solidFill>
              <a:effectLst/>
              <a:uFillTx/>
              <a:latin typeface="Arial"/>
            </a:endParaRPr>
          </a:p>
        </p:txBody>
      </p:sp>
      <p:pic>
        <p:nvPicPr>
          <p:cNvPr id="85" name=""/>
          <p:cNvPicPr/>
          <p:nvPr/>
        </p:nvPicPr>
        <p:blipFill>
          <a:blip r:embed="rId1"/>
          <a:stretch/>
        </p:blipFill>
        <p:spPr>
          <a:xfrm>
            <a:off x="1501560" y="2286000"/>
            <a:ext cx="2384280" cy="3428640"/>
          </a:xfrm>
          <a:prstGeom prst="rect">
            <a:avLst/>
          </a:prstGeom>
          <a:noFill/>
          <a:ln w="38160">
            <a:noFill/>
          </a:ln>
        </p:spPr>
      </p:pic>
      <p:sp>
        <p:nvSpPr>
          <p:cNvPr id="86" name="Rectangle 12"/>
          <p:cNvSpPr/>
          <p:nvPr/>
        </p:nvSpPr>
        <p:spPr>
          <a:xfrm rot="5400000">
            <a:off x="3125880" y="3961080"/>
            <a:ext cx="3885840" cy="784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87" name="TextBox 1"/>
          <p:cNvSpPr/>
          <p:nvPr/>
        </p:nvSpPr>
        <p:spPr>
          <a:xfrm>
            <a:off x="731520" y="640080"/>
            <a:ext cx="166212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88" name="TextBox 2"/>
          <p:cNvSpPr/>
          <p:nvPr/>
        </p:nvSpPr>
        <p:spPr>
          <a:xfrm>
            <a:off x="731520" y="1005840"/>
            <a:ext cx="34725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Nos Services</a:t>
            </a:r>
            <a:endParaRPr lang="en-US" sz="3600" b="0" u="none" strike="noStrike">
              <a:solidFill>
                <a:srgbClr val="000000"/>
              </a:solidFill>
              <a:effectLst/>
              <a:uFillTx/>
              <a:latin typeface="Arial"/>
            </a:endParaRPr>
          </a:p>
        </p:txBody>
      </p:sp>
      <p:sp>
        <p:nvSpPr>
          <p:cNvPr id="89" name="Rectangle 3"/>
          <p:cNvSpPr/>
          <p:nvPr/>
        </p:nvSpPr>
        <p:spPr>
          <a:xfrm>
            <a:off x="685800" y="1828800"/>
            <a:ext cx="5188680" cy="784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90" name="TextBox 4"/>
          <p:cNvSpPr/>
          <p:nvPr/>
        </p:nvSpPr>
        <p:spPr>
          <a:xfrm>
            <a:off x="685800" y="2425680"/>
            <a:ext cx="5188680" cy="716760"/>
          </a:xfrm>
          <a:prstGeom prst="rect">
            <a:avLst/>
          </a:prstGeom>
          <a:noFill/>
          <a:ln w="0">
            <a:noFill/>
          </a:ln>
        </p:spPr>
        <p:style>
          <a:lnRef idx="0"/>
          <a:fillRef idx="0"/>
          <a:effectRef idx="0"/>
          <a:fontRef idx="minor"/>
        </p:style>
        <p:txBody>
          <a:bodyPr lIns="0" tIns="0" rIns="0" bIns="0" anchor="t" anchorCtr="1">
            <a:spAutoFit/>
          </a:bodyPr>
          <a:p>
            <a:pPr algn="ctr" defTabSz="457200">
              <a:lnSpc>
                <a:spcPct val="100000"/>
              </a:lnSpc>
              <a:spcAft>
                <a:spcPts val="601"/>
              </a:spcAft>
            </a:pPr>
            <a:r>
              <a:rPr lang="en-US" sz="2100" b="1" u="none" strike="noStrike">
                <a:solidFill>
                  <a:srgbClr val="64748B"/>
                </a:solidFill>
                <a:effectLst/>
                <a:uFillTx/>
                <a:latin typeface="JetBrains Mono"/>
              </a:rPr>
              <a:t>01</a:t>
            </a:r>
            <a:endParaRPr lang="en-US" sz="2100" b="0" u="none" strike="noStrike">
              <a:solidFill>
                <a:srgbClr val="000000"/>
              </a:solidFill>
              <a:effectLst/>
              <a:uFillTx/>
              <a:latin typeface="Arial"/>
            </a:endParaRPr>
          </a:p>
          <a:p>
            <a:pPr algn="ctr" defTabSz="457200">
              <a:lnSpc>
                <a:spcPct val="100000"/>
              </a:lnSpc>
            </a:pPr>
            <a:r>
              <a:rPr lang="en-US" sz="2100" b="1" u="none" strike="noStrike">
                <a:solidFill>
                  <a:srgbClr val="271811"/>
                </a:solidFill>
                <a:effectLst/>
                <a:uFillTx/>
                <a:latin typeface="JetBrains Mono"/>
              </a:rPr>
              <a:t>Conseils</a:t>
            </a:r>
            <a:endParaRPr lang="en-US" sz="2100" b="0" u="none" strike="noStrike">
              <a:solidFill>
                <a:srgbClr val="000000"/>
              </a:solidFill>
              <a:effectLst/>
              <a:uFillTx/>
              <a:latin typeface="Arial"/>
            </a:endParaRPr>
          </a:p>
        </p:txBody>
      </p:sp>
      <p:sp>
        <p:nvSpPr>
          <p:cNvPr id="91" name="Rectangle 5"/>
          <p:cNvSpPr/>
          <p:nvPr/>
        </p:nvSpPr>
        <p:spPr>
          <a:xfrm>
            <a:off x="6455880" y="1828800"/>
            <a:ext cx="5189400" cy="784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92" name="TextBox 6"/>
          <p:cNvSpPr/>
          <p:nvPr/>
        </p:nvSpPr>
        <p:spPr>
          <a:xfrm>
            <a:off x="6455880" y="2425680"/>
            <a:ext cx="5189400" cy="686520"/>
          </a:xfrm>
          <a:prstGeom prst="rect">
            <a:avLst/>
          </a:prstGeom>
          <a:noFill/>
          <a:ln w="0">
            <a:noFill/>
          </a:ln>
        </p:spPr>
        <p:style>
          <a:lnRef idx="0"/>
          <a:fillRef idx="0"/>
          <a:effectRef idx="0"/>
          <a:fontRef idx="minor"/>
        </p:style>
        <p:txBody>
          <a:bodyPr lIns="0" tIns="0" rIns="0" bIns="0" anchor="t" anchorCtr="1">
            <a:spAutoFit/>
          </a:bodyPr>
          <a:p>
            <a:pPr algn="ctr" defTabSz="457200">
              <a:lnSpc>
                <a:spcPct val="100000"/>
              </a:lnSpc>
              <a:spcAft>
                <a:spcPts val="601"/>
              </a:spcAft>
            </a:pPr>
            <a:r>
              <a:rPr lang="en-US" sz="2000" b="1" u="none" strike="noStrike">
                <a:solidFill>
                  <a:srgbClr val="64748B"/>
                </a:solidFill>
                <a:effectLst/>
                <a:uFillTx/>
                <a:latin typeface="JetBrains Mono"/>
              </a:rPr>
              <a:t>02</a:t>
            </a:r>
            <a:endParaRPr lang="en-US" sz="2000" b="0" u="none" strike="noStrike">
              <a:solidFill>
                <a:srgbClr val="000000"/>
              </a:solidFill>
              <a:effectLst/>
              <a:uFillTx/>
              <a:latin typeface="Arial"/>
            </a:endParaRPr>
          </a:p>
          <a:p>
            <a:pPr algn="ctr" defTabSz="457200">
              <a:lnSpc>
                <a:spcPct val="100000"/>
              </a:lnSpc>
            </a:pPr>
            <a:r>
              <a:rPr lang="en-US" sz="2000" b="1" u="none" strike="noStrike">
                <a:solidFill>
                  <a:srgbClr val="271811"/>
                </a:solidFill>
                <a:effectLst/>
                <a:uFillTx/>
                <a:latin typeface="JetBrains Mono"/>
              </a:rPr>
              <a:t>Formations</a:t>
            </a:r>
            <a:endParaRPr lang="en-US" sz="2000" b="0" u="none" strike="noStrike">
              <a:solidFill>
                <a:srgbClr val="000000"/>
              </a:solidFill>
              <a:effectLst/>
              <a:uFillTx/>
              <a:latin typeface="Arial"/>
            </a:endParaRPr>
          </a:p>
        </p:txBody>
      </p:sp>
      <p:sp>
        <p:nvSpPr>
          <p:cNvPr id="93" name="Rectangle 7"/>
          <p:cNvSpPr/>
          <p:nvPr/>
        </p:nvSpPr>
        <p:spPr>
          <a:xfrm>
            <a:off x="698760" y="4314600"/>
            <a:ext cx="5189400" cy="7812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3840" rIns="90000" bIns="33840" anchor="ctr">
            <a:noAutofit/>
          </a:bodyPr>
          <a:p>
            <a:pPr/>
            <a:endParaRPr lang="en-US" sz="1800" b="0" u="none" strike="noStrike">
              <a:solidFill>
                <a:schemeClr val="lt1"/>
              </a:solidFill>
              <a:effectLst/>
              <a:uFillTx/>
              <a:latin typeface="Calibri"/>
            </a:endParaRPr>
          </a:p>
        </p:txBody>
      </p:sp>
      <p:sp>
        <p:nvSpPr>
          <p:cNvPr id="94" name="TextBox 8"/>
          <p:cNvSpPr/>
          <p:nvPr/>
        </p:nvSpPr>
        <p:spPr>
          <a:xfrm>
            <a:off x="698760" y="4911480"/>
            <a:ext cx="5189400" cy="716760"/>
          </a:xfrm>
          <a:prstGeom prst="rect">
            <a:avLst/>
          </a:prstGeom>
          <a:noFill/>
          <a:ln w="0">
            <a:noFill/>
          </a:ln>
        </p:spPr>
        <p:style>
          <a:lnRef idx="0"/>
          <a:fillRef idx="0"/>
          <a:effectRef idx="0"/>
          <a:fontRef idx="minor"/>
        </p:style>
        <p:txBody>
          <a:bodyPr lIns="0" tIns="0" rIns="0" bIns="0" anchor="t" anchorCtr="1">
            <a:spAutoFit/>
          </a:bodyPr>
          <a:p>
            <a:pPr algn="ctr" defTabSz="457200">
              <a:lnSpc>
                <a:spcPct val="100000"/>
              </a:lnSpc>
              <a:spcAft>
                <a:spcPts val="601"/>
              </a:spcAft>
            </a:pPr>
            <a:r>
              <a:rPr lang="en-US" sz="2100" b="1" u="none" strike="noStrike">
                <a:solidFill>
                  <a:srgbClr val="64748B"/>
                </a:solidFill>
                <a:effectLst/>
                <a:uFillTx/>
                <a:latin typeface="JetBrains Mono"/>
              </a:rPr>
              <a:t>03</a:t>
            </a:r>
            <a:endParaRPr lang="en-US" sz="2100" b="0" u="none" strike="noStrike">
              <a:solidFill>
                <a:srgbClr val="000000"/>
              </a:solidFill>
              <a:effectLst/>
              <a:uFillTx/>
              <a:latin typeface="Arial"/>
            </a:endParaRPr>
          </a:p>
          <a:p>
            <a:pPr algn="ctr" defTabSz="457200">
              <a:lnSpc>
                <a:spcPct val="100000"/>
              </a:lnSpc>
            </a:pPr>
            <a:r>
              <a:rPr lang="en-US" sz="2100" b="1" u="none" strike="noStrike">
                <a:solidFill>
                  <a:srgbClr val="271811"/>
                </a:solidFill>
                <a:effectLst/>
                <a:uFillTx/>
                <a:latin typeface="JetBrains Mono"/>
              </a:rPr>
              <a:t>Assistance Technique</a:t>
            </a:r>
            <a:endParaRPr lang="en-US" sz="2100" b="0" u="none" strike="noStrike">
              <a:solidFill>
                <a:srgbClr val="000000"/>
              </a:solidFill>
              <a:effectLst/>
              <a:uFillTx/>
              <a:latin typeface="Arial"/>
            </a:endParaRPr>
          </a:p>
        </p:txBody>
      </p:sp>
      <p:sp>
        <p:nvSpPr>
          <p:cNvPr id="95" name="Rectangle 9"/>
          <p:cNvSpPr/>
          <p:nvPr/>
        </p:nvSpPr>
        <p:spPr>
          <a:xfrm>
            <a:off x="6469560" y="4314600"/>
            <a:ext cx="5188680" cy="7812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3840" rIns="90000" bIns="33840" anchor="ctr">
            <a:noAutofit/>
          </a:bodyPr>
          <a:p>
            <a:pPr/>
            <a:endParaRPr lang="en-US" sz="1800" b="0" u="none" strike="noStrike">
              <a:solidFill>
                <a:schemeClr val="lt1"/>
              </a:solidFill>
              <a:effectLst/>
              <a:uFillTx/>
              <a:latin typeface="Calibri"/>
            </a:endParaRPr>
          </a:p>
        </p:txBody>
      </p:sp>
      <p:sp>
        <p:nvSpPr>
          <p:cNvPr id="96" name="TextBox 10"/>
          <p:cNvSpPr/>
          <p:nvPr/>
        </p:nvSpPr>
        <p:spPr>
          <a:xfrm>
            <a:off x="6469560" y="4911480"/>
            <a:ext cx="5188680" cy="731880"/>
          </a:xfrm>
          <a:prstGeom prst="rect">
            <a:avLst/>
          </a:prstGeom>
          <a:noFill/>
          <a:ln w="0">
            <a:noFill/>
          </a:ln>
        </p:spPr>
        <p:style>
          <a:lnRef idx="0"/>
          <a:fillRef idx="0"/>
          <a:effectRef idx="0"/>
          <a:fontRef idx="minor"/>
        </p:style>
        <p:txBody>
          <a:bodyPr lIns="0" tIns="0" rIns="0" bIns="0" anchor="t" anchorCtr="1">
            <a:spAutoFit/>
          </a:bodyPr>
          <a:p>
            <a:pPr algn="ctr" defTabSz="457200">
              <a:lnSpc>
                <a:spcPct val="100000"/>
              </a:lnSpc>
              <a:spcAft>
                <a:spcPts val="601"/>
              </a:spcAft>
            </a:pPr>
            <a:r>
              <a:rPr lang="en-US" sz="2100" b="1" u="none" strike="noStrike">
                <a:solidFill>
                  <a:srgbClr val="64748B"/>
                </a:solidFill>
                <a:effectLst/>
                <a:uFillTx/>
                <a:latin typeface="JetBrains Mono"/>
              </a:rPr>
              <a:t>04</a:t>
            </a:r>
            <a:endParaRPr lang="en-US" sz="2100" b="0" u="none" strike="noStrike">
              <a:solidFill>
                <a:srgbClr val="000000"/>
              </a:solidFill>
              <a:effectLst/>
              <a:uFillTx/>
              <a:latin typeface="Arial"/>
            </a:endParaRPr>
          </a:p>
          <a:p>
            <a:pPr algn="ctr" defTabSz="457200">
              <a:lnSpc>
                <a:spcPct val="100000"/>
              </a:lnSpc>
            </a:pPr>
            <a:r>
              <a:rPr lang="en-US" sz="2200" b="1" u="none" strike="noStrike">
                <a:solidFill>
                  <a:srgbClr val="271811"/>
                </a:solidFill>
                <a:effectLst/>
                <a:uFillTx/>
                <a:latin typeface="JetBrains Mono"/>
              </a:rPr>
              <a:t>Développement et Integration</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97" name="TextBox 1"/>
          <p:cNvSpPr/>
          <p:nvPr/>
        </p:nvSpPr>
        <p:spPr>
          <a:xfrm>
            <a:off x="731520" y="640080"/>
            <a:ext cx="166212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98" name="TextBox 2"/>
          <p:cNvSpPr/>
          <p:nvPr/>
        </p:nvSpPr>
        <p:spPr>
          <a:xfrm>
            <a:off x="731520" y="1005840"/>
            <a:ext cx="374688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UniFlow suite</a:t>
            </a:r>
            <a:endParaRPr lang="en-US" sz="3600" b="0" u="none" strike="noStrike">
              <a:solidFill>
                <a:srgbClr val="000000"/>
              </a:solidFill>
              <a:effectLst/>
              <a:uFillTx/>
              <a:latin typeface="Arial"/>
            </a:endParaRPr>
          </a:p>
        </p:txBody>
      </p:sp>
      <p:sp>
        <p:nvSpPr>
          <p:cNvPr id="99" name="TextBox 3"/>
          <p:cNvSpPr/>
          <p:nvPr/>
        </p:nvSpPr>
        <p:spPr>
          <a:xfrm>
            <a:off x="731520" y="1828800"/>
            <a:ext cx="10972080" cy="1341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Uniflow-Suite est une solution numérique de gestion scolaire qui centralise les activités académiques et administratives des établissements d’enseignement grâce à plusieurs applications, notamment:</a:t>
            </a:r>
            <a:endParaRPr lang="en-US" sz="2200" b="0" u="none" strike="noStrike">
              <a:solidFill>
                <a:srgbClr val="000000"/>
              </a:solidFill>
              <a:effectLst/>
              <a:uFillTx/>
              <a:latin typeface="Arial"/>
            </a:endParaRPr>
          </a:p>
        </p:txBody>
      </p:sp>
      <p:sp>
        <p:nvSpPr>
          <p:cNvPr id="100" name="Rectangle 4"/>
          <p:cNvSpPr/>
          <p:nvPr/>
        </p:nvSpPr>
        <p:spPr>
          <a:xfrm>
            <a:off x="698400" y="3841200"/>
            <a:ext cx="2502000" cy="2331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chorCtr="1">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100" b="1" u="none" strike="noStrike">
                <a:solidFill>
                  <a:srgbClr val="271811"/>
                </a:solidFill>
                <a:effectLst/>
                <a:uFillTx/>
                <a:latin typeface="JetBrains Mono"/>
              </a:rPr>
              <a:t>U-Campus</a:t>
            </a:r>
            <a:endParaRPr lang="en-US" sz="2100" b="0" u="none" strike="noStrike">
              <a:solidFill>
                <a:srgbClr val="000000"/>
              </a:solidFill>
              <a:effectLst/>
              <a:uFillTx/>
              <a:latin typeface="Arial"/>
            </a:endParaRPr>
          </a:p>
          <a:p>
            <a:pPr algn="ctr" defTabSz="457200">
              <a:lnSpc>
                <a:spcPct val="100000"/>
              </a:lnSpc>
            </a:pPr>
            <a:r>
              <a:rPr lang="en-US" sz="1500" b="0" u="none" strike="noStrike">
                <a:solidFill>
                  <a:srgbClr val="64748B"/>
                </a:solidFill>
                <a:effectLst/>
                <a:uFillTx/>
                <a:latin typeface="JetBrains Mono"/>
              </a:rPr>
              <a:t>la gestion académique</a:t>
            </a:r>
            <a:endParaRPr lang="en-US" sz="1500" b="0" u="none" strike="noStrike">
              <a:solidFill>
                <a:srgbClr val="000000"/>
              </a:solidFill>
              <a:effectLst/>
              <a:uFillTx/>
              <a:latin typeface="Arial"/>
            </a:endParaRPr>
          </a:p>
        </p:txBody>
      </p:sp>
      <p:sp>
        <p:nvSpPr>
          <p:cNvPr id="101" name="Rectangle 5"/>
          <p:cNvSpPr/>
          <p:nvPr/>
        </p:nvSpPr>
        <p:spPr>
          <a:xfrm>
            <a:off x="698400" y="3841200"/>
            <a:ext cx="2502000" cy="5112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6840" rIns="90000" bIns="6840" anchor="ctr">
            <a:noAutofit/>
          </a:bodyPr>
          <a:p>
            <a:pPr/>
            <a:endParaRPr lang="en-US" sz="1800" b="0" u="none" strike="noStrike">
              <a:solidFill>
                <a:schemeClr val="lt1"/>
              </a:solidFill>
              <a:effectLst/>
              <a:uFillTx/>
              <a:latin typeface="Calibri"/>
            </a:endParaRPr>
          </a:p>
        </p:txBody>
      </p:sp>
      <p:sp>
        <p:nvSpPr>
          <p:cNvPr id="102" name="Rectangle 6"/>
          <p:cNvSpPr/>
          <p:nvPr/>
        </p:nvSpPr>
        <p:spPr>
          <a:xfrm>
            <a:off x="3429000" y="3841200"/>
            <a:ext cx="2514240" cy="2331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chorCtr="1">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200" b="1" u="none" strike="noStrike">
                <a:solidFill>
                  <a:srgbClr val="271811"/>
                </a:solidFill>
                <a:effectLst/>
                <a:uFillTx/>
                <a:latin typeface="JetBrains Mono"/>
              </a:rPr>
              <a:t>U-Access</a:t>
            </a:r>
            <a:endParaRPr lang="en-US" sz="2200" b="0" u="none" strike="noStrike">
              <a:solidFill>
                <a:srgbClr val="000000"/>
              </a:solidFill>
              <a:effectLst/>
              <a:uFillTx/>
              <a:latin typeface="Arial"/>
            </a:endParaRPr>
          </a:p>
          <a:p>
            <a:pPr algn="ctr" defTabSz="457200">
              <a:lnSpc>
                <a:spcPct val="100000"/>
              </a:lnSpc>
            </a:pPr>
            <a:r>
              <a:rPr lang="en-US" sz="1600" b="0" u="none" strike="noStrike">
                <a:solidFill>
                  <a:srgbClr val="64748B"/>
                </a:solidFill>
                <a:effectLst/>
                <a:uFillTx/>
                <a:latin typeface="JetBrains Mono"/>
              </a:rPr>
              <a:t>la gestion des admissions</a:t>
            </a:r>
            <a:endParaRPr lang="en-US" sz="1600" b="0" u="none" strike="noStrike">
              <a:solidFill>
                <a:srgbClr val="000000"/>
              </a:solidFill>
              <a:effectLst/>
              <a:uFillTx/>
              <a:latin typeface="Arial"/>
            </a:endParaRPr>
          </a:p>
        </p:txBody>
      </p:sp>
      <p:sp>
        <p:nvSpPr>
          <p:cNvPr id="103" name="Rectangle 7"/>
          <p:cNvSpPr/>
          <p:nvPr/>
        </p:nvSpPr>
        <p:spPr>
          <a:xfrm>
            <a:off x="3429000" y="3841200"/>
            <a:ext cx="2514240" cy="5112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6840" rIns="90000" bIns="6840" anchor="ctr">
            <a:noAutofit/>
          </a:bodyPr>
          <a:p>
            <a:pPr/>
            <a:endParaRPr lang="en-US" sz="1800" b="0" u="none" strike="noStrike">
              <a:solidFill>
                <a:schemeClr val="lt1"/>
              </a:solidFill>
              <a:effectLst/>
              <a:uFillTx/>
              <a:latin typeface="Calibri"/>
            </a:endParaRPr>
          </a:p>
        </p:txBody>
      </p:sp>
      <p:sp>
        <p:nvSpPr>
          <p:cNvPr id="104" name="Rectangle 8"/>
          <p:cNvSpPr/>
          <p:nvPr/>
        </p:nvSpPr>
        <p:spPr>
          <a:xfrm>
            <a:off x="6172200" y="3841200"/>
            <a:ext cx="2502000" cy="2331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chorCtr="1">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000" b="1" u="none" strike="noStrike">
                <a:solidFill>
                  <a:srgbClr val="271811"/>
                </a:solidFill>
                <a:effectLst/>
                <a:uFillTx/>
                <a:latin typeface="JetBrains Mono"/>
              </a:rPr>
              <a:t>U-Learn</a:t>
            </a:r>
            <a:endParaRPr lang="en-US" sz="2000" b="0" u="none" strike="noStrike">
              <a:solidFill>
                <a:srgbClr val="000000"/>
              </a:solidFill>
              <a:effectLst/>
              <a:uFillTx/>
              <a:latin typeface="Arial"/>
            </a:endParaRPr>
          </a:p>
          <a:p>
            <a:pPr algn="ctr" defTabSz="457200">
              <a:lnSpc>
                <a:spcPct val="100000"/>
              </a:lnSpc>
            </a:pPr>
            <a:r>
              <a:rPr lang="en-US" sz="1400" b="0" u="none" strike="noStrike">
                <a:solidFill>
                  <a:srgbClr val="64748B"/>
                </a:solidFill>
                <a:effectLst/>
                <a:uFillTx/>
                <a:latin typeface="JetBrains Mono"/>
              </a:rPr>
              <a:t>Relie l’enseignement aux plateformes numériques</a:t>
            </a:r>
            <a:endParaRPr lang="en-US" sz="1400" b="0" u="none" strike="noStrike">
              <a:solidFill>
                <a:srgbClr val="000000"/>
              </a:solidFill>
              <a:effectLst/>
              <a:uFillTx/>
              <a:latin typeface="Arial"/>
            </a:endParaRPr>
          </a:p>
        </p:txBody>
      </p:sp>
      <p:sp>
        <p:nvSpPr>
          <p:cNvPr id="105" name="Rectangle 9"/>
          <p:cNvSpPr/>
          <p:nvPr/>
        </p:nvSpPr>
        <p:spPr>
          <a:xfrm>
            <a:off x="6172200" y="3841200"/>
            <a:ext cx="2502000" cy="5112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6840" rIns="90000" bIns="6840" anchor="ctr">
            <a:noAutofit/>
          </a:bodyPr>
          <a:p>
            <a:pPr/>
            <a:endParaRPr lang="en-US" sz="1800" b="0" u="none" strike="noStrike">
              <a:solidFill>
                <a:schemeClr val="lt1"/>
              </a:solidFill>
              <a:effectLst/>
              <a:uFillTx/>
              <a:latin typeface="Calibri"/>
            </a:endParaRPr>
          </a:p>
        </p:txBody>
      </p:sp>
      <p:sp>
        <p:nvSpPr>
          <p:cNvPr id="106" name="Rectangle 13"/>
          <p:cNvSpPr/>
          <p:nvPr/>
        </p:nvSpPr>
        <p:spPr>
          <a:xfrm>
            <a:off x="8915760" y="3886200"/>
            <a:ext cx="2514240" cy="2331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chorCtr="1">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200" b="1" u="none" strike="noStrike">
                <a:solidFill>
                  <a:srgbClr val="271811"/>
                </a:solidFill>
                <a:effectLst/>
                <a:uFillTx/>
                <a:latin typeface="JetBrains Mono"/>
              </a:rPr>
              <a:t>U-Go</a:t>
            </a:r>
            <a:endParaRPr lang="en-US" sz="2200" b="0" u="none" strike="noStrike">
              <a:solidFill>
                <a:srgbClr val="000000"/>
              </a:solidFill>
              <a:effectLst/>
              <a:uFillTx/>
              <a:latin typeface="Arial"/>
            </a:endParaRPr>
          </a:p>
          <a:p>
            <a:pPr algn="ctr" defTabSz="457200">
              <a:lnSpc>
                <a:spcPct val="100000"/>
              </a:lnSpc>
            </a:pPr>
            <a:r>
              <a:rPr lang="en-US" sz="1600" b="0" u="none" strike="noStrike">
                <a:solidFill>
                  <a:srgbClr val="64748B"/>
                </a:solidFill>
                <a:effectLst/>
                <a:uFillTx/>
                <a:latin typeface="JetBrains Mono"/>
              </a:rPr>
              <a:t>Application mobile pour les etudiants</a:t>
            </a:r>
            <a:endParaRPr lang="en-US" sz="1600" b="0" u="none" strike="noStrike">
              <a:solidFill>
                <a:srgbClr val="000000"/>
              </a:solidFill>
              <a:effectLst/>
              <a:uFillTx/>
              <a:latin typeface="Arial"/>
            </a:endParaRPr>
          </a:p>
        </p:txBody>
      </p:sp>
      <p:sp>
        <p:nvSpPr>
          <p:cNvPr id="107" name="Rectangle 14"/>
          <p:cNvSpPr/>
          <p:nvPr/>
        </p:nvSpPr>
        <p:spPr>
          <a:xfrm>
            <a:off x="8915760" y="3886200"/>
            <a:ext cx="2514240" cy="5112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6840" rIns="90000" bIns="684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08" name="TextBox 1"/>
          <p:cNvSpPr/>
          <p:nvPr/>
        </p:nvSpPr>
        <p:spPr>
          <a:xfrm>
            <a:off x="731520" y="640080"/>
            <a:ext cx="166212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109" name="TextBox 2"/>
          <p:cNvSpPr/>
          <p:nvPr/>
        </p:nvSpPr>
        <p:spPr>
          <a:xfrm>
            <a:off x="731520" y="1005840"/>
            <a:ext cx="374688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Problématique</a:t>
            </a:r>
            <a:endParaRPr lang="en-US" sz="3600" b="0" u="none" strike="noStrike">
              <a:solidFill>
                <a:srgbClr val="000000"/>
              </a:solidFill>
              <a:effectLst/>
              <a:uFillTx/>
              <a:latin typeface="Arial"/>
            </a:endParaRPr>
          </a:p>
        </p:txBody>
      </p:sp>
      <p:sp>
        <p:nvSpPr>
          <p:cNvPr id="110" name="Rectangle 3"/>
          <p:cNvSpPr/>
          <p:nvPr/>
        </p:nvSpPr>
        <p:spPr>
          <a:xfrm>
            <a:off x="731520" y="1920240"/>
            <a:ext cx="10698480" cy="112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Comment centraliser le suivi des clients et des offres?</a:t>
            </a:r>
            <a:endParaRPr lang="en-US" sz="1600" b="0" u="none" strike="noStrike">
              <a:solidFill>
                <a:srgbClr val="000000"/>
              </a:solidFill>
              <a:effectLst/>
              <a:uFillTx/>
              <a:latin typeface="Arial"/>
            </a:endParaRPr>
          </a:p>
          <a:p>
            <a:pPr defTabSz="457200">
              <a:lnSpc>
                <a:spcPct val="100000"/>
              </a:lnSpc>
            </a:pPr>
            <a:endParaRPr lang="en-US" sz="1800" b="0" u="none" strike="noStrike">
              <a:solidFill>
                <a:srgbClr val="000000"/>
              </a:solidFill>
              <a:effectLst/>
              <a:uFillTx/>
              <a:latin typeface="Arial"/>
            </a:endParaRPr>
          </a:p>
        </p:txBody>
      </p:sp>
      <p:sp>
        <p:nvSpPr>
          <p:cNvPr id="111" name="Rectangle 4"/>
          <p:cNvSpPr/>
          <p:nvPr/>
        </p:nvSpPr>
        <p:spPr>
          <a:xfrm>
            <a:off x="731520" y="1920240"/>
            <a:ext cx="10698480" cy="244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26280" rIns="90000" bIns="-26280" anchor="ctr">
            <a:noAutofit/>
          </a:bodyPr>
          <a:p>
            <a:pPr>
              <a:lnSpc>
                <a:spcPct val="100000"/>
              </a:lnSpc>
            </a:pPr>
            <a:endParaRPr lang="en-US" sz="1800" b="0" u="none" strike="noStrike">
              <a:solidFill>
                <a:schemeClr val="lt1"/>
              </a:solidFill>
              <a:effectLst/>
              <a:uFillTx/>
              <a:latin typeface="Calibri"/>
            </a:endParaRPr>
          </a:p>
        </p:txBody>
      </p:sp>
      <p:sp>
        <p:nvSpPr>
          <p:cNvPr id="112" name="Rectangle 5"/>
          <p:cNvSpPr/>
          <p:nvPr/>
        </p:nvSpPr>
        <p:spPr>
          <a:xfrm>
            <a:off x="731520" y="3483720"/>
            <a:ext cx="10698480" cy="112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Comment faciliter la planification et le travail d'équipe</a:t>
            </a:r>
            <a:endParaRPr lang="en-US" sz="1600" b="0" u="none" strike="noStrike">
              <a:solidFill>
                <a:srgbClr val="000000"/>
              </a:solidFill>
              <a:effectLst/>
              <a:uFillTx/>
              <a:latin typeface="Arial"/>
            </a:endParaRPr>
          </a:p>
          <a:p>
            <a:pPr defTabSz="457200">
              <a:lnSpc>
                <a:spcPct val="100000"/>
              </a:lnSpc>
            </a:pPr>
            <a:endParaRPr lang="en-US" sz="1250" b="0" u="none" strike="noStrike">
              <a:solidFill>
                <a:srgbClr val="000000"/>
              </a:solidFill>
              <a:effectLst/>
              <a:uFillTx/>
              <a:latin typeface="Arial"/>
            </a:endParaRPr>
          </a:p>
        </p:txBody>
      </p:sp>
      <p:sp>
        <p:nvSpPr>
          <p:cNvPr id="113" name="Rectangle 6"/>
          <p:cNvSpPr/>
          <p:nvPr/>
        </p:nvSpPr>
        <p:spPr>
          <a:xfrm>
            <a:off x="731520" y="3483720"/>
            <a:ext cx="10698480" cy="244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26280" rIns="90000" bIns="-26280" anchor="ctr">
            <a:noAutofit/>
          </a:bodyPr>
          <a:p>
            <a:pPr>
              <a:lnSpc>
                <a:spcPct val="100000"/>
              </a:lnSpc>
            </a:pPr>
            <a:endParaRPr lang="en-US" sz="1800" b="0" u="none" strike="noStrike">
              <a:solidFill>
                <a:schemeClr val="lt1"/>
              </a:solidFill>
              <a:effectLst/>
              <a:uFillTx/>
              <a:latin typeface="Calibri"/>
            </a:endParaRPr>
          </a:p>
        </p:txBody>
      </p:sp>
      <p:sp>
        <p:nvSpPr>
          <p:cNvPr id="114" name="Rectangle 7"/>
          <p:cNvSpPr/>
          <p:nvPr/>
        </p:nvSpPr>
        <p:spPr>
          <a:xfrm>
            <a:off x="731520" y="5047200"/>
            <a:ext cx="10698480" cy="112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Comment mettre en place un moyen de suivre la performance des campagnes ?</a:t>
            </a:r>
            <a:endParaRPr lang="en-US" sz="1600" b="0" u="none" strike="noStrike">
              <a:solidFill>
                <a:srgbClr val="000000"/>
              </a:solidFill>
              <a:effectLst/>
              <a:uFillTx/>
              <a:latin typeface="Arial"/>
            </a:endParaRPr>
          </a:p>
          <a:p>
            <a:pPr defTabSz="457200">
              <a:lnSpc>
                <a:spcPct val="100000"/>
              </a:lnSpc>
            </a:pPr>
            <a:endParaRPr lang="en-US" sz="1250" b="0" u="none" strike="noStrike">
              <a:solidFill>
                <a:srgbClr val="000000"/>
              </a:solidFill>
              <a:effectLst/>
              <a:uFillTx/>
              <a:latin typeface="Arial"/>
            </a:endParaRPr>
          </a:p>
        </p:txBody>
      </p:sp>
      <p:sp>
        <p:nvSpPr>
          <p:cNvPr id="115" name="Rectangle 8"/>
          <p:cNvSpPr/>
          <p:nvPr/>
        </p:nvSpPr>
        <p:spPr>
          <a:xfrm>
            <a:off x="731520" y="5047200"/>
            <a:ext cx="10698480" cy="244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26280" rIns="90000" bIns="-26280" anchor="ctr">
            <a:noAutofit/>
          </a:bodyPr>
          <a:p>
            <a:pPr>
              <a:lnSpc>
                <a:spcPct val="100000"/>
              </a:lnSpc>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1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112"/>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1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16" name="TextBox 1"/>
          <p:cNvSpPr/>
          <p:nvPr/>
        </p:nvSpPr>
        <p:spPr>
          <a:xfrm>
            <a:off x="731520" y="640080"/>
            <a:ext cx="166212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117" name="TextBox 2"/>
          <p:cNvSpPr/>
          <p:nvPr/>
        </p:nvSpPr>
        <p:spPr>
          <a:xfrm>
            <a:off x="731520" y="960120"/>
            <a:ext cx="53928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Objectifs du projet</a:t>
            </a:r>
            <a:endParaRPr lang="en-US" sz="3600" b="0" u="none" strike="noStrike">
              <a:solidFill>
                <a:srgbClr val="000000"/>
              </a:solidFill>
              <a:effectLst/>
              <a:uFillTx/>
              <a:latin typeface="Arial"/>
            </a:endParaRPr>
          </a:p>
        </p:txBody>
      </p:sp>
      <p:sp>
        <p:nvSpPr>
          <p:cNvPr id="118" name="TextBox 3"/>
          <p:cNvSpPr/>
          <p:nvPr/>
        </p:nvSpPr>
        <p:spPr>
          <a:xfrm>
            <a:off x="731520" y="1737360"/>
            <a:ext cx="10728000" cy="639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271811"/>
                </a:solidFill>
                <a:effectLst/>
                <a:uFillTx/>
                <a:latin typeface="JetBrains Mono"/>
              </a:rPr>
              <a:t>Doter UniFlow-Suite d'un module CRM moderne, sécurisé et évolutif, intégré aux autres modules de la plateforme.</a:t>
            </a:r>
            <a:endParaRPr lang="en-US" sz="1800" b="0" u="none" strike="noStrike">
              <a:solidFill>
                <a:srgbClr val="000000"/>
              </a:solidFill>
              <a:effectLst/>
              <a:uFillTx/>
              <a:latin typeface="Arial"/>
            </a:endParaRPr>
          </a:p>
        </p:txBody>
      </p:sp>
      <p:sp>
        <p:nvSpPr>
          <p:cNvPr id="119" name="TextBox 4"/>
          <p:cNvSpPr/>
          <p:nvPr/>
        </p:nvSpPr>
        <p:spPr>
          <a:xfrm>
            <a:off x="731520" y="2834640"/>
            <a:ext cx="1463760" cy="183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4748B"/>
                </a:solidFill>
                <a:effectLst/>
                <a:uFillTx/>
                <a:latin typeface="JetBrains Mono"/>
              </a:rPr>
              <a:t>OBJECTIFS MÉTIER</a:t>
            </a:r>
            <a:endParaRPr lang="en-US" sz="1200" b="0" u="none" strike="noStrike">
              <a:solidFill>
                <a:srgbClr val="000000"/>
              </a:solidFill>
              <a:effectLst/>
              <a:uFillTx/>
              <a:latin typeface="Arial"/>
            </a:endParaRPr>
          </a:p>
        </p:txBody>
      </p:sp>
      <p:sp>
        <p:nvSpPr>
          <p:cNvPr id="120" name="Rectangle 5"/>
          <p:cNvSpPr/>
          <p:nvPr/>
        </p:nvSpPr>
        <p:spPr>
          <a:xfrm>
            <a:off x="731520" y="3154680"/>
            <a:ext cx="5150160" cy="82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6000" rIns="90000" bIns="-36000" anchor="ctr">
            <a:noAutofit/>
          </a:bodyPr>
          <a:p>
            <a:pPr/>
            <a:endParaRPr lang="en-US" sz="1800" b="0" u="none" strike="noStrike">
              <a:solidFill>
                <a:schemeClr val="lt1"/>
              </a:solidFill>
              <a:effectLst/>
              <a:uFillTx/>
              <a:latin typeface="Calibri"/>
            </a:endParaRPr>
          </a:p>
        </p:txBody>
      </p:sp>
      <p:sp>
        <p:nvSpPr>
          <p:cNvPr id="121" name="TextBox 6"/>
          <p:cNvSpPr/>
          <p:nvPr/>
        </p:nvSpPr>
        <p:spPr>
          <a:xfrm>
            <a:off x="731520" y="3337560"/>
            <a:ext cx="5150160" cy="23785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Centraliser prospects, contacts et organisations dans une plateforme unique</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Outiller le cycle commercial, de la qualification du prospect au suivi de l'opportunité</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Tracer toutes les interactions pour une vision à 360° de chaque tiers</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Fournir tableaux de bord et indicateurs d'aide à la décision</a:t>
            </a:r>
            <a:endParaRPr lang="en-US" sz="1400" b="0" u="none" strike="noStrike">
              <a:solidFill>
                <a:srgbClr val="000000"/>
              </a:solidFill>
              <a:effectLst/>
              <a:uFillTx/>
              <a:latin typeface="Arial"/>
            </a:endParaRPr>
          </a:p>
        </p:txBody>
      </p:sp>
      <p:sp>
        <p:nvSpPr>
          <p:cNvPr id="122" name="TextBox 7"/>
          <p:cNvSpPr/>
          <p:nvPr/>
        </p:nvSpPr>
        <p:spPr>
          <a:xfrm>
            <a:off x="6217920" y="2834640"/>
            <a:ext cx="1829520" cy="1832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4748B"/>
                </a:solidFill>
                <a:effectLst/>
                <a:uFillTx/>
                <a:latin typeface="JetBrains Mono"/>
              </a:rPr>
              <a:t>OBJECTIFS TECHNIQUES</a:t>
            </a:r>
            <a:endParaRPr lang="en-US" sz="1200" b="0" u="none" strike="noStrike">
              <a:solidFill>
                <a:srgbClr val="000000"/>
              </a:solidFill>
              <a:effectLst/>
              <a:uFillTx/>
              <a:latin typeface="Arial"/>
            </a:endParaRPr>
          </a:p>
        </p:txBody>
      </p:sp>
      <p:sp>
        <p:nvSpPr>
          <p:cNvPr id="123" name="Rectangle 8"/>
          <p:cNvSpPr/>
          <p:nvPr/>
        </p:nvSpPr>
        <p:spPr>
          <a:xfrm>
            <a:off x="6217920" y="3154680"/>
            <a:ext cx="5150160" cy="82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6000" rIns="90000" bIns="-36000" anchor="ctr">
            <a:noAutofit/>
          </a:bodyPr>
          <a:p>
            <a:pPr/>
            <a:endParaRPr lang="en-US" sz="1800" b="0" u="none" strike="noStrike">
              <a:solidFill>
                <a:schemeClr val="lt1"/>
              </a:solidFill>
              <a:effectLst/>
              <a:uFillTx/>
              <a:latin typeface="Calibri"/>
            </a:endParaRPr>
          </a:p>
        </p:txBody>
      </p:sp>
      <p:sp>
        <p:nvSpPr>
          <p:cNvPr id="124" name="TextBox 9"/>
          <p:cNvSpPr/>
          <p:nvPr/>
        </p:nvSpPr>
        <p:spPr>
          <a:xfrm>
            <a:off x="6217920" y="3337560"/>
            <a:ext cx="5150160" cy="19515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Sécurité générique par rôles et permissions (RBAC)</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Audit générique de toutes les créations, modifications et suppressions</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Architecture extensible à de nouveaux types de clients et d'activités</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Sécurité, cohérence et intégrité des données</a:t>
            </a:r>
            <a:endParaRPr lang="en-US" sz="14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125"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126" name="TextBox 2"/>
          <p:cNvSpPr/>
          <p:nvPr/>
        </p:nvSpPr>
        <p:spPr>
          <a:xfrm>
            <a:off x="1097280" y="1463040"/>
            <a:ext cx="10057680" cy="2732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Analyse des besoins</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 </a:t>
            </a:r>
            <a:r>
              <a:rPr lang="en-US" sz="1600" b="0" u="none" strike="noStrike">
                <a:solidFill>
                  <a:srgbClr val="94A3B8"/>
                </a:solidFill>
                <a:effectLst/>
                <a:uFillTx/>
                <a:latin typeface="JetBrains Mono"/>
              </a:rPr>
              <a:t>CRM en detail</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2 : </a:t>
            </a:r>
            <a:r>
              <a:rPr lang="en-US" sz="1600" b="0" u="none" strike="noStrike">
                <a:solidFill>
                  <a:srgbClr val="94A3B8"/>
                </a:solidFill>
                <a:effectLst/>
                <a:uFillTx/>
                <a:latin typeface="JetBrains Mono"/>
              </a:rPr>
              <a:t>Les Acteurs</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3 : </a:t>
            </a:r>
            <a:r>
              <a:rPr lang="en-US" sz="1600" b="0" u="none" strike="noStrike">
                <a:solidFill>
                  <a:srgbClr val="94A3B8"/>
                </a:solidFill>
                <a:effectLst/>
                <a:uFillTx/>
                <a:latin typeface="JetBrains Mono"/>
              </a:rPr>
              <a:t>Les Diagrammes De Cas D'Utilisation </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4 : </a:t>
            </a:r>
            <a:r>
              <a:rPr lang="en-US" sz="1600" b="0" u="none" strike="noStrike">
                <a:solidFill>
                  <a:srgbClr val="94A3B8"/>
                </a:solidFill>
                <a:effectLst/>
                <a:uFillTx/>
                <a:latin typeface="JetBrains Mono"/>
              </a:rPr>
              <a:t>Les Diagrammes D'Activites</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27" name="TextBox 1"/>
          <p:cNvSpPr/>
          <p:nvPr/>
        </p:nvSpPr>
        <p:spPr>
          <a:xfrm>
            <a:off x="731520" y="640080"/>
            <a:ext cx="20570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28" name="TextBox 2"/>
          <p:cNvSpPr/>
          <p:nvPr/>
        </p:nvSpPr>
        <p:spPr>
          <a:xfrm>
            <a:off x="731520" y="1005840"/>
            <a:ext cx="48441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C'est Quoi Un CRM</a:t>
            </a:r>
            <a:endParaRPr lang="en-US" sz="3600" b="0" u="none" strike="noStrike">
              <a:solidFill>
                <a:srgbClr val="000000"/>
              </a:solidFill>
              <a:effectLst/>
              <a:uFillTx/>
              <a:latin typeface="Arial"/>
            </a:endParaRPr>
          </a:p>
        </p:txBody>
      </p:sp>
      <p:sp>
        <p:nvSpPr>
          <p:cNvPr id="129" name="TextBox 3"/>
          <p:cNvSpPr/>
          <p:nvPr/>
        </p:nvSpPr>
        <p:spPr>
          <a:xfrm>
            <a:off x="731520" y="1828800"/>
            <a:ext cx="10972080" cy="3355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Le CRM (Customer Relationship Management) est un logiciel qui:</a:t>
            </a:r>
            <a:endParaRPr lang="en-US" sz="2200" b="0" u="none" strike="noStrike">
              <a:solidFill>
                <a:srgbClr val="000000"/>
              </a:solidFill>
              <a:effectLst/>
              <a:uFillTx/>
              <a:latin typeface="Arial"/>
            </a:endParaRPr>
          </a:p>
        </p:txBody>
      </p:sp>
      <p:sp>
        <p:nvSpPr>
          <p:cNvPr id="130" name="Rectangle 4"/>
          <p:cNvSpPr/>
          <p:nvPr/>
        </p:nvSpPr>
        <p:spPr>
          <a:xfrm>
            <a:off x="685800" y="2743200"/>
            <a:ext cx="3200040" cy="13712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gère les interactions avec les clients</a:t>
            </a:r>
            <a:endParaRPr lang="en-US" sz="1800" b="0" u="none" strike="noStrike">
              <a:solidFill>
                <a:srgbClr val="000000"/>
              </a:solidFill>
              <a:effectLst/>
              <a:uFillTx/>
              <a:latin typeface="Arial"/>
            </a:endParaRPr>
          </a:p>
          <a:p>
            <a:pPr algn="ctr" defTabSz="457200">
              <a:lnSpc>
                <a:spcPct val="100000"/>
              </a:lnSpc>
            </a:pPr>
            <a:endParaRPr lang="en-US" sz="1250" b="0" u="none" strike="noStrike">
              <a:solidFill>
                <a:srgbClr val="000000"/>
              </a:solidFill>
              <a:effectLst/>
              <a:uFillTx/>
              <a:latin typeface="Arial"/>
            </a:endParaRPr>
          </a:p>
        </p:txBody>
      </p:sp>
      <p:sp>
        <p:nvSpPr>
          <p:cNvPr id="131" name="Rectangle 5"/>
          <p:cNvSpPr/>
          <p:nvPr/>
        </p:nvSpPr>
        <p:spPr>
          <a:xfrm>
            <a:off x="685800" y="2743200"/>
            <a:ext cx="3200040" cy="298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14400" rIns="90000" bIns="-14400" anchor="ctr">
            <a:noAutofit/>
          </a:bodyPr>
          <a:p>
            <a:pPr algn="ctr">
              <a:lnSpc>
                <a:spcPct val="100000"/>
              </a:lnSpc>
            </a:pPr>
            <a:endParaRPr lang="en-US" sz="2000" b="1" u="none" strike="noStrike">
              <a:solidFill>
                <a:schemeClr val="lt1"/>
              </a:solidFill>
              <a:effectLst/>
              <a:uFillTx/>
              <a:latin typeface="Calibri"/>
            </a:endParaRPr>
          </a:p>
        </p:txBody>
      </p:sp>
      <p:sp>
        <p:nvSpPr>
          <p:cNvPr id="132" name="Rectangle 6"/>
          <p:cNvSpPr/>
          <p:nvPr/>
        </p:nvSpPr>
        <p:spPr>
          <a:xfrm>
            <a:off x="4572000" y="2743200"/>
            <a:ext cx="3200040" cy="13712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suit les offres</a:t>
            </a:r>
            <a:endParaRPr lang="en-US" sz="1800" b="0" u="none" strike="noStrike">
              <a:solidFill>
                <a:srgbClr val="000000"/>
              </a:solidFill>
              <a:effectLst/>
              <a:uFillTx/>
              <a:latin typeface="Arial"/>
            </a:endParaRPr>
          </a:p>
          <a:p>
            <a:pPr algn="ctr" defTabSz="457200">
              <a:lnSpc>
                <a:spcPct val="100000"/>
              </a:lnSpc>
            </a:pPr>
            <a:endParaRPr lang="en-US" sz="1250" b="0" u="none" strike="noStrike">
              <a:solidFill>
                <a:srgbClr val="000000"/>
              </a:solidFill>
              <a:effectLst/>
              <a:uFillTx/>
              <a:latin typeface="Arial"/>
            </a:endParaRPr>
          </a:p>
        </p:txBody>
      </p:sp>
      <p:sp>
        <p:nvSpPr>
          <p:cNvPr id="133" name="Rectangle 7"/>
          <p:cNvSpPr/>
          <p:nvPr/>
        </p:nvSpPr>
        <p:spPr>
          <a:xfrm>
            <a:off x="4572000" y="2743200"/>
            <a:ext cx="3200040" cy="298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14400" rIns="90000" bIns="-14400" anchor="ctr">
            <a:noAutofit/>
          </a:bodyPr>
          <a:p>
            <a:pPr algn="ctr">
              <a:lnSpc>
                <a:spcPct val="100000"/>
              </a:lnSpc>
            </a:pPr>
            <a:endParaRPr lang="en-US" sz="2000" b="1" u="none" strike="noStrike">
              <a:solidFill>
                <a:schemeClr val="lt1"/>
              </a:solidFill>
              <a:effectLst/>
              <a:uFillTx/>
              <a:latin typeface="Calibri"/>
            </a:endParaRPr>
          </a:p>
        </p:txBody>
      </p:sp>
      <p:sp>
        <p:nvSpPr>
          <p:cNvPr id="134" name="Rectangle 8"/>
          <p:cNvSpPr/>
          <p:nvPr/>
        </p:nvSpPr>
        <p:spPr>
          <a:xfrm>
            <a:off x="8458200" y="2743200"/>
            <a:ext cx="3200040" cy="13712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planifie les tâches de l'équipe</a:t>
            </a:r>
            <a:endParaRPr lang="en-US" sz="1800" b="0" u="none" strike="noStrike">
              <a:solidFill>
                <a:srgbClr val="000000"/>
              </a:solidFill>
              <a:effectLst/>
              <a:uFillTx/>
              <a:latin typeface="Arial"/>
            </a:endParaRPr>
          </a:p>
          <a:p>
            <a:pPr algn="ctr" defTabSz="457200">
              <a:lnSpc>
                <a:spcPct val="100000"/>
              </a:lnSpc>
            </a:pPr>
            <a:endParaRPr lang="en-US" sz="1250" b="0" u="none" strike="noStrike">
              <a:solidFill>
                <a:srgbClr val="000000"/>
              </a:solidFill>
              <a:effectLst/>
              <a:uFillTx/>
              <a:latin typeface="Arial"/>
            </a:endParaRPr>
          </a:p>
        </p:txBody>
      </p:sp>
      <p:sp>
        <p:nvSpPr>
          <p:cNvPr id="135" name="Rectangle 9"/>
          <p:cNvSpPr/>
          <p:nvPr/>
        </p:nvSpPr>
        <p:spPr>
          <a:xfrm>
            <a:off x="8458200" y="2743200"/>
            <a:ext cx="3200040" cy="298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14400" rIns="90000" bIns="-14400" anchor="ctr">
            <a:noAutofit/>
          </a:bodyPr>
          <a:p>
            <a:pPr algn="ctr">
              <a:lnSpc>
                <a:spcPct val="100000"/>
              </a:lnSpc>
            </a:pPr>
            <a:endParaRPr lang="en-US" sz="2000" b="1" u="none" strike="noStrike">
              <a:solidFill>
                <a:schemeClr val="lt1"/>
              </a:solidFill>
              <a:effectLst/>
              <a:uFillTx/>
              <a:latin typeface="Calibri"/>
            </a:endParaRPr>
          </a:p>
        </p:txBody>
      </p:sp>
      <p:sp>
        <p:nvSpPr>
          <p:cNvPr id="136" name="Rectangle 10"/>
          <p:cNvSpPr/>
          <p:nvPr/>
        </p:nvSpPr>
        <p:spPr>
          <a:xfrm>
            <a:off x="4572000" y="4572000"/>
            <a:ext cx="3200040" cy="13712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fournit des analyses</a:t>
            </a:r>
            <a:endParaRPr lang="en-US" sz="1800" b="0" u="none" strike="noStrike">
              <a:solidFill>
                <a:srgbClr val="000000"/>
              </a:solidFill>
              <a:effectLst/>
              <a:uFillTx/>
              <a:latin typeface="Arial"/>
            </a:endParaRPr>
          </a:p>
          <a:p>
            <a:pPr algn="ctr" defTabSz="457200">
              <a:lnSpc>
                <a:spcPct val="100000"/>
              </a:lnSpc>
            </a:pPr>
            <a:endParaRPr lang="en-US" sz="1250" b="0" u="none" strike="noStrike">
              <a:solidFill>
                <a:srgbClr val="000000"/>
              </a:solidFill>
              <a:effectLst/>
              <a:uFillTx/>
              <a:latin typeface="Arial"/>
            </a:endParaRPr>
          </a:p>
        </p:txBody>
      </p:sp>
      <p:sp>
        <p:nvSpPr>
          <p:cNvPr id="137" name="Rectangle 11"/>
          <p:cNvSpPr/>
          <p:nvPr/>
        </p:nvSpPr>
        <p:spPr>
          <a:xfrm>
            <a:off x="4572000" y="4572000"/>
            <a:ext cx="3200040" cy="298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14400" rIns="90000" bIns="-14400" anchor="ctr">
            <a:noAutofit/>
          </a:bodyPr>
          <a:p>
            <a:pPr algn="ctr">
              <a:lnSpc>
                <a:spcPct val="100000"/>
              </a:lnSpc>
            </a:pPr>
            <a:endParaRPr lang="en-US" sz="2000" b="1"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21" dur="indefinite" restart="never" nodeType="tmRoot">
          <p:childTnLst>
            <p:seq>
              <p:cTn id="22" dur="indefinite" nodeType="mainSeq">
                <p:childTnLst>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30"/>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1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fill="hold" nodeType="clickEffect">
                                  <p:stCondLst>
                                    <p:cond delay="0"/>
                                  </p:stCondLst>
                                  <p:childTnLst>
                                    <p:set>
                                      <p:cBhvr>
                                        <p:cTn id="32" dur="1" fill="hold">
                                          <p:stCondLst>
                                            <p:cond delay="0"/>
                                          </p:stCondLst>
                                        </p:cTn>
                                        <p:tgtEl>
                                          <p:spTgt spid="132"/>
                                        </p:tgtEl>
                                        <p:attrNameLst>
                                          <p:attrName>style.visibility</p:attrName>
                                        </p:attrNameLst>
                                      </p:cBhvr>
                                      <p:to>
                                        <p:strVal val="visible"/>
                                      </p:to>
                                    </p:set>
                                  </p:childTnLst>
                                </p:cTn>
                              </p:par>
                              <p:par>
                                <p:cTn id="33" presetID="1" presetClass="entr" fill="hold" nodeType="withEffect">
                                  <p:stCondLst>
                                    <p:cond delay="0"/>
                                  </p:stCondLst>
                                  <p:childTnLst>
                                    <p:set>
                                      <p:cBhvr>
                                        <p:cTn id="34" dur="1" fill="hold">
                                          <p:stCondLst>
                                            <p:cond delay="0"/>
                                          </p:stCondLst>
                                        </p:cTn>
                                        <p:tgtEl>
                                          <p:spTgt spid="1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134"/>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1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fill="hold" nodeType="clickEffect">
                                  <p:stCondLst>
                                    <p:cond delay="0"/>
                                  </p:stCondLst>
                                  <p:childTnLst>
                                    <p:set>
                                      <p:cBhvr>
                                        <p:cTn id="44" dur="1" fill="hold">
                                          <p:stCondLst>
                                            <p:cond delay="0"/>
                                          </p:stCondLst>
                                        </p:cTn>
                                        <p:tgtEl>
                                          <p:spTgt spid="136"/>
                                        </p:tgtEl>
                                        <p:attrNameLst>
                                          <p:attrName>style.visibility</p:attrName>
                                        </p:attrNameLst>
                                      </p:cBhvr>
                                      <p:to>
                                        <p:strVal val="visible"/>
                                      </p:to>
                                    </p:set>
                                  </p:childTnLst>
                                </p:cTn>
                              </p:par>
                              <p:par>
                                <p:cTn id="45" presetID="1" presetClass="entr" fill="hold" nodeType="withEffect">
                                  <p:stCondLst>
                                    <p:cond delay="0"/>
                                  </p:stCondLst>
                                  <p:childTnLst>
                                    <p:set>
                                      <p:cBhvr>
                                        <p:cTn id="46"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38" name="TextBox 1"/>
          <p:cNvSpPr/>
          <p:nvPr/>
        </p:nvSpPr>
        <p:spPr>
          <a:xfrm>
            <a:off x="731520" y="640080"/>
            <a:ext cx="20570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39" name="TextBox 2"/>
          <p:cNvSpPr/>
          <p:nvPr/>
        </p:nvSpPr>
        <p:spPr>
          <a:xfrm>
            <a:off x="731520" y="1005840"/>
            <a:ext cx="319824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Clients</a:t>
            </a:r>
            <a:endParaRPr lang="en-US" sz="3600" b="0" u="none" strike="noStrike">
              <a:solidFill>
                <a:srgbClr val="000000"/>
              </a:solidFill>
              <a:effectLst/>
              <a:uFillTx/>
              <a:latin typeface="Arial"/>
            </a:endParaRPr>
          </a:p>
        </p:txBody>
      </p:sp>
      <p:sp>
        <p:nvSpPr>
          <p:cNvPr id="140" name="TextBox 3"/>
          <p:cNvSpPr/>
          <p:nvPr/>
        </p:nvSpPr>
        <p:spPr>
          <a:xfrm>
            <a:off x="731520" y="1828800"/>
            <a:ext cx="10972080" cy="1341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Un client est toute personne (physique ou morale) qui a, ou souhaite avoir, une offre auprès de nous. C'est pour ça que nous avons décidé de répartir nos clients en trois catégories distinctes.</a:t>
            </a:r>
            <a:endParaRPr lang="en-US" sz="2200" b="0" u="none" strike="noStrike">
              <a:solidFill>
                <a:srgbClr val="000000"/>
              </a:solidFill>
              <a:effectLst/>
              <a:uFillTx/>
              <a:latin typeface="Arial"/>
            </a:endParaRPr>
          </a:p>
        </p:txBody>
      </p:sp>
      <p:sp>
        <p:nvSpPr>
          <p:cNvPr id="141" name="Rectangle 4"/>
          <p:cNvSpPr/>
          <p:nvPr/>
        </p:nvSpPr>
        <p:spPr>
          <a:xfrm>
            <a:off x="701640" y="3657600"/>
            <a:ext cx="3412800" cy="23184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Prospects</a:t>
            </a:r>
            <a:endParaRPr lang="en-US" sz="1800" b="0" u="none" strike="noStrike">
              <a:solidFill>
                <a:srgbClr val="000000"/>
              </a:solidFill>
              <a:effectLst/>
              <a:uFillTx/>
              <a:latin typeface="Arial"/>
            </a:endParaRPr>
          </a:p>
          <a:p>
            <a:pPr algn="ctr" defTabSz="457200">
              <a:lnSpc>
                <a:spcPct val="100000"/>
              </a:lnSpc>
            </a:pPr>
            <a:r>
              <a:rPr lang="en-US" sz="1300" b="0" u="none" strike="noStrike">
                <a:solidFill>
                  <a:srgbClr val="64748B"/>
                </a:solidFill>
                <a:effectLst/>
                <a:uFillTx/>
                <a:latin typeface="JetBrains Mono"/>
              </a:rPr>
              <a:t>les personnes qui manifestent de l'intérêt pour nos services</a:t>
            </a:r>
            <a:endParaRPr lang="en-US" sz="1300" b="0" u="none" strike="noStrike">
              <a:solidFill>
                <a:srgbClr val="000000"/>
              </a:solidFill>
              <a:effectLst/>
              <a:uFillTx/>
              <a:latin typeface="Arial"/>
            </a:endParaRPr>
          </a:p>
        </p:txBody>
      </p:sp>
      <p:sp>
        <p:nvSpPr>
          <p:cNvPr id="142" name="Rectangle 5"/>
          <p:cNvSpPr/>
          <p:nvPr/>
        </p:nvSpPr>
        <p:spPr>
          <a:xfrm>
            <a:off x="701640" y="3657600"/>
            <a:ext cx="3412800" cy="5076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6480" rIns="90000" bIns="6480" anchor="ctr">
            <a:noAutofit/>
          </a:bodyPr>
          <a:p>
            <a:pPr algn="ctr">
              <a:lnSpc>
                <a:spcPct val="100000"/>
              </a:lnSpc>
            </a:pPr>
            <a:endParaRPr lang="en-US" sz="1800" b="0" u="none" strike="noStrike">
              <a:solidFill>
                <a:schemeClr val="lt1"/>
              </a:solidFill>
              <a:effectLst/>
              <a:uFillTx/>
              <a:latin typeface="Calibri"/>
            </a:endParaRPr>
          </a:p>
        </p:txBody>
      </p:sp>
      <p:sp>
        <p:nvSpPr>
          <p:cNvPr id="143" name="Rectangle 6"/>
          <p:cNvSpPr/>
          <p:nvPr/>
        </p:nvSpPr>
        <p:spPr>
          <a:xfrm>
            <a:off x="4343400" y="3670200"/>
            <a:ext cx="3657240" cy="23184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Contacts</a:t>
            </a:r>
            <a:endParaRPr lang="en-US" sz="1800" b="0" u="none" strike="noStrike">
              <a:solidFill>
                <a:srgbClr val="000000"/>
              </a:solidFill>
              <a:effectLst/>
              <a:uFillTx/>
              <a:latin typeface="Arial"/>
            </a:endParaRPr>
          </a:p>
          <a:p>
            <a:pPr algn="ctr" defTabSz="457200">
              <a:lnSpc>
                <a:spcPct val="100000"/>
              </a:lnSpc>
            </a:pPr>
            <a:r>
              <a:rPr lang="en-US" sz="1300" b="0" u="none" strike="noStrike">
                <a:solidFill>
                  <a:srgbClr val="64748B"/>
                </a:solidFill>
                <a:effectLst/>
                <a:uFillTx/>
                <a:latin typeface="JetBrains Mono"/>
              </a:rPr>
              <a:t>les personnes qui ayant déjà bénéficié de nos services</a:t>
            </a:r>
            <a:endParaRPr lang="en-US" sz="1300" b="0" u="none" strike="noStrike">
              <a:solidFill>
                <a:srgbClr val="000000"/>
              </a:solidFill>
              <a:effectLst/>
              <a:uFillTx/>
              <a:latin typeface="Arial"/>
            </a:endParaRPr>
          </a:p>
        </p:txBody>
      </p:sp>
      <p:sp>
        <p:nvSpPr>
          <p:cNvPr id="144" name="Rectangle 7"/>
          <p:cNvSpPr/>
          <p:nvPr/>
        </p:nvSpPr>
        <p:spPr>
          <a:xfrm>
            <a:off x="4343400" y="3670200"/>
            <a:ext cx="3657240" cy="5112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6840" rIns="90000" bIns="6840" anchor="ctr">
            <a:noAutofit/>
          </a:bodyPr>
          <a:p>
            <a:pPr algn="ctr">
              <a:lnSpc>
                <a:spcPct val="100000"/>
              </a:lnSpc>
            </a:pPr>
            <a:endParaRPr lang="en-US" sz="1800" b="0" u="none" strike="noStrike">
              <a:solidFill>
                <a:schemeClr val="lt1"/>
              </a:solidFill>
              <a:effectLst/>
              <a:uFillTx/>
              <a:latin typeface="Calibri"/>
            </a:endParaRPr>
          </a:p>
        </p:txBody>
      </p:sp>
      <p:sp>
        <p:nvSpPr>
          <p:cNvPr id="145" name="Rectangle 8"/>
          <p:cNvSpPr/>
          <p:nvPr/>
        </p:nvSpPr>
        <p:spPr>
          <a:xfrm>
            <a:off x="8229600" y="3670200"/>
            <a:ext cx="3428640" cy="23184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Comptes</a:t>
            </a:r>
            <a:endParaRPr lang="en-US" sz="1800" b="0" u="none" strike="noStrike">
              <a:solidFill>
                <a:srgbClr val="000000"/>
              </a:solidFill>
              <a:effectLst/>
              <a:uFillTx/>
              <a:latin typeface="Arial"/>
            </a:endParaRPr>
          </a:p>
          <a:p>
            <a:pPr algn="ctr" defTabSz="457200">
              <a:lnSpc>
                <a:spcPct val="100000"/>
              </a:lnSpc>
            </a:pPr>
            <a:r>
              <a:rPr lang="en-US" sz="1300" b="0" u="none" strike="noStrike">
                <a:solidFill>
                  <a:srgbClr val="64748B"/>
                </a:solidFill>
                <a:effectLst/>
                <a:uFillTx/>
                <a:latin typeface="JetBrains Mono"/>
              </a:rPr>
              <a:t>les clients stratégiques ou bien des entreprises</a:t>
            </a:r>
            <a:endParaRPr lang="en-US" sz="1300" b="0" u="none" strike="noStrike">
              <a:solidFill>
                <a:srgbClr val="000000"/>
              </a:solidFill>
              <a:effectLst/>
              <a:uFillTx/>
              <a:latin typeface="Arial"/>
            </a:endParaRPr>
          </a:p>
        </p:txBody>
      </p:sp>
      <p:sp>
        <p:nvSpPr>
          <p:cNvPr id="146" name="Rectangle 9"/>
          <p:cNvSpPr/>
          <p:nvPr/>
        </p:nvSpPr>
        <p:spPr>
          <a:xfrm>
            <a:off x="8229600" y="3670200"/>
            <a:ext cx="3428640" cy="5112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6840" rIns="90000" bIns="6840" anchor="ctr">
            <a:noAutofit/>
          </a:bodyPr>
          <a:p>
            <a:pPr algn="ctr">
              <a:lnSpc>
                <a:spcPct val="100000"/>
              </a:lnSpc>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presetID="1" presetClass="entr" fill="hold" nodeType="clickEffect">
                                  <p:stCondLst>
                                    <p:cond delay="0"/>
                                  </p:stCondLst>
                                  <p:childTnLst>
                                    <p:set>
                                      <p:cBhvr>
                                        <p:cTn id="52" dur="1" fill="hold">
                                          <p:stCondLst>
                                            <p:cond delay="0"/>
                                          </p:stCondLst>
                                        </p:cTn>
                                        <p:tgtEl>
                                          <p:spTgt spid="141"/>
                                        </p:tgtEl>
                                        <p:attrNameLst>
                                          <p:attrName>style.visibility</p:attrName>
                                        </p:attrNameLst>
                                      </p:cBhvr>
                                      <p:to>
                                        <p:strVal val="visible"/>
                                      </p:to>
                                    </p:set>
                                  </p:childTnLst>
                                </p:cTn>
                              </p:par>
                              <p:par>
                                <p:cTn id="53" presetID="1" presetClass="entr" fill="hold" nodeType="withEffect">
                                  <p:stCondLst>
                                    <p:cond delay="0"/>
                                  </p:stCondLst>
                                  <p:childTnLst>
                                    <p:set>
                                      <p:cBhvr>
                                        <p:cTn id="54" dur="1" fill="hold">
                                          <p:stCondLst>
                                            <p:cond delay="0"/>
                                          </p:stCondLst>
                                        </p:cTn>
                                        <p:tgtEl>
                                          <p:spTgt spid="1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fill="hold" nodeType="clickEffect">
                                  <p:stCondLst>
                                    <p:cond delay="0"/>
                                  </p:stCondLst>
                                  <p:childTnLst>
                                    <p:set>
                                      <p:cBhvr>
                                        <p:cTn id="58" dur="1" fill="hold">
                                          <p:stCondLst>
                                            <p:cond delay="0"/>
                                          </p:stCondLst>
                                        </p:cTn>
                                        <p:tgtEl>
                                          <p:spTgt spid="143"/>
                                        </p:tgtEl>
                                        <p:attrNameLst>
                                          <p:attrName>style.visibility</p:attrName>
                                        </p:attrNameLst>
                                      </p:cBhvr>
                                      <p:to>
                                        <p:strVal val="visible"/>
                                      </p:to>
                                    </p:set>
                                  </p:childTnLst>
                                </p:cTn>
                              </p:par>
                              <p:par>
                                <p:cTn id="59" presetID="1" presetClass="entr" fill="hold" nodeType="withEffect">
                                  <p:stCondLst>
                                    <p:cond delay="0"/>
                                  </p:stCondLst>
                                  <p:childTnLst>
                                    <p:set>
                                      <p:cBhvr>
                                        <p:cTn id="60" dur="1" fill="hold">
                                          <p:stCondLst>
                                            <p:cond delay="0"/>
                                          </p:stCondLst>
                                        </p:cTn>
                                        <p:tgtEl>
                                          <p:spTgt spid="14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fill="hold" nodeType="clickEffect">
                                  <p:stCondLst>
                                    <p:cond delay="0"/>
                                  </p:stCondLst>
                                  <p:childTnLst>
                                    <p:set>
                                      <p:cBhvr>
                                        <p:cTn id="64" dur="1" fill="hold">
                                          <p:stCondLst>
                                            <p:cond delay="0"/>
                                          </p:stCondLst>
                                        </p:cTn>
                                        <p:tgtEl>
                                          <p:spTgt spid="145"/>
                                        </p:tgtEl>
                                        <p:attrNameLst>
                                          <p:attrName>style.visibility</p:attrName>
                                        </p:attrNameLst>
                                      </p:cBhvr>
                                      <p:to>
                                        <p:strVal val="visible"/>
                                      </p:to>
                                    </p:set>
                                  </p:childTnLst>
                                </p:cTn>
                              </p:par>
                              <p:par>
                                <p:cTn id="65" presetID="1" presetClass="entr" fill="hold" nodeType="withEffect">
                                  <p:stCondLst>
                                    <p:cond delay="0"/>
                                  </p:stCondLst>
                                  <p:childTnLst>
                                    <p:set>
                                      <p:cBhvr>
                                        <p:cTn id="66"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47" name="TextBox 1"/>
          <p:cNvSpPr/>
          <p:nvPr/>
        </p:nvSpPr>
        <p:spPr>
          <a:xfrm>
            <a:off x="731520" y="640080"/>
            <a:ext cx="20570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48" name="TextBox 2"/>
          <p:cNvSpPr/>
          <p:nvPr/>
        </p:nvSpPr>
        <p:spPr>
          <a:xfrm>
            <a:off x="731520" y="1005840"/>
            <a:ext cx="48441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Opportunities</a:t>
            </a:r>
            <a:endParaRPr lang="en-US" sz="3600" b="0" u="none" strike="noStrike">
              <a:solidFill>
                <a:srgbClr val="000000"/>
              </a:solidFill>
              <a:effectLst/>
              <a:uFillTx/>
              <a:latin typeface="Arial"/>
            </a:endParaRPr>
          </a:p>
        </p:txBody>
      </p:sp>
      <p:sp>
        <p:nvSpPr>
          <p:cNvPr id="149" name="TextBox 3"/>
          <p:cNvSpPr/>
          <p:nvPr/>
        </p:nvSpPr>
        <p:spPr>
          <a:xfrm>
            <a:off x="731520" y="1828800"/>
            <a:ext cx="10972080" cy="670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sont des offres que nous présentons à nos clients. ils peuvent etre des achats potentiels, une service etc...</a:t>
            </a:r>
            <a:endParaRPr lang="en-US" sz="2200" b="0" u="none" strike="noStrike">
              <a:solidFill>
                <a:srgbClr val="000000"/>
              </a:solidFill>
              <a:effectLst/>
              <a:uFillTx/>
              <a:latin typeface="Arial"/>
            </a:endParaRPr>
          </a:p>
        </p:txBody>
      </p:sp>
      <p:sp>
        <p:nvSpPr>
          <p:cNvPr id="150" name="TextBox 11"/>
          <p:cNvSpPr/>
          <p:nvPr/>
        </p:nvSpPr>
        <p:spPr>
          <a:xfrm>
            <a:off x="914400" y="4358520"/>
            <a:ext cx="10972080" cy="670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C’est une initiative marketing planifiée visant à des clients et des opportunites sur une période déterminée.</a:t>
            </a:r>
            <a:endParaRPr lang="en-US" sz="2200" b="0" u="none" strike="noStrike">
              <a:solidFill>
                <a:srgbClr val="000000"/>
              </a:solidFill>
              <a:effectLst/>
              <a:uFillTx/>
              <a:latin typeface="Arial"/>
            </a:endParaRPr>
          </a:p>
        </p:txBody>
      </p:sp>
      <p:sp>
        <p:nvSpPr>
          <p:cNvPr id="151" name="TextBox 12"/>
          <p:cNvSpPr/>
          <p:nvPr/>
        </p:nvSpPr>
        <p:spPr>
          <a:xfrm>
            <a:off x="685800" y="3215520"/>
            <a:ext cx="374652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Campagnes</a:t>
            </a:r>
            <a:endParaRPr lang="en-US" sz="36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52" name="TextBox 1"/>
          <p:cNvSpPr/>
          <p:nvPr/>
        </p:nvSpPr>
        <p:spPr>
          <a:xfrm>
            <a:off x="731520" y="640080"/>
            <a:ext cx="20570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53" name="TextBox 2"/>
          <p:cNvSpPr/>
          <p:nvPr/>
        </p:nvSpPr>
        <p:spPr>
          <a:xfrm>
            <a:off x="731520" y="1005840"/>
            <a:ext cx="40212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Activities</a:t>
            </a:r>
            <a:endParaRPr lang="en-US" sz="3600" b="0" u="none" strike="noStrike">
              <a:solidFill>
                <a:srgbClr val="000000"/>
              </a:solidFill>
              <a:effectLst/>
              <a:uFillTx/>
              <a:latin typeface="Arial"/>
            </a:endParaRPr>
          </a:p>
        </p:txBody>
      </p:sp>
      <p:sp>
        <p:nvSpPr>
          <p:cNvPr id="154" name="TextBox 3"/>
          <p:cNvSpPr/>
          <p:nvPr/>
        </p:nvSpPr>
        <p:spPr>
          <a:xfrm>
            <a:off x="731520" y="1828800"/>
            <a:ext cx="10972080" cy="670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Les activités correspondent à toute action que nous prévoyons d'effectuer</a:t>
            </a:r>
            <a:endParaRPr lang="en-US" sz="2200" b="0" u="none" strike="noStrike">
              <a:solidFill>
                <a:srgbClr val="000000"/>
              </a:solidFill>
              <a:effectLst/>
              <a:uFillTx/>
              <a:latin typeface="Arial"/>
            </a:endParaRPr>
          </a:p>
        </p:txBody>
      </p:sp>
      <p:sp>
        <p:nvSpPr>
          <p:cNvPr id="155" name="Rectangle 4"/>
          <p:cNvSpPr/>
          <p:nvPr/>
        </p:nvSpPr>
        <p:spPr>
          <a:xfrm>
            <a:off x="701640" y="3565800"/>
            <a:ext cx="3412800" cy="28346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Les taches</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sont des actions physiques</a:t>
            </a:r>
            <a:endParaRPr lang="en-US" sz="1250" b="0" u="none" strike="noStrike">
              <a:solidFill>
                <a:srgbClr val="000000"/>
              </a:solidFill>
              <a:effectLst/>
              <a:uFillTx/>
              <a:latin typeface="Arial"/>
            </a:endParaRPr>
          </a:p>
        </p:txBody>
      </p:sp>
      <p:sp>
        <p:nvSpPr>
          <p:cNvPr id="156" name="Rectangle 5"/>
          <p:cNvSpPr/>
          <p:nvPr/>
        </p:nvSpPr>
        <p:spPr>
          <a:xfrm>
            <a:off x="701640" y="3565800"/>
            <a:ext cx="3412800" cy="622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18000" rIns="90000" bIns="18000" anchor="ctr">
            <a:noAutofit/>
          </a:bodyPr>
          <a:p>
            <a:pPr>
              <a:lnSpc>
                <a:spcPct val="100000"/>
              </a:lnSpc>
            </a:pPr>
            <a:endParaRPr lang="en-US" sz="1800" b="0" u="none" strike="noStrike">
              <a:solidFill>
                <a:schemeClr val="lt1"/>
              </a:solidFill>
              <a:effectLst/>
              <a:uFillTx/>
              <a:latin typeface="Calibri"/>
            </a:endParaRPr>
          </a:p>
        </p:txBody>
      </p:sp>
      <p:sp>
        <p:nvSpPr>
          <p:cNvPr id="157" name="Rectangle 6"/>
          <p:cNvSpPr/>
          <p:nvPr/>
        </p:nvSpPr>
        <p:spPr>
          <a:xfrm>
            <a:off x="8245440" y="3565800"/>
            <a:ext cx="3412800" cy="28346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Les reunions</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peuvent etre presentielles ou online</a:t>
            </a:r>
            <a:endParaRPr lang="en-US" sz="1250" b="0" u="none" strike="noStrike">
              <a:solidFill>
                <a:srgbClr val="000000"/>
              </a:solidFill>
              <a:effectLst/>
              <a:uFillTx/>
              <a:latin typeface="Arial"/>
            </a:endParaRPr>
          </a:p>
        </p:txBody>
      </p:sp>
      <p:sp>
        <p:nvSpPr>
          <p:cNvPr id="158" name="Rectangle 7"/>
          <p:cNvSpPr/>
          <p:nvPr/>
        </p:nvSpPr>
        <p:spPr>
          <a:xfrm>
            <a:off x="8245440" y="3565800"/>
            <a:ext cx="3412800" cy="622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18000" rIns="90000" bIns="18000" anchor="ctr">
            <a:noAutofit/>
          </a:bodyPr>
          <a:p>
            <a:pPr>
              <a:lnSpc>
                <a:spcPct val="100000"/>
              </a:lnSpc>
            </a:pPr>
            <a:endParaRPr lang="en-US" sz="1800" b="0" u="none" strike="noStrike">
              <a:solidFill>
                <a:schemeClr val="lt1"/>
              </a:solidFill>
              <a:effectLst/>
              <a:uFillTx/>
              <a:latin typeface="Calibri"/>
            </a:endParaRPr>
          </a:p>
        </p:txBody>
      </p:sp>
      <p:sp>
        <p:nvSpPr>
          <p:cNvPr id="159" name="Rectangle 8"/>
          <p:cNvSpPr/>
          <p:nvPr/>
        </p:nvSpPr>
        <p:spPr>
          <a:xfrm>
            <a:off x="4443840" y="3529080"/>
            <a:ext cx="3412800" cy="28346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Les appels</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peuvent etre telephonic ou video</a:t>
            </a:r>
            <a:endParaRPr lang="en-US" sz="1250" b="0" u="none" strike="noStrike">
              <a:solidFill>
                <a:srgbClr val="000000"/>
              </a:solidFill>
              <a:effectLst/>
              <a:uFillTx/>
              <a:latin typeface="Arial"/>
            </a:endParaRPr>
          </a:p>
        </p:txBody>
      </p:sp>
      <p:sp>
        <p:nvSpPr>
          <p:cNvPr id="160" name="Rectangle 9"/>
          <p:cNvSpPr/>
          <p:nvPr/>
        </p:nvSpPr>
        <p:spPr>
          <a:xfrm>
            <a:off x="4443840" y="3529080"/>
            <a:ext cx="3412800" cy="6228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18000" rIns="90000" bIns="18000" anchor="ctr">
            <a:noAutofit/>
          </a:bodyPr>
          <a:p>
            <a:pPr>
              <a:lnSpc>
                <a:spcPct val="100000"/>
              </a:lnSpc>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67" dur="indefinite" restart="never" nodeType="tmRoot">
          <p:childTnLst>
            <p:seq>
              <p:cTn id="68" dur="indefinite" nodeType="mainSeq">
                <p:childTnLst>
                  <p:par>
                    <p:cTn id="69" fill="hold">
                      <p:stCondLst>
                        <p:cond delay="indefinite"/>
                      </p:stCondLst>
                      <p:childTnLst>
                        <p:par>
                          <p:cTn id="70" fill="hold">
                            <p:stCondLst>
                              <p:cond delay="0"/>
                            </p:stCondLst>
                            <p:childTnLst>
                              <p:par>
                                <p:cTn id="71" presetID="1" presetClass="entr" fill="hold" nodeType="clickEffect">
                                  <p:stCondLst>
                                    <p:cond delay="0"/>
                                  </p:stCondLst>
                                  <p:childTnLst>
                                    <p:set>
                                      <p:cBhvr>
                                        <p:cTn id="72" dur="1" fill="hold">
                                          <p:stCondLst>
                                            <p:cond delay="0"/>
                                          </p:stCondLst>
                                        </p:cTn>
                                        <p:tgtEl>
                                          <p:spTgt spid="155"/>
                                        </p:tgtEl>
                                        <p:attrNameLst>
                                          <p:attrName>style.visibility</p:attrName>
                                        </p:attrNameLst>
                                      </p:cBhvr>
                                      <p:to>
                                        <p:strVal val="visible"/>
                                      </p:to>
                                    </p:set>
                                  </p:childTnLst>
                                </p:cTn>
                              </p:par>
                              <p:par>
                                <p:cTn id="73" presetID="1" presetClass="entr" fill="hold" nodeType="withEffect">
                                  <p:stCondLst>
                                    <p:cond delay="0"/>
                                  </p:stCondLst>
                                  <p:childTnLst>
                                    <p:set>
                                      <p:cBhvr>
                                        <p:cTn id="74" dur="1" fill="hold">
                                          <p:stCondLst>
                                            <p:cond delay="0"/>
                                          </p:stCondLst>
                                        </p:cTn>
                                        <p:tgtEl>
                                          <p:spTgt spid="15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fill="hold" nodeType="clickEffect">
                                  <p:stCondLst>
                                    <p:cond delay="0"/>
                                  </p:stCondLst>
                                  <p:childTnLst>
                                    <p:set>
                                      <p:cBhvr>
                                        <p:cTn id="78" dur="1" fill="hold">
                                          <p:stCondLst>
                                            <p:cond delay="0"/>
                                          </p:stCondLst>
                                        </p:cTn>
                                        <p:tgtEl>
                                          <p:spTgt spid="159"/>
                                        </p:tgtEl>
                                        <p:attrNameLst>
                                          <p:attrName>style.visibility</p:attrName>
                                        </p:attrNameLst>
                                      </p:cBhvr>
                                      <p:to>
                                        <p:strVal val="visible"/>
                                      </p:to>
                                    </p:set>
                                  </p:childTnLst>
                                </p:cTn>
                              </p:par>
                              <p:par>
                                <p:cTn id="79" presetID="1" presetClass="entr" fill="hold" nodeType="withEffect">
                                  <p:stCondLst>
                                    <p:cond delay="0"/>
                                  </p:stCondLst>
                                  <p:childTnLst>
                                    <p:set>
                                      <p:cBhvr>
                                        <p:cTn id="80" dur="1" fill="hold">
                                          <p:stCondLst>
                                            <p:cond delay="0"/>
                                          </p:stCondLst>
                                        </p:cTn>
                                        <p:tgtEl>
                                          <p:spTgt spid="16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fill="hold" nodeType="clickEffect">
                                  <p:stCondLst>
                                    <p:cond delay="0"/>
                                  </p:stCondLst>
                                  <p:childTnLst>
                                    <p:set>
                                      <p:cBhvr>
                                        <p:cTn id="84" dur="1" fill="hold">
                                          <p:stCondLst>
                                            <p:cond delay="0"/>
                                          </p:stCondLst>
                                        </p:cTn>
                                        <p:tgtEl>
                                          <p:spTgt spid="157"/>
                                        </p:tgtEl>
                                        <p:attrNameLst>
                                          <p:attrName>style.visibility</p:attrName>
                                        </p:attrNameLst>
                                      </p:cBhvr>
                                      <p:to>
                                        <p:strVal val="visible"/>
                                      </p:to>
                                    </p:set>
                                  </p:childTnLst>
                                </p:cTn>
                              </p:par>
                              <p:par>
                                <p:cTn id="85" presetID="1" presetClass="entr" fill="hold" nodeType="withEffect">
                                  <p:stCondLst>
                                    <p:cond delay="0"/>
                                  </p:stCondLst>
                                  <p:childTnLst>
                                    <p:set>
                                      <p:cBhvr>
                                        <p:cTn id="86"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61" name="TextBox 1"/>
          <p:cNvSpPr/>
          <p:nvPr/>
        </p:nvSpPr>
        <p:spPr>
          <a:xfrm>
            <a:off x="731520" y="640080"/>
            <a:ext cx="20570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62" name="TextBox 2"/>
          <p:cNvSpPr/>
          <p:nvPr/>
        </p:nvSpPr>
        <p:spPr>
          <a:xfrm>
            <a:off x="731520" y="1005840"/>
            <a:ext cx="868464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fonctionnalités supplémentaires</a:t>
            </a:r>
            <a:endParaRPr lang="en-US" sz="3600" b="0" u="none" strike="noStrike">
              <a:solidFill>
                <a:srgbClr val="000000"/>
              </a:solidFill>
              <a:effectLst/>
              <a:uFillTx/>
              <a:latin typeface="Arial"/>
            </a:endParaRPr>
          </a:p>
        </p:txBody>
      </p:sp>
      <p:sp>
        <p:nvSpPr>
          <p:cNvPr id="163" name="Rectangle 3"/>
          <p:cNvSpPr/>
          <p:nvPr/>
        </p:nvSpPr>
        <p:spPr>
          <a:xfrm>
            <a:off x="731520" y="2014200"/>
            <a:ext cx="4983120" cy="4251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600" b="1" u="none" strike="noStrike">
                <a:solidFill>
                  <a:srgbClr val="271811"/>
                </a:solidFill>
                <a:effectLst/>
                <a:uFillTx/>
                <a:latin typeface="JetBrains Mono"/>
              </a:rPr>
              <a:t>les notes</a:t>
            </a:r>
            <a:endParaRPr lang="en-US" sz="2600" b="0" u="none" strike="noStrike">
              <a:solidFill>
                <a:srgbClr val="000000"/>
              </a:solidFill>
              <a:effectLst/>
              <a:uFillTx/>
              <a:latin typeface="Arial"/>
            </a:endParaRPr>
          </a:p>
          <a:p>
            <a:pPr algn="ctr" defTabSz="457200">
              <a:lnSpc>
                <a:spcPct val="100000"/>
              </a:lnSpc>
            </a:pPr>
            <a:r>
              <a:rPr lang="en-US" sz="2000" b="0" u="none" strike="noStrike">
                <a:solidFill>
                  <a:srgbClr val="64748B"/>
                </a:solidFill>
                <a:effectLst/>
                <a:uFillTx/>
                <a:latin typeface="JetBrains Mono"/>
              </a:rPr>
              <a:t>sont de simples remarques</a:t>
            </a:r>
            <a:endParaRPr lang="en-US" sz="2000" b="0" u="none" strike="noStrike">
              <a:solidFill>
                <a:srgbClr val="000000"/>
              </a:solidFill>
              <a:effectLst/>
              <a:uFillTx/>
              <a:latin typeface="Arial"/>
            </a:endParaRPr>
          </a:p>
        </p:txBody>
      </p:sp>
      <p:sp>
        <p:nvSpPr>
          <p:cNvPr id="164" name="Rectangle 4"/>
          <p:cNvSpPr/>
          <p:nvPr/>
        </p:nvSpPr>
        <p:spPr>
          <a:xfrm>
            <a:off x="731520" y="2014200"/>
            <a:ext cx="4983120" cy="93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45000" rIns="90000" bIns="45000" anchor="ctr">
            <a:noAutofit/>
          </a:bodyPr>
          <a:p>
            <a:pPr algn="ctr">
              <a:lnSpc>
                <a:spcPct val="100000"/>
              </a:lnSpc>
            </a:pPr>
            <a:endParaRPr lang="en-US" sz="1800" b="0" u="none" strike="noStrike">
              <a:solidFill>
                <a:schemeClr val="lt1"/>
              </a:solidFill>
              <a:effectLst/>
              <a:uFillTx/>
              <a:latin typeface="Calibri"/>
            </a:endParaRPr>
          </a:p>
        </p:txBody>
      </p:sp>
      <p:sp>
        <p:nvSpPr>
          <p:cNvPr id="165" name="Rectangle 5"/>
          <p:cNvSpPr/>
          <p:nvPr/>
        </p:nvSpPr>
        <p:spPr>
          <a:xfrm>
            <a:off x="6300000" y="2002320"/>
            <a:ext cx="4983120" cy="4251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600" b="1" u="none" strike="noStrike">
                <a:solidFill>
                  <a:srgbClr val="271811"/>
                </a:solidFill>
                <a:effectLst/>
                <a:uFillTx/>
                <a:latin typeface="JetBrains Mono"/>
              </a:rPr>
              <a:t>les emails</a:t>
            </a:r>
            <a:endParaRPr lang="en-US" sz="2600" b="0" u="none" strike="noStrike">
              <a:solidFill>
                <a:srgbClr val="000000"/>
              </a:solidFill>
              <a:effectLst/>
              <a:uFillTx/>
              <a:latin typeface="Arial"/>
            </a:endParaRPr>
          </a:p>
          <a:p>
            <a:pPr algn="ctr" defTabSz="457200">
              <a:lnSpc>
                <a:spcPct val="100000"/>
              </a:lnSpc>
            </a:pPr>
            <a:r>
              <a:rPr lang="en-US" sz="2000" b="0" u="none" strike="noStrike">
                <a:solidFill>
                  <a:srgbClr val="64748B"/>
                </a:solidFill>
                <a:effectLst/>
                <a:uFillTx/>
                <a:latin typeface="JetBrains Mono"/>
              </a:rPr>
              <a:t>les courriers électroniques</a:t>
            </a:r>
            <a:endParaRPr lang="en-US" sz="2000" b="0" u="none" strike="noStrike">
              <a:solidFill>
                <a:srgbClr val="000000"/>
              </a:solidFill>
              <a:effectLst/>
              <a:uFillTx/>
              <a:latin typeface="Arial"/>
            </a:endParaRPr>
          </a:p>
        </p:txBody>
      </p:sp>
      <p:sp>
        <p:nvSpPr>
          <p:cNvPr id="166" name="Rectangle 6"/>
          <p:cNvSpPr/>
          <p:nvPr/>
        </p:nvSpPr>
        <p:spPr>
          <a:xfrm>
            <a:off x="6300000" y="2002320"/>
            <a:ext cx="4983120" cy="93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45000" rIns="90000" bIns="45000" anchor="ctr">
            <a:noAutofit/>
          </a:bodyPr>
          <a:p>
            <a:pPr algn="ctr">
              <a:lnSpc>
                <a:spcPct val="100000"/>
              </a:lnSpc>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87" dur="indefinite" restart="never" nodeType="tmRoot">
          <p:childTnLst>
            <p:seq>
              <p:cTn id="88" dur="indefinite" nodeType="mainSeq">
                <p:childTnLst>
                  <p:par>
                    <p:cTn id="89" fill="hold">
                      <p:stCondLst>
                        <p:cond delay="indefinite"/>
                      </p:stCondLst>
                      <p:childTnLst>
                        <p:par>
                          <p:cTn id="90" fill="hold">
                            <p:stCondLst>
                              <p:cond delay="0"/>
                            </p:stCondLst>
                            <p:childTnLst>
                              <p:par>
                                <p:cTn id="91" presetID="1" presetClass="entr" fill="hold" nodeType="clickEffect">
                                  <p:stCondLst>
                                    <p:cond delay="0"/>
                                  </p:stCondLst>
                                  <p:childTnLst>
                                    <p:set>
                                      <p:cBhvr>
                                        <p:cTn id="92" dur="1" fill="hold">
                                          <p:stCondLst>
                                            <p:cond delay="0"/>
                                          </p:stCondLst>
                                        </p:cTn>
                                        <p:tgtEl>
                                          <p:spTgt spid="163"/>
                                        </p:tgtEl>
                                        <p:attrNameLst>
                                          <p:attrName>style.visibility</p:attrName>
                                        </p:attrNameLst>
                                      </p:cBhvr>
                                      <p:to>
                                        <p:strVal val="visible"/>
                                      </p:to>
                                    </p:set>
                                  </p:childTnLst>
                                </p:cTn>
                              </p:par>
                              <p:par>
                                <p:cTn id="93" presetID="1" presetClass="entr" fill="hold" nodeType="withEffect">
                                  <p:stCondLst>
                                    <p:cond delay="0"/>
                                  </p:stCondLst>
                                  <p:childTnLst>
                                    <p:set>
                                      <p:cBhvr>
                                        <p:cTn id="94" dur="1" fill="hold">
                                          <p:stCondLst>
                                            <p:cond delay="0"/>
                                          </p:stCondLst>
                                        </p:cTn>
                                        <p:tgtEl>
                                          <p:spTgt spid="16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fill="hold" nodeType="clickEffect">
                                  <p:stCondLst>
                                    <p:cond delay="0"/>
                                  </p:stCondLst>
                                  <p:childTnLst>
                                    <p:set>
                                      <p:cBhvr>
                                        <p:cTn id="98" dur="1" fill="hold">
                                          <p:stCondLst>
                                            <p:cond delay="0"/>
                                          </p:stCondLst>
                                        </p:cTn>
                                        <p:tgtEl>
                                          <p:spTgt spid="165"/>
                                        </p:tgtEl>
                                        <p:attrNameLst>
                                          <p:attrName>style.visibility</p:attrName>
                                        </p:attrNameLst>
                                      </p:cBhvr>
                                      <p:to>
                                        <p:strVal val="visible"/>
                                      </p:to>
                                    </p:set>
                                  </p:childTnLst>
                                </p:cTn>
                              </p:par>
                              <p:par>
                                <p:cTn id="99" presetID="1" presetClass="entr" fill="hold" nodeType="withEffect">
                                  <p:stCondLst>
                                    <p:cond delay="0"/>
                                  </p:stCondLst>
                                  <p:childTnLst>
                                    <p:set>
                                      <p:cBhvr>
                                        <p:cTn id="100"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67" name="TextBox 1"/>
          <p:cNvSpPr/>
          <p:nvPr/>
        </p:nvSpPr>
        <p:spPr>
          <a:xfrm>
            <a:off x="731520" y="640080"/>
            <a:ext cx="20570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68" name="TextBox 2"/>
          <p:cNvSpPr/>
          <p:nvPr/>
        </p:nvSpPr>
        <p:spPr>
          <a:xfrm>
            <a:off x="731520" y="1005840"/>
            <a:ext cx="319824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Acteurs</a:t>
            </a:r>
            <a:endParaRPr lang="en-US" sz="3600" b="0" u="none" strike="noStrike">
              <a:solidFill>
                <a:srgbClr val="000000"/>
              </a:solidFill>
              <a:effectLst/>
              <a:uFillTx/>
              <a:latin typeface="Arial"/>
            </a:endParaRPr>
          </a:p>
        </p:txBody>
      </p:sp>
      <p:sp>
        <p:nvSpPr>
          <p:cNvPr id="169" name="Rectangle 3"/>
          <p:cNvSpPr/>
          <p:nvPr/>
        </p:nvSpPr>
        <p:spPr>
          <a:xfrm>
            <a:off x="731520" y="1920240"/>
            <a:ext cx="5241600" cy="16452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Marketeur</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Ajoute des clients et des campagnes et des opportunites</a:t>
            </a:r>
            <a:endParaRPr lang="en-US" sz="1250" b="0" u="none" strike="noStrike">
              <a:solidFill>
                <a:srgbClr val="000000"/>
              </a:solidFill>
              <a:effectLst/>
              <a:uFillTx/>
              <a:latin typeface="Arial"/>
            </a:endParaRPr>
          </a:p>
        </p:txBody>
      </p:sp>
      <p:sp>
        <p:nvSpPr>
          <p:cNvPr id="170" name="Rectangle 4"/>
          <p:cNvSpPr/>
          <p:nvPr/>
        </p:nvSpPr>
        <p:spPr>
          <a:xfrm>
            <a:off x="731520" y="1920240"/>
            <a:ext cx="5241600" cy="36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8280" rIns="90000" bIns="-8280" anchor="ctr">
            <a:noAutofit/>
          </a:bodyPr>
          <a:p>
            <a:pPr>
              <a:lnSpc>
                <a:spcPct val="100000"/>
              </a:lnSpc>
            </a:pPr>
            <a:endParaRPr lang="en-US" sz="1800" b="0" u="none" strike="noStrike">
              <a:solidFill>
                <a:schemeClr val="lt1"/>
              </a:solidFill>
              <a:effectLst/>
              <a:uFillTx/>
              <a:latin typeface="Calibri"/>
            </a:endParaRPr>
          </a:p>
        </p:txBody>
      </p:sp>
      <p:sp>
        <p:nvSpPr>
          <p:cNvPr id="171" name="Rectangle 5"/>
          <p:cNvSpPr/>
          <p:nvPr/>
        </p:nvSpPr>
        <p:spPr>
          <a:xfrm>
            <a:off x="6172200" y="1923120"/>
            <a:ext cx="5241600" cy="16452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Directeur</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dirige l'équipe et consulte les rapports</a:t>
            </a:r>
            <a:endParaRPr lang="en-US" sz="1250" b="0" u="none" strike="noStrike">
              <a:solidFill>
                <a:srgbClr val="000000"/>
              </a:solidFill>
              <a:effectLst/>
              <a:uFillTx/>
              <a:latin typeface="Arial"/>
            </a:endParaRPr>
          </a:p>
        </p:txBody>
      </p:sp>
      <p:sp>
        <p:nvSpPr>
          <p:cNvPr id="172" name="Rectangle 6"/>
          <p:cNvSpPr/>
          <p:nvPr/>
        </p:nvSpPr>
        <p:spPr>
          <a:xfrm>
            <a:off x="6172200" y="1923120"/>
            <a:ext cx="5241600" cy="36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8280" rIns="90000" bIns="-8280" anchor="ctr">
            <a:noAutofit/>
          </a:bodyPr>
          <a:p>
            <a:pPr>
              <a:lnSpc>
                <a:spcPct val="100000"/>
              </a:lnSpc>
            </a:pPr>
            <a:endParaRPr lang="en-US" sz="1800" b="0" u="none" strike="noStrike">
              <a:solidFill>
                <a:schemeClr val="lt1"/>
              </a:solidFill>
              <a:effectLst/>
              <a:uFillTx/>
              <a:latin typeface="Calibri"/>
            </a:endParaRPr>
          </a:p>
        </p:txBody>
      </p:sp>
      <p:sp>
        <p:nvSpPr>
          <p:cNvPr id="173" name="Rectangle 7"/>
          <p:cNvSpPr/>
          <p:nvPr/>
        </p:nvSpPr>
        <p:spPr>
          <a:xfrm>
            <a:off x="685800" y="4572000"/>
            <a:ext cx="5241600" cy="16452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Support</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Plannifier des activites pour l'equipe</a:t>
            </a:r>
            <a:endParaRPr lang="en-US" sz="1250" b="0" u="none" strike="noStrike">
              <a:solidFill>
                <a:srgbClr val="000000"/>
              </a:solidFill>
              <a:effectLst/>
              <a:uFillTx/>
              <a:latin typeface="Arial"/>
            </a:endParaRPr>
          </a:p>
        </p:txBody>
      </p:sp>
      <p:sp>
        <p:nvSpPr>
          <p:cNvPr id="174" name="Rectangle 8"/>
          <p:cNvSpPr/>
          <p:nvPr/>
        </p:nvSpPr>
        <p:spPr>
          <a:xfrm>
            <a:off x="685800" y="4572000"/>
            <a:ext cx="5241600" cy="36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8280" rIns="90000" bIns="-8280" anchor="ctr">
            <a:noAutofit/>
          </a:bodyPr>
          <a:p>
            <a:pPr>
              <a:lnSpc>
                <a:spcPct val="100000"/>
              </a:lnSpc>
            </a:pPr>
            <a:endParaRPr lang="en-US" sz="1800" b="0" u="none" strike="noStrike">
              <a:solidFill>
                <a:schemeClr val="lt1"/>
              </a:solidFill>
              <a:effectLst/>
              <a:uFillTx/>
              <a:latin typeface="Calibri"/>
            </a:endParaRPr>
          </a:p>
        </p:txBody>
      </p:sp>
      <p:sp>
        <p:nvSpPr>
          <p:cNvPr id="175" name="Rectangle 9"/>
          <p:cNvSpPr/>
          <p:nvPr/>
        </p:nvSpPr>
        <p:spPr>
          <a:xfrm>
            <a:off x="6172200" y="4572000"/>
            <a:ext cx="5241600" cy="16452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Admin</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gere les utilisateurs et les authorizations</a:t>
            </a:r>
            <a:endParaRPr lang="en-US" sz="1250" b="0" u="none" strike="noStrike">
              <a:solidFill>
                <a:srgbClr val="000000"/>
              </a:solidFill>
              <a:effectLst/>
              <a:uFillTx/>
              <a:latin typeface="Arial"/>
            </a:endParaRPr>
          </a:p>
        </p:txBody>
      </p:sp>
      <p:sp>
        <p:nvSpPr>
          <p:cNvPr id="176" name="Rectangle 10"/>
          <p:cNvSpPr/>
          <p:nvPr/>
        </p:nvSpPr>
        <p:spPr>
          <a:xfrm>
            <a:off x="6172200" y="4572000"/>
            <a:ext cx="5241600" cy="36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8280" rIns="90000" bIns="-8280" anchor="ctr">
            <a:noAutofit/>
          </a:bodyPr>
          <a:p>
            <a:pPr>
              <a:lnSpc>
                <a:spcPct val="100000"/>
              </a:lnSpc>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presetID="1" presetClass="entr" fill="hold" nodeType="clickEffect">
                                  <p:stCondLst>
                                    <p:cond delay="0"/>
                                  </p:stCondLst>
                                  <p:childTnLst>
                                    <p:set>
                                      <p:cBhvr>
                                        <p:cTn id="106" dur="1" fill="hold">
                                          <p:stCondLst>
                                            <p:cond delay="0"/>
                                          </p:stCondLst>
                                        </p:cTn>
                                        <p:tgtEl>
                                          <p:spTgt spid="169"/>
                                        </p:tgtEl>
                                        <p:attrNameLst>
                                          <p:attrName>style.visibility</p:attrName>
                                        </p:attrNameLst>
                                      </p:cBhvr>
                                      <p:to>
                                        <p:strVal val="visible"/>
                                      </p:to>
                                    </p:set>
                                  </p:childTnLst>
                                </p:cTn>
                              </p:par>
                              <p:par>
                                <p:cTn id="107" presetID="1" presetClass="entr" fill="hold" nodeType="withEffect">
                                  <p:stCondLst>
                                    <p:cond delay="0"/>
                                  </p:stCondLst>
                                  <p:childTnLst>
                                    <p:set>
                                      <p:cBhvr>
                                        <p:cTn id="108" dur="1" fill="hold">
                                          <p:stCondLst>
                                            <p:cond delay="0"/>
                                          </p:stCondLst>
                                        </p:cTn>
                                        <p:tgtEl>
                                          <p:spTgt spid="17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fill="hold" nodeType="clickEffect">
                                  <p:stCondLst>
                                    <p:cond delay="0"/>
                                  </p:stCondLst>
                                  <p:childTnLst>
                                    <p:set>
                                      <p:cBhvr>
                                        <p:cTn id="112" dur="1" fill="hold">
                                          <p:stCondLst>
                                            <p:cond delay="0"/>
                                          </p:stCondLst>
                                        </p:cTn>
                                        <p:tgtEl>
                                          <p:spTgt spid="171"/>
                                        </p:tgtEl>
                                        <p:attrNameLst>
                                          <p:attrName>style.visibility</p:attrName>
                                        </p:attrNameLst>
                                      </p:cBhvr>
                                      <p:to>
                                        <p:strVal val="visible"/>
                                      </p:to>
                                    </p:set>
                                  </p:childTnLst>
                                </p:cTn>
                              </p:par>
                              <p:par>
                                <p:cTn id="113" presetID="1" presetClass="entr" fill="hold" nodeType="withEffect">
                                  <p:stCondLst>
                                    <p:cond delay="0"/>
                                  </p:stCondLst>
                                  <p:childTnLst>
                                    <p:set>
                                      <p:cBhvr>
                                        <p:cTn id="114" dur="1" fill="hold">
                                          <p:stCondLst>
                                            <p:cond delay="0"/>
                                          </p:stCondLst>
                                        </p:cTn>
                                        <p:tgtEl>
                                          <p:spTgt spid="17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fill="hold" nodeType="clickEffect">
                                  <p:stCondLst>
                                    <p:cond delay="0"/>
                                  </p:stCondLst>
                                  <p:childTnLst>
                                    <p:set>
                                      <p:cBhvr>
                                        <p:cTn id="118" dur="1" fill="hold">
                                          <p:stCondLst>
                                            <p:cond delay="0"/>
                                          </p:stCondLst>
                                        </p:cTn>
                                        <p:tgtEl>
                                          <p:spTgt spid="173"/>
                                        </p:tgtEl>
                                        <p:attrNameLst>
                                          <p:attrName>style.visibility</p:attrName>
                                        </p:attrNameLst>
                                      </p:cBhvr>
                                      <p:to>
                                        <p:strVal val="visible"/>
                                      </p:to>
                                    </p:set>
                                  </p:childTnLst>
                                </p:cTn>
                              </p:par>
                              <p:par>
                                <p:cTn id="119" presetID="1" presetClass="entr" fill="hold" nodeType="withEffect">
                                  <p:stCondLst>
                                    <p:cond delay="0"/>
                                  </p:stCondLst>
                                  <p:childTnLst>
                                    <p:set>
                                      <p:cBhvr>
                                        <p:cTn id="120" dur="1" fill="hold">
                                          <p:stCondLst>
                                            <p:cond delay="0"/>
                                          </p:stCondLst>
                                        </p:cTn>
                                        <p:tgtEl>
                                          <p:spTgt spid="17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fill="hold" nodeType="clickEffect">
                                  <p:stCondLst>
                                    <p:cond delay="0"/>
                                  </p:stCondLst>
                                  <p:childTnLst>
                                    <p:set>
                                      <p:cBhvr>
                                        <p:cTn id="124" dur="1" fill="hold">
                                          <p:stCondLst>
                                            <p:cond delay="0"/>
                                          </p:stCondLst>
                                        </p:cTn>
                                        <p:tgtEl>
                                          <p:spTgt spid="175"/>
                                        </p:tgtEl>
                                        <p:attrNameLst>
                                          <p:attrName>style.visibility</p:attrName>
                                        </p:attrNameLst>
                                      </p:cBhvr>
                                      <p:to>
                                        <p:strVal val="visible"/>
                                      </p:to>
                                    </p:set>
                                  </p:childTnLst>
                                </p:cTn>
                              </p:par>
                              <p:par>
                                <p:cTn id="125" presetID="1" presetClass="entr" fill="hold" nodeType="withEffect">
                                  <p:stCondLst>
                                    <p:cond delay="0"/>
                                  </p:stCondLst>
                                  <p:childTnLst>
                                    <p:set>
                                      <p:cBhvr>
                                        <p:cTn id="126"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177"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178" name="TextBox 2"/>
          <p:cNvSpPr/>
          <p:nvPr/>
        </p:nvSpPr>
        <p:spPr>
          <a:xfrm>
            <a:off x="1097280" y="1463040"/>
            <a:ext cx="10057680" cy="134100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Les Diagrammes De Cas D'Utilisation</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79"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80" name="TextBox 2"/>
          <p:cNvSpPr/>
          <p:nvPr/>
        </p:nvSpPr>
        <p:spPr>
          <a:xfrm>
            <a:off x="731520" y="960120"/>
            <a:ext cx="182664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Global</a:t>
            </a:r>
            <a:endParaRPr lang="en-US" sz="3600" b="0" u="none" strike="noStrike">
              <a:solidFill>
                <a:srgbClr val="000000"/>
              </a:solidFill>
              <a:effectLst/>
              <a:uFillTx/>
              <a:latin typeface="Arial"/>
            </a:endParaRPr>
          </a:p>
        </p:txBody>
      </p:sp>
      <p:pic>
        <p:nvPicPr>
          <p:cNvPr id="181" name="Picture 3" descr="global!global_1.jpg"/>
          <p:cNvPicPr/>
          <p:nvPr/>
        </p:nvPicPr>
        <p:blipFill>
          <a:blip r:embed="rId1"/>
          <a:stretch/>
        </p:blipFill>
        <p:spPr>
          <a:xfrm>
            <a:off x="2286000" y="1600200"/>
            <a:ext cx="7543800" cy="507420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82"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83" name="TextBox 2"/>
          <p:cNvSpPr/>
          <p:nvPr/>
        </p:nvSpPr>
        <p:spPr>
          <a:xfrm>
            <a:off x="731520" y="960120"/>
            <a:ext cx="21009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Clients</a:t>
            </a:r>
            <a:endParaRPr lang="en-US" sz="3600" b="0" u="none" strike="noStrike">
              <a:solidFill>
                <a:srgbClr val="000000"/>
              </a:solidFill>
              <a:effectLst/>
              <a:uFillTx/>
              <a:latin typeface="Arial"/>
            </a:endParaRPr>
          </a:p>
        </p:txBody>
      </p:sp>
      <p:pic>
        <p:nvPicPr>
          <p:cNvPr id="184" name="Picture 3" descr="clients!clients_4.jpg"/>
          <p:cNvPicPr/>
          <p:nvPr/>
        </p:nvPicPr>
        <p:blipFill>
          <a:blip r:embed="rId1"/>
          <a:stretch/>
        </p:blipFill>
        <p:spPr>
          <a:xfrm>
            <a:off x="2743200" y="1600200"/>
            <a:ext cx="6858000" cy="507420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85"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86" name="TextBox 2"/>
          <p:cNvSpPr/>
          <p:nvPr/>
        </p:nvSpPr>
        <p:spPr>
          <a:xfrm>
            <a:off x="731520" y="960120"/>
            <a:ext cx="292392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Activities</a:t>
            </a:r>
            <a:endParaRPr lang="en-US" sz="3600" b="0" u="none" strike="noStrike">
              <a:solidFill>
                <a:srgbClr val="000000"/>
              </a:solidFill>
              <a:effectLst/>
              <a:uFillTx/>
              <a:latin typeface="Arial"/>
            </a:endParaRPr>
          </a:p>
        </p:txBody>
      </p:sp>
      <p:pic>
        <p:nvPicPr>
          <p:cNvPr id="187" name="Picture 3" descr="activities!activities_3.jp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88"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89" name="TextBox 2"/>
          <p:cNvSpPr/>
          <p:nvPr/>
        </p:nvSpPr>
        <p:spPr>
          <a:xfrm>
            <a:off x="731520" y="960120"/>
            <a:ext cx="34725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Opportunites</a:t>
            </a:r>
            <a:endParaRPr lang="en-US" sz="3600" b="0" u="none" strike="noStrike">
              <a:solidFill>
                <a:srgbClr val="000000"/>
              </a:solidFill>
              <a:effectLst/>
              <a:uFillTx/>
              <a:latin typeface="Arial"/>
            </a:endParaRPr>
          </a:p>
        </p:txBody>
      </p:sp>
      <p:pic>
        <p:nvPicPr>
          <p:cNvPr id="190" name="Picture 3" descr="opportunites!opportunites_5.jp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91"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92" name="TextBox 2"/>
          <p:cNvSpPr/>
          <p:nvPr/>
        </p:nvSpPr>
        <p:spPr>
          <a:xfrm>
            <a:off x="731520" y="960120"/>
            <a:ext cx="26496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Campagnes</a:t>
            </a:r>
            <a:endParaRPr lang="en-US" sz="3600" b="0" u="none" strike="noStrike">
              <a:solidFill>
                <a:srgbClr val="000000"/>
              </a:solidFill>
              <a:effectLst/>
              <a:uFillTx/>
              <a:latin typeface="Arial"/>
            </a:endParaRPr>
          </a:p>
        </p:txBody>
      </p:sp>
      <p:pic>
        <p:nvPicPr>
          <p:cNvPr id="193" name="Picture 3" descr="campagne!campagnr_6.jp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194"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195" name="TextBox 2"/>
          <p:cNvSpPr/>
          <p:nvPr/>
        </p:nvSpPr>
        <p:spPr>
          <a:xfrm>
            <a:off x="1097280" y="1463040"/>
            <a:ext cx="10057680" cy="6706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Les Diagrammes D'Activité</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96"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97" name="TextBox 2"/>
          <p:cNvSpPr/>
          <p:nvPr/>
        </p:nvSpPr>
        <p:spPr>
          <a:xfrm>
            <a:off x="731520" y="960120"/>
            <a:ext cx="62157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Conversion de Prospect</a:t>
            </a:r>
            <a:endParaRPr lang="en-US" sz="3600" b="0" u="none" strike="noStrike">
              <a:solidFill>
                <a:srgbClr val="000000"/>
              </a:solidFill>
              <a:effectLst/>
              <a:uFillTx/>
              <a:latin typeface="Arial"/>
            </a:endParaRPr>
          </a:p>
        </p:txBody>
      </p:sp>
      <p:pic>
        <p:nvPicPr>
          <p:cNvPr id="198" name="Picture 3" descr="leadconvert.png"/>
          <p:cNvPicPr/>
          <p:nvPr/>
        </p:nvPicPr>
        <p:blipFill>
          <a:blip r:embed="rId1"/>
          <a:stretch/>
        </p:blipFill>
        <p:spPr>
          <a:xfrm>
            <a:off x="3094920" y="1783440"/>
            <a:ext cx="5591520" cy="484560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99"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200" name="TextBox 2"/>
          <p:cNvSpPr/>
          <p:nvPr/>
        </p:nvSpPr>
        <p:spPr>
          <a:xfrm>
            <a:off x="731520" y="960120"/>
            <a:ext cx="594144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spcAft>
                <a:spcPts val="1599"/>
              </a:spcAft>
            </a:pPr>
            <a:r>
              <a:rPr lang="en-US" sz="3600" b="1" u="none" strike="noStrike">
                <a:solidFill>
                  <a:srgbClr val="271811"/>
                </a:solidFill>
                <a:effectLst/>
                <a:uFillTx/>
                <a:latin typeface="JetBrains Mono"/>
                <a:ea typeface="Noto Sans"/>
              </a:rPr>
              <a:t>Cloture D'Opportunité</a:t>
            </a:r>
            <a:endParaRPr lang="en-US" sz="3600" b="0" u="none" strike="noStrike">
              <a:solidFill>
                <a:srgbClr val="000000"/>
              </a:solidFill>
              <a:effectLst/>
              <a:uFillTx/>
              <a:latin typeface="Arial"/>
            </a:endParaRPr>
          </a:p>
        </p:txBody>
      </p:sp>
      <p:pic>
        <p:nvPicPr>
          <p:cNvPr id="201" name="Picture 3" descr="opportunity-close.png"/>
          <p:cNvPicPr/>
          <p:nvPr/>
        </p:nvPicPr>
        <p:blipFill>
          <a:blip r:embed="rId1"/>
          <a:stretch/>
        </p:blipFill>
        <p:spPr>
          <a:xfrm>
            <a:off x="3200400" y="1691280"/>
            <a:ext cx="5714640" cy="49831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02"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203" name="TextBox 2"/>
          <p:cNvSpPr/>
          <p:nvPr/>
        </p:nvSpPr>
        <p:spPr>
          <a:xfrm>
            <a:off x="731520" y="960120"/>
            <a:ext cx="70380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Activation D’une Campagne</a:t>
            </a:r>
            <a:endParaRPr lang="en-US" sz="3600" b="0" u="none" strike="noStrike">
              <a:solidFill>
                <a:srgbClr val="000000"/>
              </a:solidFill>
              <a:effectLst/>
              <a:uFillTx/>
              <a:latin typeface="Arial"/>
            </a:endParaRPr>
          </a:p>
        </p:txBody>
      </p:sp>
      <p:pic>
        <p:nvPicPr>
          <p:cNvPr id="204" name="Picture 3" descr="campagne-activate.png"/>
          <p:cNvPicPr/>
          <p:nvPr/>
        </p:nvPicPr>
        <p:blipFill>
          <a:blip r:embed="rId1"/>
          <a:stretch/>
        </p:blipFill>
        <p:spPr>
          <a:xfrm>
            <a:off x="2286000" y="1691280"/>
            <a:ext cx="7314840" cy="49831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05" name="TextBox 1"/>
          <p:cNvSpPr/>
          <p:nvPr/>
        </p:nvSpPr>
        <p:spPr>
          <a:xfrm>
            <a:off x="731520" y="640080"/>
            <a:ext cx="22546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206" name="TextBox 2"/>
          <p:cNvSpPr/>
          <p:nvPr/>
        </p:nvSpPr>
        <p:spPr>
          <a:xfrm>
            <a:off x="731520" y="960120"/>
            <a:ext cx="56664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Création D'une Tache</a:t>
            </a:r>
            <a:endParaRPr lang="en-US" sz="3600" b="0" u="none" strike="noStrike">
              <a:solidFill>
                <a:srgbClr val="000000"/>
              </a:solidFill>
              <a:effectLst/>
              <a:uFillTx/>
              <a:latin typeface="Arial"/>
            </a:endParaRPr>
          </a:p>
        </p:txBody>
      </p:sp>
      <p:pic>
        <p:nvPicPr>
          <p:cNvPr id="207" name="Picture 3" descr="task-create.png"/>
          <p:cNvPicPr/>
          <p:nvPr/>
        </p:nvPicPr>
        <p:blipFill>
          <a:blip r:embed="rId1"/>
          <a:stretch/>
        </p:blipFill>
        <p:spPr>
          <a:xfrm>
            <a:off x="2914200" y="1691280"/>
            <a:ext cx="6229440" cy="49831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08"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09" name="TextBox 2"/>
          <p:cNvSpPr/>
          <p:nvPr/>
        </p:nvSpPr>
        <p:spPr>
          <a:xfrm>
            <a:off x="1097280" y="1463040"/>
            <a:ext cx="10057680" cy="225540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Conception</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 </a:t>
            </a:r>
            <a:r>
              <a:rPr lang="en-US" sz="1600" b="0" u="none" strike="noStrike">
                <a:solidFill>
                  <a:srgbClr val="94A3B8"/>
                </a:solidFill>
                <a:effectLst/>
                <a:uFillTx/>
                <a:latin typeface="JetBrains Mono"/>
              </a:rPr>
              <a:t>Les Diagrammes De Sequence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2 : </a:t>
            </a:r>
            <a:r>
              <a:rPr lang="en-US" sz="1600" b="0" u="none" strike="noStrike">
                <a:solidFill>
                  <a:srgbClr val="94A3B8"/>
                </a:solidFill>
                <a:effectLst/>
                <a:uFillTx/>
                <a:latin typeface="JetBrains Mono"/>
              </a:rPr>
              <a:t>Le Diagramme De Classe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3 : </a:t>
            </a:r>
            <a:r>
              <a:rPr lang="en-US" sz="1600" b="0" u="none" strike="noStrike">
                <a:solidFill>
                  <a:srgbClr val="94A3B8"/>
                </a:solidFill>
                <a:effectLst/>
                <a:uFillTx/>
                <a:latin typeface="JetBrains Mono"/>
              </a:rPr>
              <a:t>Model Logique Des Donnees</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10"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11" name="TextBox 2"/>
          <p:cNvSpPr/>
          <p:nvPr/>
        </p:nvSpPr>
        <p:spPr>
          <a:xfrm>
            <a:off x="1097280" y="1463040"/>
            <a:ext cx="10057680" cy="6706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Les Diagrammes De Sequence</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12"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13" name="TextBox 2"/>
          <p:cNvSpPr/>
          <p:nvPr/>
        </p:nvSpPr>
        <p:spPr>
          <a:xfrm>
            <a:off x="731520" y="960120"/>
            <a:ext cx="67644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Conversion Des Prospects</a:t>
            </a:r>
            <a:endParaRPr lang="en-US" sz="3600" b="0" u="none" strike="noStrike">
              <a:solidFill>
                <a:srgbClr val="000000"/>
              </a:solidFill>
              <a:effectLst/>
              <a:uFillTx/>
              <a:latin typeface="Arial"/>
            </a:endParaRPr>
          </a:p>
        </p:txBody>
      </p:sp>
      <p:pic>
        <p:nvPicPr>
          <p:cNvPr id="214" name="Picture 3" descr="lead-convert.pn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15"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16" name="TextBox 2"/>
          <p:cNvSpPr/>
          <p:nvPr/>
        </p:nvSpPr>
        <p:spPr>
          <a:xfrm>
            <a:off x="731520" y="960120"/>
            <a:ext cx="67644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Cloture Des Opportunites</a:t>
            </a:r>
            <a:endParaRPr lang="en-US" sz="3600" b="0" u="none" strike="noStrike">
              <a:solidFill>
                <a:srgbClr val="000000"/>
              </a:solidFill>
              <a:effectLst/>
              <a:uFillTx/>
              <a:latin typeface="Arial"/>
            </a:endParaRPr>
          </a:p>
        </p:txBody>
      </p:sp>
      <p:pic>
        <p:nvPicPr>
          <p:cNvPr id="217" name="Picture 3" descr="opp-close.png"/>
          <p:cNvPicPr/>
          <p:nvPr/>
        </p:nvPicPr>
        <p:blipFill>
          <a:blip r:embed="rId1"/>
          <a:stretch/>
        </p:blipFill>
        <p:spPr>
          <a:xfrm>
            <a:off x="2057400" y="1600200"/>
            <a:ext cx="8001000" cy="507528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18"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19" name="TextBox 2"/>
          <p:cNvSpPr/>
          <p:nvPr/>
        </p:nvSpPr>
        <p:spPr>
          <a:xfrm>
            <a:off x="731520" y="960120"/>
            <a:ext cx="67644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Activation Des Campagnes</a:t>
            </a:r>
            <a:endParaRPr lang="en-US" sz="3600" b="0" u="none" strike="noStrike">
              <a:solidFill>
                <a:srgbClr val="000000"/>
              </a:solidFill>
              <a:effectLst/>
              <a:uFillTx/>
              <a:latin typeface="Arial"/>
            </a:endParaRPr>
          </a:p>
        </p:txBody>
      </p:sp>
      <p:pic>
        <p:nvPicPr>
          <p:cNvPr id="220" name="Picture 3" descr="campagne-activation.png"/>
          <p:cNvPicPr/>
          <p:nvPr/>
        </p:nvPicPr>
        <p:blipFill>
          <a:blip r:embed="rId1"/>
          <a:stretch/>
        </p:blipFill>
        <p:spPr>
          <a:xfrm>
            <a:off x="2743200" y="1600200"/>
            <a:ext cx="6629400" cy="507528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21"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22" name="TextBox 2"/>
          <p:cNvSpPr/>
          <p:nvPr/>
        </p:nvSpPr>
        <p:spPr>
          <a:xfrm>
            <a:off x="731520" y="960120"/>
            <a:ext cx="75873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Affectation Des Permissions</a:t>
            </a:r>
            <a:endParaRPr lang="en-US" sz="3600" b="0" u="none" strike="noStrike">
              <a:solidFill>
                <a:srgbClr val="000000"/>
              </a:solidFill>
              <a:effectLst/>
              <a:uFillTx/>
              <a:latin typeface="Arial"/>
            </a:endParaRPr>
          </a:p>
        </p:txBody>
      </p:sp>
      <p:pic>
        <p:nvPicPr>
          <p:cNvPr id="223" name="Picture 3" descr="permission-assign.png"/>
          <p:cNvPicPr/>
          <p:nvPr/>
        </p:nvPicPr>
        <p:blipFill>
          <a:blip r:embed="rId1"/>
          <a:stretch/>
        </p:blipFill>
        <p:spPr>
          <a:xfrm>
            <a:off x="2286000" y="1599120"/>
            <a:ext cx="7543800" cy="507528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24"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25" name="TextBox 2"/>
          <p:cNvSpPr/>
          <p:nvPr/>
        </p:nvSpPr>
        <p:spPr>
          <a:xfrm>
            <a:off x="731520" y="960120"/>
            <a:ext cx="62157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 Diagramme De Classe</a:t>
            </a:r>
            <a:endParaRPr lang="en-US" sz="3600" b="0" u="none" strike="noStrike">
              <a:solidFill>
                <a:srgbClr val="000000"/>
              </a:solidFill>
              <a:effectLst/>
              <a:uFillTx/>
              <a:latin typeface="Arial"/>
            </a:endParaRPr>
          </a:p>
        </p:txBody>
      </p:sp>
      <p:pic>
        <p:nvPicPr>
          <p:cNvPr id="226" name="Picture 3" descr="main class diagram.pn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27" name="TextBox 1"/>
          <p:cNvSpPr/>
          <p:nvPr/>
        </p:nvSpPr>
        <p:spPr>
          <a:xfrm>
            <a:off x="731520" y="640080"/>
            <a:ext cx="10514880" cy="365040"/>
          </a:xfrm>
          <a:prstGeom prst="rect">
            <a:avLst/>
          </a:prstGeom>
          <a:noFill/>
          <a:ln w="0">
            <a:noFill/>
          </a:ln>
        </p:spPr>
        <p:style>
          <a:lnRef idx="0"/>
          <a:fillRef idx="0"/>
          <a:effectRef idx="0"/>
          <a:fontRef idx="minor"/>
        </p:style>
        <p:txBody>
          <a:bodyPr wrap="none" lIns="90000" tIns="45000" rIns="90000" bIns="45000" anchor="t">
            <a:spAutoFit/>
          </a:bodyPr>
          <a:p>
            <a:pPr/>
            <a:endParaRPr lang="en-US" sz="1300" b="1" u="none" strike="noStrike">
              <a:solidFill>
                <a:srgbClr val="EB0025"/>
              </a:solidFill>
              <a:effectLst/>
              <a:uFillTx/>
              <a:latin typeface="JetBrains Mono"/>
            </a:endParaRPr>
          </a:p>
        </p:txBody>
      </p:sp>
      <p:sp>
        <p:nvSpPr>
          <p:cNvPr id="228" name="TextBox 2"/>
          <p:cNvSpPr/>
          <p:nvPr/>
        </p:nvSpPr>
        <p:spPr>
          <a:xfrm>
            <a:off x="731520" y="960120"/>
            <a:ext cx="10514880" cy="730800"/>
          </a:xfrm>
          <a:prstGeom prst="rect">
            <a:avLst/>
          </a:prstGeom>
          <a:noFill/>
          <a:ln w="0">
            <a:noFill/>
          </a:ln>
        </p:spPr>
        <p:style>
          <a:lnRef idx="0"/>
          <a:fillRef idx="0"/>
          <a:effectRef idx="0"/>
          <a:fontRef idx="minor"/>
        </p:style>
        <p:txBody>
          <a:bodyPr wrap="none" lIns="90000" tIns="45000" rIns="90000" bIns="45000" anchor="t">
            <a:spAutoFit/>
          </a:bodyPr>
          <a:p>
            <a:pPr/>
            <a:endParaRPr lang="en-US" sz="3600" b="1" u="none" strike="noStrike">
              <a:solidFill>
                <a:srgbClr val="271811"/>
              </a:solidFill>
              <a:effectLst/>
              <a:uFillTx/>
              <a:latin typeface="JetBrains Mono"/>
            </a:endParaRPr>
          </a:p>
        </p:txBody>
      </p:sp>
      <p:pic>
        <p:nvPicPr>
          <p:cNvPr id="229" name="Picture 3" descr="main class diagram.png"/>
          <p:cNvPicPr/>
          <p:nvPr/>
        </p:nvPicPr>
        <p:blipFill>
          <a:blip r:embed="rId1"/>
          <a:srcRect l="0" t="50949" r="46574" b="0"/>
          <a:stretch/>
        </p:blipFill>
        <p:spPr>
          <a:xfrm>
            <a:off x="0" y="-45360"/>
            <a:ext cx="12192120" cy="621720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30" name="TextBox 13"/>
          <p:cNvSpPr/>
          <p:nvPr/>
        </p:nvSpPr>
        <p:spPr>
          <a:xfrm>
            <a:off x="731520" y="640080"/>
            <a:ext cx="10514880" cy="365040"/>
          </a:xfrm>
          <a:prstGeom prst="rect">
            <a:avLst/>
          </a:prstGeom>
          <a:noFill/>
          <a:ln w="0">
            <a:noFill/>
          </a:ln>
        </p:spPr>
        <p:style>
          <a:lnRef idx="0"/>
          <a:fillRef idx="0"/>
          <a:effectRef idx="0"/>
          <a:fontRef idx="minor"/>
        </p:style>
        <p:txBody>
          <a:bodyPr wrap="none" lIns="90000" tIns="45000" rIns="90000" bIns="45000" anchor="t">
            <a:spAutoFit/>
          </a:bodyPr>
          <a:p>
            <a:pPr/>
            <a:endParaRPr lang="en-US" sz="1300" b="1" u="none" strike="noStrike">
              <a:solidFill>
                <a:srgbClr val="EB0025"/>
              </a:solidFill>
              <a:effectLst/>
              <a:uFillTx/>
              <a:latin typeface="JetBrains Mono"/>
            </a:endParaRPr>
          </a:p>
        </p:txBody>
      </p:sp>
      <p:sp>
        <p:nvSpPr>
          <p:cNvPr id="231" name="TextBox 14"/>
          <p:cNvSpPr/>
          <p:nvPr/>
        </p:nvSpPr>
        <p:spPr>
          <a:xfrm>
            <a:off x="731520" y="960120"/>
            <a:ext cx="10514880" cy="730800"/>
          </a:xfrm>
          <a:prstGeom prst="rect">
            <a:avLst/>
          </a:prstGeom>
          <a:noFill/>
          <a:ln w="0">
            <a:noFill/>
          </a:ln>
        </p:spPr>
        <p:style>
          <a:lnRef idx="0"/>
          <a:fillRef idx="0"/>
          <a:effectRef idx="0"/>
          <a:fontRef idx="minor"/>
        </p:style>
        <p:txBody>
          <a:bodyPr wrap="none" lIns="90000" tIns="45000" rIns="90000" bIns="45000" anchor="t">
            <a:spAutoFit/>
          </a:bodyPr>
          <a:p>
            <a:pPr/>
            <a:endParaRPr lang="en-US" sz="3600" b="1" u="none" strike="noStrike">
              <a:solidFill>
                <a:srgbClr val="271811"/>
              </a:solidFill>
              <a:effectLst/>
              <a:uFillTx/>
              <a:latin typeface="JetBrains Mono"/>
            </a:endParaRPr>
          </a:p>
        </p:txBody>
      </p:sp>
      <p:pic>
        <p:nvPicPr>
          <p:cNvPr id="232" name="Picture 3" descr="main class diagram.png"/>
          <p:cNvPicPr/>
          <p:nvPr/>
        </p:nvPicPr>
        <p:blipFill>
          <a:blip r:embed="rId1"/>
          <a:srcRect l="8012" t="17305" r="35889" b="34606"/>
          <a:stretch/>
        </p:blipFill>
        <p:spPr>
          <a:xfrm>
            <a:off x="-114480" y="457200"/>
            <a:ext cx="12481560" cy="594288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33" name="TextBox 15"/>
          <p:cNvSpPr/>
          <p:nvPr/>
        </p:nvSpPr>
        <p:spPr>
          <a:xfrm>
            <a:off x="731520" y="640080"/>
            <a:ext cx="10514880" cy="365040"/>
          </a:xfrm>
          <a:prstGeom prst="rect">
            <a:avLst/>
          </a:prstGeom>
          <a:noFill/>
          <a:ln w="0">
            <a:noFill/>
          </a:ln>
        </p:spPr>
        <p:style>
          <a:lnRef idx="0"/>
          <a:fillRef idx="0"/>
          <a:effectRef idx="0"/>
          <a:fontRef idx="minor"/>
        </p:style>
        <p:txBody>
          <a:bodyPr wrap="none" lIns="90000" tIns="45000" rIns="90000" bIns="45000" anchor="t">
            <a:spAutoFit/>
          </a:bodyPr>
          <a:p>
            <a:pPr/>
            <a:endParaRPr lang="en-US" sz="1300" b="1" u="none" strike="noStrike">
              <a:solidFill>
                <a:srgbClr val="EB0025"/>
              </a:solidFill>
              <a:effectLst/>
              <a:uFillTx/>
              <a:latin typeface="JetBrains Mono"/>
            </a:endParaRPr>
          </a:p>
        </p:txBody>
      </p:sp>
      <p:sp>
        <p:nvSpPr>
          <p:cNvPr id="234" name="TextBox 16"/>
          <p:cNvSpPr/>
          <p:nvPr/>
        </p:nvSpPr>
        <p:spPr>
          <a:xfrm>
            <a:off x="731520" y="960120"/>
            <a:ext cx="10514880" cy="730800"/>
          </a:xfrm>
          <a:prstGeom prst="rect">
            <a:avLst/>
          </a:prstGeom>
          <a:noFill/>
          <a:ln w="0">
            <a:noFill/>
          </a:ln>
        </p:spPr>
        <p:style>
          <a:lnRef idx="0"/>
          <a:fillRef idx="0"/>
          <a:effectRef idx="0"/>
          <a:fontRef idx="minor"/>
        </p:style>
        <p:txBody>
          <a:bodyPr wrap="none" lIns="90000" tIns="45000" rIns="90000" bIns="45000" anchor="t">
            <a:spAutoFit/>
          </a:bodyPr>
          <a:p>
            <a:pPr/>
            <a:endParaRPr lang="en-US" sz="3600" b="1" u="none" strike="noStrike">
              <a:solidFill>
                <a:srgbClr val="271811"/>
              </a:solidFill>
              <a:effectLst/>
              <a:uFillTx/>
              <a:latin typeface="JetBrains Mono"/>
            </a:endParaRPr>
          </a:p>
        </p:txBody>
      </p:sp>
      <p:pic>
        <p:nvPicPr>
          <p:cNvPr id="235" name="Picture 3" descr="main class diagram.png"/>
          <p:cNvPicPr/>
          <p:nvPr/>
        </p:nvPicPr>
        <p:blipFill>
          <a:blip r:embed="rId1"/>
          <a:srcRect l="56081" t="46146" r="0" b="10575"/>
          <a:stretch/>
        </p:blipFill>
        <p:spPr>
          <a:xfrm>
            <a:off x="0" y="0"/>
            <a:ext cx="12191400" cy="667368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36" name="TextBox 17"/>
          <p:cNvSpPr/>
          <p:nvPr/>
        </p:nvSpPr>
        <p:spPr>
          <a:xfrm>
            <a:off x="731520" y="640080"/>
            <a:ext cx="10514880" cy="365040"/>
          </a:xfrm>
          <a:prstGeom prst="rect">
            <a:avLst/>
          </a:prstGeom>
          <a:noFill/>
          <a:ln w="0">
            <a:noFill/>
          </a:ln>
        </p:spPr>
        <p:style>
          <a:lnRef idx="0"/>
          <a:fillRef idx="0"/>
          <a:effectRef idx="0"/>
          <a:fontRef idx="minor"/>
        </p:style>
        <p:txBody>
          <a:bodyPr wrap="none" lIns="90000" tIns="45000" rIns="90000" bIns="45000" anchor="t">
            <a:spAutoFit/>
          </a:bodyPr>
          <a:p>
            <a:pPr/>
            <a:endParaRPr lang="en-US" sz="1300" b="1" u="none" strike="noStrike">
              <a:solidFill>
                <a:srgbClr val="EB0025"/>
              </a:solidFill>
              <a:effectLst/>
              <a:uFillTx/>
              <a:latin typeface="JetBrains Mono"/>
            </a:endParaRPr>
          </a:p>
        </p:txBody>
      </p:sp>
      <p:sp>
        <p:nvSpPr>
          <p:cNvPr id="237" name="TextBox 18"/>
          <p:cNvSpPr/>
          <p:nvPr/>
        </p:nvSpPr>
        <p:spPr>
          <a:xfrm>
            <a:off x="731520" y="960120"/>
            <a:ext cx="10514880" cy="730800"/>
          </a:xfrm>
          <a:prstGeom prst="rect">
            <a:avLst/>
          </a:prstGeom>
          <a:noFill/>
          <a:ln w="0">
            <a:noFill/>
          </a:ln>
        </p:spPr>
        <p:style>
          <a:lnRef idx="0"/>
          <a:fillRef idx="0"/>
          <a:effectRef idx="0"/>
          <a:fontRef idx="minor"/>
        </p:style>
        <p:txBody>
          <a:bodyPr wrap="none" lIns="90000" tIns="45000" rIns="90000" bIns="45000" anchor="t">
            <a:spAutoFit/>
          </a:bodyPr>
          <a:p>
            <a:pPr/>
            <a:endParaRPr lang="en-US" sz="3600" b="1" u="none" strike="noStrike">
              <a:solidFill>
                <a:srgbClr val="271811"/>
              </a:solidFill>
              <a:effectLst/>
              <a:uFillTx/>
              <a:latin typeface="JetBrains Mono"/>
            </a:endParaRPr>
          </a:p>
        </p:txBody>
      </p:sp>
      <p:pic>
        <p:nvPicPr>
          <p:cNvPr id="238" name="Picture 3" descr="main class diagram.png"/>
          <p:cNvPicPr/>
          <p:nvPr/>
        </p:nvPicPr>
        <p:blipFill>
          <a:blip r:embed="rId1"/>
          <a:srcRect l="26706" t="0" r="17195" b="49026"/>
          <a:stretch/>
        </p:blipFill>
        <p:spPr>
          <a:xfrm>
            <a:off x="-37080" y="457200"/>
            <a:ext cx="12228480" cy="617184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39"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40" name="TextBox 2"/>
          <p:cNvSpPr/>
          <p:nvPr/>
        </p:nvSpPr>
        <p:spPr>
          <a:xfrm>
            <a:off x="1097280" y="1463040"/>
            <a:ext cx="10057680" cy="6706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 Model Logique Des Donnees</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41"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42" name="TextBox 2"/>
          <p:cNvSpPr/>
          <p:nvPr/>
        </p:nvSpPr>
        <p:spPr>
          <a:xfrm>
            <a:off x="731520" y="1005840"/>
            <a:ext cx="703872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43" name="TextBox 3"/>
          <p:cNvSpPr/>
          <p:nvPr/>
        </p:nvSpPr>
        <p:spPr>
          <a:xfrm>
            <a:off x="731520" y="1828800"/>
            <a:ext cx="10972080" cy="5027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Leads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FirstName, LastName, Description, Status, Source, Phone, Email, UserID#, AccountID#, CampaignID#, CreationTime, CreatorId#, LastModificationTime, LastModifierId#, IsDeleted, DeleterId#, DeletionTime );</a:t>
            </a:r>
            <a:br>
              <a:rPr sz="2200"/>
            </a:br>
            <a:r>
              <a:rPr lang="en-US" sz="2200" b="1" u="none" strike="noStrike">
                <a:solidFill>
                  <a:srgbClr val="271811"/>
                </a:solidFill>
                <a:effectLst/>
                <a:uFillTx/>
                <a:latin typeface="JetBrains Mono"/>
              </a:rPr>
              <a:t>Accounts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Description, Phone, Fax, Email, Website, Street, City, Country, PostalCode, Type, Industry, IncomeValue, IncomeCurrency, Employees, UserID#, CampaignID# , CreationTime, CreatorId#, LastModificationTime, LastModifierId#, IsDeleted, DeleterId#, DeletionTime );</a:t>
            </a:r>
            <a:br>
              <a:rPr sz="2200"/>
            </a:br>
            <a:r>
              <a:rPr lang="en-US" sz="2200" b="1" u="none" strike="noStrike">
                <a:solidFill>
                  <a:srgbClr val="271811"/>
                </a:solidFill>
                <a:effectLst/>
                <a:uFillTx/>
                <a:latin typeface="JetBrains Mono"/>
              </a:rPr>
              <a:t>Contacts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FirstName, MiddleName, LastName, Description, Status, Source, Phone, Fax, Email, Website, Street, City, Country, PostalCode, Job, Department, AccountID#, LeadID#, UserID#,  CampaignID#, CreationTime, CreatorId#, LastModificationTime, LastModifierId#, IsDeleted, DeleterId#, DeletionTime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44"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45" name="TextBox 2"/>
          <p:cNvSpPr/>
          <p:nvPr/>
        </p:nvSpPr>
        <p:spPr>
          <a:xfrm>
            <a:off x="731520" y="1005840"/>
            <a:ext cx="703872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46" name="TextBox 3"/>
          <p:cNvSpPr/>
          <p:nvPr/>
        </p:nvSpPr>
        <p:spPr>
          <a:xfrm>
            <a:off x="731520" y="1828800"/>
            <a:ext cx="10972080" cy="36871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Opportunities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Description, AmountValue, AmountCurrency, Stage, Type, Probability, NextStep, ClosedAt, AccountID#, ContactID#, LeadID#, OwnerID#, CampaignID#,  CreationTime, CreatorId#, LastModificationTime, LastModifierId#, IsDeleted, DeleterId#, DeletionTime );</a:t>
            </a:r>
            <a:br>
              <a:rPr sz="2200"/>
            </a:br>
            <a:r>
              <a:rPr lang="en-US" sz="2200" b="1" u="none" strike="noStrike">
                <a:solidFill>
                  <a:srgbClr val="271811"/>
                </a:solidFill>
                <a:effectLst/>
                <a:uFillTx/>
                <a:latin typeface="JetBrains Mono"/>
              </a:rPr>
              <a:t>Campaign</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Description, Status, Budget, CostSoFar, ExpectedAccounts, ExpectedLeads, ExpectedContacts, ExpectedOpportunities, StartDate, EndDate, OwnerID#, CreationTime, CreatorId#, LastModificationTime, LastModifierId#, IsDeleted, DeleterId#, DeletionTime)</a:t>
            </a:r>
            <a:br>
              <a:rPr sz="2200"/>
            </a:br>
            <a:r>
              <a:rPr lang="en-US" sz="2200" b="0" u="none" strike="noStrike">
                <a:solidFill>
                  <a:srgbClr val="271811"/>
                </a:solidFill>
                <a:effectLst/>
                <a:uFillTx/>
                <a:latin typeface="JetBrains Mono"/>
              </a:rPr>
              <a:t>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47"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48" name="TextBox 2"/>
          <p:cNvSpPr/>
          <p:nvPr/>
        </p:nvSpPr>
        <p:spPr>
          <a:xfrm>
            <a:off x="731520" y="1005840"/>
            <a:ext cx="703872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49" name="TextBox 3"/>
          <p:cNvSpPr/>
          <p:nvPr/>
        </p:nvSpPr>
        <p:spPr>
          <a:xfrm>
            <a:off x="731520" y="1828800"/>
            <a:ext cx="10972080" cy="4692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Calls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Description, Status, Direction, StartTime, EndTime, Duration, PhoneNumber, AccountID#, ContactID#, OpportunityID#, LeadID#, OwnerID#, CreationTime, CreatorId#, LastModificationTime, LastModifierId#, IsDeleted, DeleterId#, DeletionTime );</a:t>
            </a:r>
            <a:br>
              <a:rPr sz="2200"/>
            </a:br>
            <a:r>
              <a:rPr lang="en-US" sz="2200" b="1" u="none" strike="noStrike">
                <a:solidFill>
                  <a:srgbClr val="271811"/>
                </a:solidFill>
                <a:effectLst/>
                <a:uFillTx/>
                <a:latin typeface="JetBrains Mono"/>
              </a:rPr>
              <a:t>Meetings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Name, Description, Status, StartTime, EndTime, Location, AccountID#, ContactID#, OpportunityID#, LeadID#, OwnerID#, CreationTime, CreatorId#, LastModificationTime, LastModifierId#, IsDeleted, DeleterId#, DeletionTime );</a:t>
            </a:r>
            <a:br>
              <a:rPr sz="2200"/>
            </a:br>
            <a:r>
              <a:rPr lang="en-US" sz="2200" b="1" u="none" strike="noStrike">
                <a:solidFill>
                  <a:srgbClr val="271811"/>
                </a:solidFill>
                <a:effectLst/>
                <a:uFillTx/>
                <a:latin typeface="JetBrains Mono"/>
              </a:rPr>
              <a:t>Tasks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Description, Status, Priority, StartTime, EndTime, CompletedAt, AccountID#, ContactID#, OpportunityID#, LeadID#, OwnerID#, CreationTime, CreatorId#, LastModificationTime, LastModifierId#, IsDeleted, DeleterId#, DeletionTime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50"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51" name="TextBox 2"/>
          <p:cNvSpPr/>
          <p:nvPr/>
        </p:nvSpPr>
        <p:spPr>
          <a:xfrm>
            <a:off x="731520" y="1005840"/>
            <a:ext cx="703872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52" name="TextBox 3"/>
          <p:cNvSpPr/>
          <p:nvPr/>
        </p:nvSpPr>
        <p:spPr>
          <a:xfrm>
            <a:off x="731520" y="1828800"/>
            <a:ext cx="10972080" cy="33519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Notes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Title, Content, Type, AccountID#, ContactID#, OpportunityID#, LeadID#, OwnerID#, CreationTime, CreatorId#, LastModificationTime, LastModifierId#, IsDeleted, DeleterId#, DeletionTime );</a:t>
            </a:r>
            <a:endParaRPr lang="en-US" sz="2200" b="0" u="none" strike="noStrike">
              <a:solidFill>
                <a:srgbClr val="000000"/>
              </a:solidFill>
              <a:effectLst/>
              <a:uFillTx/>
              <a:latin typeface="Arial"/>
            </a:endParaRPr>
          </a:p>
          <a:p>
            <a:pPr defTabSz="457200">
              <a:lnSpc>
                <a:spcPct val="100000"/>
              </a:lnSpc>
            </a:pPr>
            <a:br>
              <a:rPr sz="2200"/>
            </a:br>
            <a:r>
              <a:rPr lang="en-US" sz="2200" b="1" u="none" strike="noStrike">
                <a:solidFill>
                  <a:srgbClr val="271811"/>
                </a:solidFill>
                <a:effectLst/>
                <a:uFillTx/>
                <a:latin typeface="JetBrains Mono"/>
              </a:rPr>
              <a:t>emails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Subject, Body, Status, From, To, Cc, Bcc, SentAt, IsHtml, AccountID#, ContactID#, OpportunityID#, LeadID#, OwnerID#, CreationTime, CreatorId#, LastModificationTime, LastModifierId#, IsDeleted#, DeleterId#, DeletionTime);</a:t>
            </a:r>
            <a:br>
              <a:rPr sz="2200"/>
            </a:br>
            <a:r>
              <a:rPr lang="en-US" sz="2200" b="0" u="none" strike="noStrike">
                <a:solidFill>
                  <a:srgbClr val="271811"/>
                </a:solidFill>
                <a:effectLst/>
                <a:uFillTx/>
                <a:latin typeface="JetBrains Mono"/>
              </a:rPr>
              <a:t>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53" name="TextBox 1"/>
          <p:cNvSpPr/>
          <p:nvPr/>
        </p:nvSpPr>
        <p:spPr>
          <a:xfrm>
            <a:off x="731520" y="640080"/>
            <a:ext cx="146448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54" name="TextBox 2"/>
          <p:cNvSpPr/>
          <p:nvPr/>
        </p:nvSpPr>
        <p:spPr>
          <a:xfrm>
            <a:off x="731520" y="1005840"/>
            <a:ext cx="703872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55" name="TextBox 3"/>
          <p:cNvSpPr/>
          <p:nvPr/>
        </p:nvSpPr>
        <p:spPr>
          <a:xfrm>
            <a:off x="731520" y="1828800"/>
            <a:ext cx="10972080" cy="4022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User</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username, passwordhash, name, surname, email, phone, CreationTime, CreatorId#, LastModificationTime, LastModifierId#, IsDeleted, DeleterId#, DeletionTime);</a:t>
            </a:r>
            <a:endParaRPr lang="en-US" sz="2200" b="0" u="none" strike="noStrike">
              <a:solidFill>
                <a:srgbClr val="000000"/>
              </a:solidFill>
              <a:effectLst/>
              <a:uFillTx/>
              <a:latin typeface="Arial"/>
            </a:endParaRPr>
          </a:p>
          <a:p>
            <a:pPr defTabSz="457200">
              <a:lnSpc>
                <a:spcPct val="100000"/>
              </a:lnSpc>
            </a:pPr>
            <a:br>
              <a:rPr sz="2200"/>
            </a:br>
            <a:r>
              <a:rPr lang="en-US" sz="2200" b="1" u="none" strike="noStrike">
                <a:solidFill>
                  <a:srgbClr val="271811"/>
                </a:solidFill>
                <a:effectLst/>
                <a:uFillTx/>
                <a:latin typeface="JetBrains Mono"/>
              </a:rPr>
              <a:t>Role</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a:t>
            </a:r>
            <a:br>
              <a:rPr sz="2200"/>
            </a:br>
            <a:endParaRPr lang="en-US" sz="2200" b="0" u="none" strike="noStrike">
              <a:solidFill>
                <a:srgbClr val="000000"/>
              </a:solidFill>
              <a:effectLst/>
              <a:uFillTx/>
              <a:latin typeface="Arial"/>
            </a:endParaRPr>
          </a:p>
          <a:p>
            <a:pPr defTabSz="457200">
              <a:lnSpc>
                <a:spcPct val="100000"/>
              </a:lnSpc>
            </a:pPr>
            <a:r>
              <a:rPr lang="en-US" sz="2200" b="1" u="none" strike="noStrike">
                <a:solidFill>
                  <a:srgbClr val="271811"/>
                </a:solidFill>
                <a:effectLst/>
                <a:uFillTx/>
                <a:latin typeface="JetBrains Mono"/>
              </a:rPr>
              <a:t>Permission </a:t>
            </a:r>
            <a:r>
              <a:rPr lang="en-US" sz="2200" b="0" u="none" strike="noStrike">
                <a:solidFill>
                  <a:srgbClr val="271811"/>
                </a:solidFill>
                <a:effectLst/>
                <a:uFillTx/>
                <a:latin typeface="JetBrains Mono"/>
              </a:rPr>
              <a:t>(</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a:t>
            </a:r>
            <a:endParaRPr lang="en-US" sz="2200" b="0" u="none" strike="noStrike">
              <a:solidFill>
                <a:srgbClr val="000000"/>
              </a:solidFill>
              <a:effectLst/>
              <a:uFillTx/>
              <a:latin typeface="Arial"/>
            </a:endParaRPr>
          </a:p>
          <a:p>
            <a:pPr defTabSz="457200">
              <a:lnSpc>
                <a:spcPct val="100000"/>
              </a:lnSpc>
            </a:pPr>
            <a:br>
              <a:rPr sz="2200"/>
            </a:br>
            <a:r>
              <a:rPr lang="en-US" sz="2200" b="1" u="none" strike="noStrike">
                <a:solidFill>
                  <a:srgbClr val="271811"/>
                </a:solidFill>
                <a:effectLst/>
                <a:uFillTx/>
                <a:latin typeface="JetBrains Mono"/>
              </a:rPr>
              <a:t>RoleUser</a:t>
            </a:r>
            <a:r>
              <a:rPr lang="en-US" sz="2200" b="0" u="none" strike="noStrike">
                <a:solidFill>
                  <a:srgbClr val="271811"/>
                </a:solidFill>
                <a:effectLst/>
                <a:uFillTx/>
                <a:latin typeface="JetBrains Mono"/>
              </a:rPr>
              <a:t>(</a:t>
            </a:r>
            <a:r>
              <a:rPr lang="en-US" sz="2200" b="0" u="sng" strike="noStrike">
                <a:solidFill>
                  <a:srgbClr val="271811"/>
                </a:solidFill>
                <a:effectLst/>
                <a:uFillTx/>
                <a:latin typeface="JetBrains Mono"/>
              </a:rPr>
              <a:t>IdRole# , IdUser# </a:t>
            </a:r>
            <a:r>
              <a:rPr lang="en-US" sz="2200" b="0" u="none" strike="noStrike">
                <a:solidFill>
                  <a:srgbClr val="271811"/>
                </a:solidFill>
                <a:effectLst/>
                <a:uFillTx/>
                <a:latin typeface="JetBrains Mono"/>
              </a:rPr>
              <a:t>)</a:t>
            </a:r>
            <a:endParaRPr lang="en-US" sz="2200" b="0" u="none" strike="noStrike">
              <a:solidFill>
                <a:srgbClr val="000000"/>
              </a:solidFill>
              <a:effectLst/>
              <a:uFillTx/>
              <a:latin typeface="Arial"/>
            </a:endParaRPr>
          </a:p>
          <a:p>
            <a:pPr defTabSz="457200">
              <a:lnSpc>
                <a:spcPct val="100000"/>
              </a:lnSpc>
            </a:pPr>
            <a:br>
              <a:rPr sz="2200"/>
            </a:br>
            <a:r>
              <a:rPr lang="en-US" sz="2200" b="1" u="none" strike="noStrike">
                <a:solidFill>
                  <a:srgbClr val="271811"/>
                </a:solidFill>
                <a:effectLst/>
                <a:uFillTx/>
                <a:latin typeface="JetBrains Mono"/>
              </a:rPr>
              <a:t>PermissionGrants</a:t>
            </a:r>
            <a:r>
              <a:rPr lang="en-US" sz="2200" b="0" u="none" strike="noStrike">
                <a:solidFill>
                  <a:srgbClr val="271811"/>
                </a:solidFill>
                <a:effectLst/>
                <a:uFillTx/>
                <a:latin typeface="JetBrains Mono"/>
              </a:rPr>
              <a:t>(</a:t>
            </a:r>
            <a:r>
              <a:rPr lang="en-US" sz="2200" b="0" u="sng" strike="noStrike">
                <a:solidFill>
                  <a:srgbClr val="271811"/>
                </a:solidFill>
                <a:effectLst/>
                <a:uFillTx/>
                <a:latin typeface="JetBrains Mono"/>
              </a:rPr>
              <a:t>IdPermission# ,IdRole# ,IdUser# </a:t>
            </a:r>
            <a:r>
              <a:rPr lang="en-US" sz="2200" b="0" u="none" strike="noStrike">
                <a:solidFill>
                  <a:srgbClr val="271811"/>
                </a:solidFill>
                <a:effectLst/>
                <a:uFillTx/>
                <a:latin typeface="JetBrains Mono"/>
              </a:rPr>
              <a:t>)</a:t>
            </a:r>
            <a:br>
              <a:rPr sz="2200"/>
            </a:br>
            <a:r>
              <a:rPr lang="en-US" sz="2200" b="0" u="none" strike="noStrike">
                <a:solidFill>
                  <a:srgbClr val="271811"/>
                </a:solidFill>
                <a:effectLst/>
                <a:uFillTx/>
                <a:latin typeface="JetBrains Mono"/>
              </a:rPr>
              <a:t>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56"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57" name="TextBox 2"/>
          <p:cNvSpPr/>
          <p:nvPr/>
        </p:nvSpPr>
        <p:spPr>
          <a:xfrm>
            <a:off x="1097280" y="1463040"/>
            <a:ext cx="10057680" cy="17780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Réalisation</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 </a:t>
            </a:r>
            <a:r>
              <a:rPr lang="en-US" sz="1600" b="0" u="none" strike="noStrike">
                <a:solidFill>
                  <a:srgbClr val="94A3B8"/>
                </a:solidFill>
                <a:effectLst/>
                <a:uFillTx/>
                <a:latin typeface="JetBrains Mono"/>
              </a:rPr>
              <a:t>Les Languages De Programmation</a:t>
            </a:r>
            <a:r>
              <a:rPr lang="en-US" sz="1600" b="1" u="none" strike="noStrike">
                <a:solidFill>
                  <a:srgbClr val="94A3B8"/>
                </a:solidFill>
                <a:effectLst/>
                <a:uFillTx/>
                <a:latin typeface="JetBrains Mono"/>
              </a:rPr>
              <a:t> et </a:t>
            </a:r>
            <a:r>
              <a:rPr lang="en-US" sz="1600" b="0" u="none" strike="noStrike">
                <a:solidFill>
                  <a:srgbClr val="94A3B8"/>
                </a:solidFill>
                <a:effectLst/>
                <a:uFillTx/>
                <a:latin typeface="JetBrains Mono"/>
              </a:rPr>
              <a:t>Le SGBD</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800" b="1" u="none" strike="noStrike">
                <a:solidFill>
                  <a:srgbClr val="F0F8FF"/>
                </a:solidFill>
                <a:effectLst/>
                <a:uFillTx/>
                <a:latin typeface="JetBrains Mono"/>
              </a:rPr>
              <a:t>2</a:t>
            </a:r>
            <a:r>
              <a:rPr lang="en-US" sz="1700" b="1" u="none" strike="noStrike">
                <a:solidFill>
                  <a:srgbClr val="FFFFFF"/>
                </a:solidFill>
                <a:effectLst/>
                <a:uFillTx/>
                <a:latin typeface="JetBrains Mono"/>
              </a:rPr>
              <a:t> : </a:t>
            </a:r>
            <a:r>
              <a:rPr lang="en-US" sz="1600" b="0" u="none" strike="noStrike">
                <a:solidFill>
                  <a:srgbClr val="94A3B8"/>
                </a:solidFill>
                <a:effectLst/>
                <a:uFillTx/>
                <a:latin typeface="JetBrains Mono"/>
              </a:rPr>
              <a:t>présentation de l'interface</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58" name="TextBox 1"/>
          <p:cNvSpPr/>
          <p:nvPr/>
        </p:nvSpPr>
        <p:spPr>
          <a:xfrm>
            <a:off x="731520" y="640080"/>
            <a:ext cx="6746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BILAN</a:t>
            </a:r>
            <a:endParaRPr lang="en-US" sz="1300" b="0" u="none" strike="noStrike">
              <a:solidFill>
                <a:srgbClr val="000000"/>
              </a:solidFill>
              <a:effectLst/>
              <a:uFillTx/>
              <a:latin typeface="Arial"/>
            </a:endParaRPr>
          </a:p>
        </p:txBody>
      </p:sp>
      <p:sp>
        <p:nvSpPr>
          <p:cNvPr id="259" name="TextBox 2"/>
          <p:cNvSpPr/>
          <p:nvPr/>
        </p:nvSpPr>
        <p:spPr>
          <a:xfrm>
            <a:off x="731520" y="960120"/>
            <a:ext cx="649008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Languages et outils</a:t>
            </a:r>
            <a:endParaRPr lang="en-US" sz="3600" b="0" u="none" strike="noStrike">
              <a:solidFill>
                <a:srgbClr val="000000"/>
              </a:solidFill>
              <a:effectLst/>
              <a:uFillTx/>
              <a:latin typeface="Arial"/>
            </a:endParaRPr>
          </a:p>
        </p:txBody>
      </p:sp>
      <p:sp>
        <p:nvSpPr>
          <p:cNvPr id="260" name="Rectangle 3"/>
          <p:cNvSpPr/>
          <p:nvPr/>
        </p:nvSpPr>
        <p:spPr>
          <a:xfrm>
            <a:off x="731520" y="1920240"/>
            <a:ext cx="3382920" cy="4251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b">
            <a:noAutofit/>
          </a:bodyPr>
          <a:p>
            <a:pPr algn="ctr" defTabSz="457200">
              <a:lnSpc>
                <a:spcPct val="100000"/>
              </a:lnSpc>
              <a:spcAft>
                <a:spcPts val="400"/>
              </a:spcAft>
            </a:pPr>
            <a:endParaRPr lang="en-US" sz="1200" b="0" u="none" strike="noStrike">
              <a:solidFill>
                <a:srgbClr val="000000"/>
              </a:solidFill>
              <a:effectLst/>
              <a:uFillTx/>
              <a:latin typeface="Arial"/>
            </a:endParaRPr>
          </a:p>
          <a:p>
            <a:pPr algn="ctr" defTabSz="457200">
              <a:lnSpc>
                <a:spcPct val="100000"/>
              </a:lnSpc>
              <a:spcAft>
                <a:spcPts val="601"/>
              </a:spcAft>
            </a:pPr>
            <a:r>
              <a:rPr lang="en-US" sz="1600" b="1" u="none" strike="noStrike">
                <a:solidFill>
                  <a:srgbClr val="271811"/>
                </a:solidFill>
                <a:effectLst/>
                <a:uFillTx/>
                <a:latin typeface="JetBrains Mono"/>
              </a:rPr>
              <a:t>.NET 10</a:t>
            </a:r>
            <a:endParaRPr lang="en-US" sz="1600" b="0" u="none" strike="noStrike">
              <a:solidFill>
                <a:srgbClr val="000000"/>
              </a:solidFill>
              <a:effectLst/>
              <a:uFillTx/>
              <a:latin typeface="Arial"/>
            </a:endParaRPr>
          </a:p>
          <a:p>
            <a:pPr algn="ctr" defTabSz="457200">
              <a:lnSpc>
                <a:spcPct val="100000"/>
              </a:lnSpc>
            </a:pPr>
            <a:r>
              <a:rPr lang="en-US" sz="1250" b="1" u="none" strike="noStrike">
                <a:solidFill>
                  <a:srgbClr val="64748B"/>
                </a:solidFill>
                <a:effectLst/>
                <a:uFillTx/>
                <a:latin typeface="JetBrains Mono"/>
              </a:rPr>
              <a:t>un framework développé pour créer des applications web en C#.</a:t>
            </a:r>
            <a:endParaRPr lang="en-US" sz="1250" b="0" u="none" strike="noStrike">
              <a:solidFill>
                <a:srgbClr val="000000"/>
              </a:solidFill>
              <a:effectLst/>
              <a:uFillTx/>
              <a:latin typeface="Arial"/>
            </a:endParaRPr>
          </a:p>
        </p:txBody>
      </p:sp>
      <p:sp>
        <p:nvSpPr>
          <p:cNvPr id="261" name="Rectangle 4"/>
          <p:cNvSpPr/>
          <p:nvPr/>
        </p:nvSpPr>
        <p:spPr>
          <a:xfrm>
            <a:off x="731520" y="1920240"/>
            <a:ext cx="3382920" cy="93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45000" rIns="90000" bIns="45000" anchor="ctr">
            <a:noAutofit/>
          </a:bodyPr>
          <a:p>
            <a:pPr>
              <a:lnSpc>
                <a:spcPct val="100000"/>
              </a:lnSpc>
            </a:pPr>
            <a:endParaRPr lang="en-US" sz="1800" b="1" u="none" strike="noStrike">
              <a:solidFill>
                <a:schemeClr val="lt1"/>
              </a:solidFill>
              <a:effectLst/>
              <a:uFillTx/>
              <a:latin typeface="Calibri"/>
            </a:endParaRPr>
          </a:p>
        </p:txBody>
      </p:sp>
      <p:sp>
        <p:nvSpPr>
          <p:cNvPr id="262" name="Rectangle 5"/>
          <p:cNvSpPr/>
          <p:nvPr/>
        </p:nvSpPr>
        <p:spPr>
          <a:xfrm>
            <a:off x="4389120" y="1920240"/>
            <a:ext cx="3611520" cy="4251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b">
            <a:noAutofit/>
          </a:bodyPr>
          <a:p>
            <a:pPr algn="ctr" defTabSz="457200">
              <a:lnSpc>
                <a:spcPct val="100000"/>
              </a:lnSpc>
              <a:spcAft>
                <a:spcPts val="400"/>
              </a:spcAft>
            </a:pPr>
            <a:endParaRPr lang="en-US" sz="1200" b="0" u="none" strike="noStrike">
              <a:solidFill>
                <a:srgbClr val="000000"/>
              </a:solidFill>
              <a:effectLst/>
              <a:uFillTx/>
              <a:latin typeface="Arial"/>
            </a:endParaRPr>
          </a:p>
          <a:p>
            <a:pPr algn="ctr" defTabSz="457200">
              <a:lnSpc>
                <a:spcPct val="100000"/>
              </a:lnSpc>
              <a:spcAft>
                <a:spcPts val="601"/>
              </a:spcAft>
            </a:pPr>
            <a:r>
              <a:rPr lang="en-US" sz="1600" b="1" u="none" strike="noStrike">
                <a:solidFill>
                  <a:srgbClr val="271811"/>
                </a:solidFill>
                <a:effectLst/>
                <a:uFillTx/>
                <a:latin typeface="JetBrains Mono"/>
              </a:rPr>
              <a:t>Angular 21</a:t>
            </a:r>
            <a:endParaRPr lang="en-US" sz="1600" b="0" u="none" strike="noStrike">
              <a:solidFill>
                <a:srgbClr val="000000"/>
              </a:solidFill>
              <a:effectLst/>
              <a:uFillTx/>
              <a:latin typeface="Arial"/>
            </a:endParaRPr>
          </a:p>
          <a:p>
            <a:pPr algn="ctr" defTabSz="457200">
              <a:lnSpc>
                <a:spcPct val="100000"/>
              </a:lnSpc>
            </a:pPr>
            <a:r>
              <a:rPr lang="en-US" sz="1250" b="1" u="none" strike="noStrike">
                <a:solidFill>
                  <a:srgbClr val="64748B"/>
                </a:solidFill>
                <a:effectLst/>
                <a:uFillTx/>
                <a:latin typeface="JetBrains Mono"/>
              </a:rPr>
              <a:t>un framework web frontend permettant de créer des SPA.</a:t>
            </a:r>
            <a:endParaRPr lang="en-US" sz="1250" b="0" u="none" strike="noStrike">
              <a:solidFill>
                <a:srgbClr val="000000"/>
              </a:solidFill>
              <a:effectLst/>
              <a:uFillTx/>
              <a:latin typeface="Arial"/>
            </a:endParaRPr>
          </a:p>
          <a:p>
            <a:pPr algn="ctr" defTabSz="457200">
              <a:lnSpc>
                <a:spcPct val="100000"/>
              </a:lnSpc>
            </a:pPr>
            <a:endParaRPr lang="en-US" sz="1250" b="0" u="none" strike="noStrike">
              <a:solidFill>
                <a:srgbClr val="000000"/>
              </a:solidFill>
              <a:effectLst/>
              <a:uFillTx/>
              <a:latin typeface="Arial"/>
            </a:endParaRPr>
          </a:p>
        </p:txBody>
      </p:sp>
      <p:sp>
        <p:nvSpPr>
          <p:cNvPr id="263" name="Rectangle 6"/>
          <p:cNvSpPr/>
          <p:nvPr/>
        </p:nvSpPr>
        <p:spPr>
          <a:xfrm>
            <a:off x="4389120" y="1920240"/>
            <a:ext cx="3611520" cy="93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45000" rIns="90000" bIns="45000" anchor="ctr">
            <a:noAutofit/>
          </a:bodyPr>
          <a:p>
            <a:pPr>
              <a:lnSpc>
                <a:spcPct val="100000"/>
              </a:lnSpc>
            </a:pPr>
            <a:endParaRPr lang="en-US" sz="1800" b="1" u="none" strike="noStrike">
              <a:solidFill>
                <a:schemeClr val="lt1"/>
              </a:solidFill>
              <a:effectLst/>
              <a:uFillTx/>
              <a:latin typeface="Calibri"/>
            </a:endParaRPr>
          </a:p>
        </p:txBody>
      </p:sp>
      <p:sp>
        <p:nvSpPr>
          <p:cNvPr id="264" name="Rectangle 7"/>
          <p:cNvSpPr/>
          <p:nvPr/>
        </p:nvSpPr>
        <p:spPr>
          <a:xfrm>
            <a:off x="8275320" y="1920240"/>
            <a:ext cx="3611520" cy="4251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b">
            <a:noAutofit/>
          </a:bodyPr>
          <a:p>
            <a:pPr algn="ctr" defTabSz="457200">
              <a:lnSpc>
                <a:spcPct val="100000"/>
              </a:lnSpc>
              <a:spcAft>
                <a:spcPts val="400"/>
              </a:spcAft>
            </a:pPr>
            <a:endParaRPr lang="en-US" sz="1200" b="0" u="none" strike="noStrike">
              <a:solidFill>
                <a:srgbClr val="000000"/>
              </a:solidFill>
              <a:effectLst/>
              <a:uFillTx/>
              <a:latin typeface="Arial"/>
            </a:endParaRPr>
          </a:p>
          <a:p>
            <a:pPr algn="ctr" defTabSz="457200">
              <a:lnSpc>
                <a:spcPct val="100000"/>
              </a:lnSpc>
              <a:spcAft>
                <a:spcPts val="601"/>
              </a:spcAft>
            </a:pPr>
            <a:r>
              <a:rPr lang="en-US" sz="1600" b="1" u="none" strike="noStrike">
                <a:solidFill>
                  <a:srgbClr val="271811"/>
                </a:solidFill>
                <a:effectLst/>
                <a:uFillTx/>
                <a:latin typeface="JetBrains Mono"/>
              </a:rPr>
              <a:t>SQL Server 2022</a:t>
            </a:r>
            <a:endParaRPr lang="en-US" sz="1600" b="0" u="none" strike="noStrike">
              <a:solidFill>
                <a:srgbClr val="000000"/>
              </a:solidFill>
              <a:effectLst/>
              <a:uFillTx/>
              <a:latin typeface="Arial"/>
            </a:endParaRPr>
          </a:p>
          <a:p>
            <a:pPr algn="ctr" defTabSz="457200">
              <a:lnSpc>
                <a:spcPct val="100000"/>
              </a:lnSpc>
            </a:pPr>
            <a:r>
              <a:rPr lang="en-US" sz="1250" b="1" u="none" strike="noStrike">
                <a:solidFill>
                  <a:srgbClr val="64748B"/>
                </a:solidFill>
                <a:effectLst/>
                <a:uFillTx/>
                <a:latin typeface="JetBrains Mono"/>
              </a:rPr>
              <a:t>un SGBDR développé par Microsoft.</a:t>
            </a:r>
            <a:endParaRPr lang="en-US" sz="1250" b="0" u="none" strike="noStrike">
              <a:solidFill>
                <a:srgbClr val="000000"/>
              </a:solidFill>
              <a:effectLst/>
              <a:uFillTx/>
              <a:latin typeface="Arial"/>
            </a:endParaRPr>
          </a:p>
          <a:p>
            <a:pPr algn="ctr" defTabSz="457200">
              <a:lnSpc>
                <a:spcPct val="100000"/>
              </a:lnSpc>
            </a:pPr>
            <a:endParaRPr lang="en-US" sz="1250" b="0" u="none" strike="noStrike">
              <a:solidFill>
                <a:srgbClr val="000000"/>
              </a:solidFill>
              <a:effectLst/>
              <a:uFillTx/>
              <a:latin typeface="Arial"/>
            </a:endParaRPr>
          </a:p>
        </p:txBody>
      </p:sp>
      <p:sp>
        <p:nvSpPr>
          <p:cNvPr id="265" name="Rectangle 8"/>
          <p:cNvSpPr/>
          <p:nvPr/>
        </p:nvSpPr>
        <p:spPr>
          <a:xfrm>
            <a:off x="8275320" y="1920240"/>
            <a:ext cx="3611520" cy="93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45000" rIns="90000" bIns="45000" anchor="ctr">
            <a:noAutofit/>
          </a:bodyPr>
          <a:p>
            <a:pPr>
              <a:lnSpc>
                <a:spcPct val="100000"/>
              </a:lnSpc>
            </a:pPr>
            <a:endParaRPr lang="en-US" sz="1800" b="1" u="none" strike="noStrike">
              <a:solidFill>
                <a:schemeClr val="lt1"/>
              </a:solidFill>
              <a:effectLst/>
              <a:uFillTx/>
              <a:latin typeface="Calibri"/>
            </a:endParaRPr>
          </a:p>
        </p:txBody>
      </p:sp>
      <p:pic>
        <p:nvPicPr>
          <p:cNvPr id="266" name=""/>
          <p:cNvPicPr/>
          <p:nvPr/>
        </p:nvPicPr>
        <p:blipFill>
          <a:blip r:embed="rId1"/>
          <a:stretch/>
        </p:blipFill>
        <p:spPr>
          <a:xfrm>
            <a:off x="1371600" y="2331720"/>
            <a:ext cx="2239920" cy="2239920"/>
          </a:xfrm>
          <a:prstGeom prst="rect">
            <a:avLst/>
          </a:prstGeom>
          <a:noFill/>
          <a:ln w="38160">
            <a:noFill/>
          </a:ln>
        </p:spPr>
      </p:pic>
      <p:pic>
        <p:nvPicPr>
          <p:cNvPr id="267" name=""/>
          <p:cNvPicPr/>
          <p:nvPr/>
        </p:nvPicPr>
        <p:blipFill>
          <a:blip r:embed="rId2"/>
          <a:stretch/>
        </p:blipFill>
        <p:spPr>
          <a:xfrm>
            <a:off x="5029200" y="2242800"/>
            <a:ext cx="2276280" cy="2557440"/>
          </a:xfrm>
          <a:prstGeom prst="rect">
            <a:avLst/>
          </a:prstGeom>
          <a:noFill/>
          <a:ln w="38160">
            <a:noFill/>
          </a:ln>
        </p:spPr>
      </p:pic>
      <p:pic>
        <p:nvPicPr>
          <p:cNvPr id="268" name=""/>
          <p:cNvPicPr/>
          <p:nvPr/>
        </p:nvPicPr>
        <p:blipFill>
          <a:blip r:embed="rId3"/>
          <a:srcRect l="22309" t="10960" r="22819" b="32872"/>
          <a:stretch/>
        </p:blipFill>
        <p:spPr>
          <a:xfrm>
            <a:off x="8915400" y="2286000"/>
            <a:ext cx="2513880" cy="2573280"/>
          </a:xfrm>
          <a:prstGeom prst="rect">
            <a:avLst/>
          </a:prstGeom>
          <a:noFill/>
          <a:ln w="38160">
            <a:noFill/>
          </a:ln>
        </p:spPr>
      </p:pic>
    </p:spTree>
  </p:cSld>
  <mc:AlternateContent>
    <mc:Choice Requires="p14">
      <p:transition p14:dur="250">
        <p:fade thruBlk="true"/>
      </p:transition>
    </mc:Choice>
    <mc:Fallback>
      <p:transition>
        <p:fade thruBlk="true"/>
      </p:transition>
    </mc:Fallback>
  </mc:AlternateContent>
  <p:timing>
    <p:tnLst>
      <p:par>
        <p:cTn id="127" dur="indefinite" restart="never" nodeType="tmRoot">
          <p:childTnLst>
            <p:seq>
              <p:cTn id="128" dur="indefinite" nodeType="mainSeq">
                <p:childTnLst>
                  <p:par>
                    <p:cTn id="129" fill="hold">
                      <p:stCondLst>
                        <p:cond delay="indefinite"/>
                      </p:stCondLst>
                      <p:childTnLst>
                        <p:par>
                          <p:cTn id="130" fill="hold">
                            <p:stCondLst>
                              <p:cond delay="0"/>
                            </p:stCondLst>
                            <p:childTnLst>
                              <p:par>
                                <p:cTn id="131" presetID="1" presetClass="entr" fill="hold" nodeType="clickEffect">
                                  <p:stCondLst>
                                    <p:cond delay="0"/>
                                  </p:stCondLst>
                                  <p:childTnLst>
                                    <p:set>
                                      <p:cBhvr>
                                        <p:cTn id="132" dur="1" fill="hold">
                                          <p:stCondLst>
                                            <p:cond delay="0"/>
                                          </p:stCondLst>
                                        </p:cTn>
                                        <p:tgtEl>
                                          <p:spTgt spid="260"/>
                                        </p:tgtEl>
                                        <p:attrNameLst>
                                          <p:attrName>style.visibility</p:attrName>
                                        </p:attrNameLst>
                                      </p:cBhvr>
                                      <p:to>
                                        <p:strVal val="visible"/>
                                      </p:to>
                                    </p:set>
                                  </p:childTnLst>
                                </p:cTn>
                              </p:par>
                              <p:par>
                                <p:cTn id="133" presetID="1" presetClass="entr" fill="hold" nodeType="withEffect">
                                  <p:stCondLst>
                                    <p:cond delay="0"/>
                                  </p:stCondLst>
                                  <p:childTnLst>
                                    <p:set>
                                      <p:cBhvr>
                                        <p:cTn id="134" dur="1" fill="hold">
                                          <p:stCondLst>
                                            <p:cond delay="0"/>
                                          </p:stCondLst>
                                        </p:cTn>
                                        <p:tgtEl>
                                          <p:spTgt spid="261"/>
                                        </p:tgtEl>
                                        <p:attrNameLst>
                                          <p:attrName>style.visibility</p:attrName>
                                        </p:attrNameLst>
                                      </p:cBhvr>
                                      <p:to>
                                        <p:strVal val="visible"/>
                                      </p:to>
                                    </p:set>
                                  </p:childTnLst>
                                </p:cTn>
                              </p:par>
                              <p:par>
                                <p:cTn id="135" presetID="1" presetClass="entr" fill="hold" nodeType="withEffect">
                                  <p:stCondLst>
                                    <p:cond delay="0"/>
                                  </p:stCondLst>
                                  <p:childTnLst>
                                    <p:set>
                                      <p:cBhvr>
                                        <p:cTn id="136" dur="1" fill="hold">
                                          <p:stCondLst>
                                            <p:cond delay="0"/>
                                          </p:stCondLst>
                                        </p:cTn>
                                        <p:tgtEl>
                                          <p:spTgt spid="266"/>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fill="hold" nodeType="clickEffect">
                                  <p:stCondLst>
                                    <p:cond delay="0"/>
                                  </p:stCondLst>
                                  <p:childTnLst>
                                    <p:set>
                                      <p:cBhvr>
                                        <p:cTn id="140" dur="1" fill="hold">
                                          <p:stCondLst>
                                            <p:cond delay="0"/>
                                          </p:stCondLst>
                                        </p:cTn>
                                        <p:tgtEl>
                                          <p:spTgt spid="262"/>
                                        </p:tgtEl>
                                        <p:attrNameLst>
                                          <p:attrName>style.visibility</p:attrName>
                                        </p:attrNameLst>
                                      </p:cBhvr>
                                      <p:to>
                                        <p:strVal val="visible"/>
                                      </p:to>
                                    </p:set>
                                  </p:childTnLst>
                                </p:cTn>
                              </p:par>
                              <p:par>
                                <p:cTn id="141" presetID="1" presetClass="entr" fill="hold" nodeType="withEffect">
                                  <p:stCondLst>
                                    <p:cond delay="0"/>
                                  </p:stCondLst>
                                  <p:childTnLst>
                                    <p:set>
                                      <p:cBhvr>
                                        <p:cTn id="142" dur="1" fill="hold">
                                          <p:stCondLst>
                                            <p:cond delay="0"/>
                                          </p:stCondLst>
                                        </p:cTn>
                                        <p:tgtEl>
                                          <p:spTgt spid="263"/>
                                        </p:tgtEl>
                                        <p:attrNameLst>
                                          <p:attrName>style.visibility</p:attrName>
                                        </p:attrNameLst>
                                      </p:cBhvr>
                                      <p:to>
                                        <p:strVal val="visible"/>
                                      </p:to>
                                    </p:set>
                                  </p:childTnLst>
                                </p:cTn>
                              </p:par>
                              <p:par>
                                <p:cTn id="143" presetID="1" presetClass="entr" fill="hold" nodeType="withEffect">
                                  <p:stCondLst>
                                    <p:cond delay="0"/>
                                  </p:stCondLst>
                                  <p:childTnLst>
                                    <p:set>
                                      <p:cBhvr>
                                        <p:cTn id="144" dur="1" fill="hold">
                                          <p:stCondLst>
                                            <p:cond delay="0"/>
                                          </p:stCondLst>
                                        </p:cTn>
                                        <p:tgtEl>
                                          <p:spTgt spid="267"/>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fill="hold" nodeType="clickEffect">
                                  <p:stCondLst>
                                    <p:cond delay="0"/>
                                  </p:stCondLst>
                                  <p:childTnLst>
                                    <p:set>
                                      <p:cBhvr>
                                        <p:cTn id="148" dur="1" fill="hold">
                                          <p:stCondLst>
                                            <p:cond delay="0"/>
                                          </p:stCondLst>
                                        </p:cTn>
                                        <p:tgtEl>
                                          <p:spTgt spid="264"/>
                                        </p:tgtEl>
                                        <p:attrNameLst>
                                          <p:attrName>style.visibility</p:attrName>
                                        </p:attrNameLst>
                                      </p:cBhvr>
                                      <p:to>
                                        <p:strVal val="visible"/>
                                      </p:to>
                                    </p:set>
                                  </p:childTnLst>
                                </p:cTn>
                              </p:par>
                              <p:par>
                                <p:cTn id="149" presetID="1" presetClass="entr" fill="hold" nodeType="withEffect">
                                  <p:stCondLst>
                                    <p:cond delay="0"/>
                                  </p:stCondLst>
                                  <p:childTnLst>
                                    <p:set>
                                      <p:cBhvr>
                                        <p:cTn id="150" dur="1" fill="hold">
                                          <p:stCondLst>
                                            <p:cond delay="0"/>
                                          </p:stCondLst>
                                        </p:cTn>
                                        <p:tgtEl>
                                          <p:spTgt spid="265"/>
                                        </p:tgtEl>
                                        <p:attrNameLst>
                                          <p:attrName>style.visibility</p:attrName>
                                        </p:attrNameLst>
                                      </p:cBhvr>
                                      <p:to>
                                        <p:strVal val="visible"/>
                                      </p:to>
                                    </p:set>
                                  </p:childTnLst>
                                </p:cTn>
                              </p:par>
                              <p:par>
                                <p:cTn id="151" presetID="1" presetClass="entr" fill="hold" nodeType="withEffect">
                                  <p:stCondLst>
                                    <p:cond delay="0"/>
                                  </p:stCondLst>
                                  <p:childTnLst>
                                    <p:set>
                                      <p:cBhvr>
                                        <p:cTn id="152"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69"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70" name="TextBox 2"/>
          <p:cNvSpPr/>
          <p:nvPr/>
        </p:nvSpPr>
        <p:spPr>
          <a:xfrm>
            <a:off x="1097280" y="1463040"/>
            <a:ext cx="10057680" cy="6706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Les Captures D'Ecran</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71" name="TextBox 1"/>
          <p:cNvSpPr/>
          <p:nvPr/>
        </p:nvSpPr>
        <p:spPr>
          <a:xfrm>
            <a:off x="731520" y="640080"/>
            <a:ext cx="106956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Prospects</a:t>
            </a:r>
            <a:endParaRPr lang="en-US" sz="1300" b="0" u="none" strike="noStrike">
              <a:solidFill>
                <a:srgbClr val="000000"/>
              </a:solidFill>
              <a:effectLst/>
              <a:uFillTx/>
              <a:latin typeface="Arial"/>
            </a:endParaRPr>
          </a:p>
        </p:txBody>
      </p:sp>
      <p:sp>
        <p:nvSpPr>
          <p:cNvPr id="272" name="TextBox 2"/>
          <p:cNvSpPr/>
          <p:nvPr/>
        </p:nvSpPr>
        <p:spPr>
          <a:xfrm>
            <a:off x="731520" y="960120"/>
            <a:ext cx="841032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La Qualification D'un Prospect</a:t>
            </a:r>
            <a:endParaRPr lang="en-US" sz="3600" b="0" u="none" strike="noStrike">
              <a:solidFill>
                <a:srgbClr val="000000"/>
              </a:solidFill>
              <a:effectLst/>
              <a:uFillTx/>
              <a:latin typeface="Arial"/>
            </a:endParaRPr>
          </a:p>
        </p:txBody>
      </p:sp>
      <p:pic>
        <p:nvPicPr>
          <p:cNvPr id="273" name="Picture 3" descr="qualifyingaprospect.pn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74" name="TextBox 1"/>
          <p:cNvSpPr/>
          <p:nvPr/>
        </p:nvSpPr>
        <p:spPr>
          <a:xfrm>
            <a:off x="731520" y="640080"/>
            <a:ext cx="106956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Prospects</a:t>
            </a:r>
            <a:endParaRPr lang="en-US" sz="1300" b="0" u="none" strike="noStrike">
              <a:solidFill>
                <a:srgbClr val="000000"/>
              </a:solidFill>
              <a:effectLst/>
              <a:uFillTx/>
              <a:latin typeface="Arial"/>
            </a:endParaRPr>
          </a:p>
        </p:txBody>
      </p:sp>
      <p:sp>
        <p:nvSpPr>
          <p:cNvPr id="275" name="TextBox 2"/>
          <p:cNvSpPr/>
          <p:nvPr/>
        </p:nvSpPr>
        <p:spPr>
          <a:xfrm>
            <a:off x="731520" y="960120"/>
            <a:ext cx="75873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La Conversion D'un Prospect</a:t>
            </a:r>
            <a:endParaRPr lang="en-US" sz="3600" b="0" u="none" strike="noStrike">
              <a:solidFill>
                <a:srgbClr val="000000"/>
              </a:solidFill>
              <a:effectLst/>
              <a:uFillTx/>
              <a:latin typeface="Arial"/>
            </a:endParaRPr>
          </a:p>
        </p:txBody>
      </p:sp>
      <p:pic>
        <p:nvPicPr>
          <p:cNvPr id="276" name="Picture 3" descr="convertingaprospect.pn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77" name="TextBox 1"/>
          <p:cNvSpPr/>
          <p:nvPr/>
        </p:nvSpPr>
        <p:spPr>
          <a:xfrm>
            <a:off x="731520" y="640080"/>
            <a:ext cx="13658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Opportunites</a:t>
            </a:r>
            <a:endParaRPr lang="en-US" sz="1300" b="0" u="none" strike="noStrike">
              <a:solidFill>
                <a:srgbClr val="000000"/>
              </a:solidFill>
              <a:effectLst/>
              <a:uFillTx/>
              <a:latin typeface="Arial"/>
            </a:endParaRPr>
          </a:p>
        </p:txBody>
      </p:sp>
      <p:sp>
        <p:nvSpPr>
          <p:cNvPr id="278" name="TextBox 2"/>
          <p:cNvSpPr/>
          <p:nvPr/>
        </p:nvSpPr>
        <p:spPr>
          <a:xfrm>
            <a:off x="731520" y="960120"/>
            <a:ext cx="75873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 Cloture D'Une Oppotunite</a:t>
            </a:r>
            <a:endParaRPr lang="en-US" sz="3600" b="0" u="none" strike="noStrike">
              <a:solidFill>
                <a:srgbClr val="000000"/>
              </a:solidFill>
              <a:effectLst/>
              <a:uFillTx/>
              <a:latin typeface="Arial"/>
            </a:endParaRPr>
          </a:p>
        </p:txBody>
      </p:sp>
      <p:pic>
        <p:nvPicPr>
          <p:cNvPr id="279" name="Picture 3" descr="closinganopportunity.pn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80" name="TextBox 1"/>
          <p:cNvSpPr/>
          <p:nvPr/>
        </p:nvSpPr>
        <p:spPr>
          <a:xfrm>
            <a:off x="731520" y="640080"/>
            <a:ext cx="106956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Campagnes</a:t>
            </a:r>
            <a:endParaRPr lang="en-US" sz="1300" b="0" u="none" strike="noStrike">
              <a:solidFill>
                <a:srgbClr val="000000"/>
              </a:solidFill>
              <a:effectLst/>
              <a:uFillTx/>
              <a:latin typeface="Arial"/>
            </a:endParaRPr>
          </a:p>
        </p:txBody>
      </p:sp>
      <p:sp>
        <p:nvSpPr>
          <p:cNvPr id="281" name="TextBox 2"/>
          <p:cNvSpPr/>
          <p:nvPr/>
        </p:nvSpPr>
        <p:spPr>
          <a:xfrm>
            <a:off x="731520" y="960120"/>
            <a:ext cx="75873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L'analytique D'Une Campagne</a:t>
            </a:r>
            <a:endParaRPr lang="en-US" sz="3600" b="0" u="none" strike="noStrike">
              <a:solidFill>
                <a:srgbClr val="000000"/>
              </a:solidFill>
              <a:effectLst/>
              <a:uFillTx/>
              <a:latin typeface="Arial"/>
            </a:endParaRPr>
          </a:p>
        </p:txBody>
      </p:sp>
      <p:pic>
        <p:nvPicPr>
          <p:cNvPr id="282" name="Picture 3" descr="campagne.png"/>
          <p:cNvPicPr/>
          <p:nvPr/>
        </p:nvPicPr>
        <p:blipFill>
          <a:blip r:embed="rId1"/>
          <a:stretch/>
        </p:blipFill>
        <p:spPr>
          <a:xfrm>
            <a:off x="1828800" y="1920240"/>
            <a:ext cx="8557920" cy="47541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83" name="Rectangle 1"/>
          <p:cNvSpPr/>
          <p:nvPr/>
        </p:nvSpPr>
        <p:spPr>
          <a:xfrm>
            <a:off x="1097280" y="1188720"/>
            <a:ext cx="1096560" cy="450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84" name="TextBox 2"/>
          <p:cNvSpPr/>
          <p:nvPr/>
        </p:nvSpPr>
        <p:spPr>
          <a:xfrm>
            <a:off x="1097280" y="1463040"/>
            <a:ext cx="10057680" cy="225540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Conclusion</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 </a:t>
            </a:r>
            <a:r>
              <a:rPr lang="en-US" sz="1600" b="0" u="none" strike="noStrike">
                <a:solidFill>
                  <a:srgbClr val="94A3B8"/>
                </a:solidFill>
                <a:effectLst/>
                <a:uFillTx/>
                <a:latin typeface="JetBrains Mono"/>
              </a:rPr>
              <a:t>Ce que ce projet apporte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2 : </a:t>
            </a:r>
            <a:r>
              <a:rPr lang="en-US" sz="1600" b="0" u="none" strike="noStrike">
                <a:solidFill>
                  <a:srgbClr val="94A3B8"/>
                </a:solidFill>
                <a:effectLst/>
                <a:uFillTx/>
                <a:latin typeface="JetBrains Mono"/>
              </a:rPr>
              <a:t>Difficultés rencontrées</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3 : </a:t>
            </a:r>
            <a:r>
              <a:rPr lang="en-US" sz="1600" b="0" u="none" strike="noStrike">
                <a:solidFill>
                  <a:srgbClr val="94A3B8"/>
                </a:solidFill>
                <a:effectLst/>
                <a:uFillTx/>
                <a:latin typeface="JetBrains Mono"/>
              </a:rPr>
              <a:t>Prespectives Futurs</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85" name="TextBox 1"/>
          <p:cNvSpPr/>
          <p:nvPr/>
        </p:nvSpPr>
        <p:spPr>
          <a:xfrm>
            <a:off x="731520" y="640080"/>
            <a:ext cx="116820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CONCLUSION</a:t>
            </a:r>
            <a:endParaRPr lang="en-US" sz="1300" b="0" u="none" strike="noStrike">
              <a:solidFill>
                <a:srgbClr val="000000"/>
              </a:solidFill>
              <a:effectLst/>
              <a:uFillTx/>
              <a:latin typeface="Arial"/>
            </a:endParaRPr>
          </a:p>
        </p:txBody>
      </p:sp>
      <p:sp>
        <p:nvSpPr>
          <p:cNvPr id="286" name="TextBox 2"/>
          <p:cNvSpPr/>
          <p:nvPr/>
        </p:nvSpPr>
        <p:spPr>
          <a:xfrm>
            <a:off x="731520" y="1005840"/>
            <a:ext cx="676440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Ce que ce projet apporte</a:t>
            </a:r>
            <a:endParaRPr lang="en-US" sz="3600" b="0" u="none" strike="noStrike">
              <a:solidFill>
                <a:srgbClr val="000000"/>
              </a:solidFill>
              <a:effectLst/>
              <a:uFillTx/>
              <a:latin typeface="Arial"/>
            </a:endParaRPr>
          </a:p>
        </p:txBody>
      </p:sp>
      <p:sp>
        <p:nvSpPr>
          <p:cNvPr id="287" name="Rectangle 3"/>
          <p:cNvSpPr/>
          <p:nvPr/>
        </p:nvSpPr>
        <p:spPr>
          <a:xfrm>
            <a:off x="731520" y="2011680"/>
            <a:ext cx="3291120" cy="1296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1320" rIns="90000" bIns="-31320" anchor="ctr">
            <a:noAutofit/>
          </a:bodyPr>
          <a:p>
            <a:pPr/>
            <a:endParaRPr lang="en-US" sz="1800" b="0" u="none" strike="noStrike">
              <a:solidFill>
                <a:schemeClr val="lt1"/>
              </a:solidFill>
              <a:effectLst/>
              <a:uFillTx/>
              <a:latin typeface="Calibri"/>
            </a:endParaRPr>
          </a:p>
        </p:txBody>
      </p:sp>
      <p:sp>
        <p:nvSpPr>
          <p:cNvPr id="288" name="TextBox 4"/>
          <p:cNvSpPr/>
          <p:nvPr/>
        </p:nvSpPr>
        <p:spPr>
          <a:xfrm>
            <a:off x="731520" y="2194560"/>
            <a:ext cx="3291120" cy="92700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001"/>
              </a:spcAft>
            </a:pPr>
            <a:r>
              <a:rPr lang="en-US" sz="1200" b="0" u="none" strike="noStrike">
                <a:solidFill>
                  <a:srgbClr val="475569"/>
                </a:solidFill>
                <a:effectLst/>
                <a:uFillTx/>
                <a:latin typeface="JetBrains Mono"/>
              </a:rPr>
              <a:t>CHERCHÉ À FAIRE</a:t>
            </a:r>
            <a:endParaRPr lang="en-US" sz="1200" b="0" u="none" strike="noStrike">
              <a:solidFill>
                <a:srgbClr val="000000"/>
              </a:solidFill>
              <a:effectLst/>
              <a:uFillTx/>
              <a:latin typeface="Arial"/>
            </a:endParaRPr>
          </a:p>
          <a:p>
            <a:pPr defTabSz="457200">
              <a:lnSpc>
                <a:spcPct val="100000"/>
              </a:lnSpc>
            </a:pPr>
            <a:r>
              <a:rPr lang="en-US" sz="1350" b="0" u="none" strike="noStrike">
                <a:solidFill>
                  <a:srgbClr val="271811"/>
                </a:solidFill>
                <a:effectLst/>
                <a:uFillTx/>
                <a:latin typeface="JetBrains Mono"/>
              </a:rPr>
              <a:t>Doter UniFlow-Suite d'un CRM moderne, sécurisé et évolutif, hébergeable en Algérie</a:t>
            </a:r>
            <a:endParaRPr lang="en-US" sz="1350" b="0" u="none" strike="noStrike">
              <a:solidFill>
                <a:srgbClr val="000000"/>
              </a:solidFill>
              <a:effectLst/>
              <a:uFillTx/>
              <a:latin typeface="Arial"/>
            </a:endParaRPr>
          </a:p>
        </p:txBody>
      </p:sp>
      <p:sp>
        <p:nvSpPr>
          <p:cNvPr id="289" name="Rectangle 5"/>
          <p:cNvSpPr/>
          <p:nvPr/>
        </p:nvSpPr>
        <p:spPr>
          <a:xfrm>
            <a:off x="731520" y="3749040"/>
            <a:ext cx="1370880" cy="2664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290" name="Rectangle 6"/>
          <p:cNvSpPr/>
          <p:nvPr/>
        </p:nvSpPr>
        <p:spPr>
          <a:xfrm>
            <a:off x="4389120" y="2011680"/>
            <a:ext cx="3291120" cy="1296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1320" rIns="90000" bIns="-31320" anchor="ctr">
            <a:noAutofit/>
          </a:bodyPr>
          <a:p>
            <a:pPr/>
            <a:endParaRPr lang="en-US" sz="1800" b="0" u="none" strike="noStrike">
              <a:solidFill>
                <a:schemeClr val="lt1"/>
              </a:solidFill>
              <a:effectLst/>
              <a:uFillTx/>
              <a:latin typeface="Calibri"/>
            </a:endParaRPr>
          </a:p>
        </p:txBody>
      </p:sp>
      <p:sp>
        <p:nvSpPr>
          <p:cNvPr id="291" name="TextBox 7"/>
          <p:cNvSpPr/>
          <p:nvPr/>
        </p:nvSpPr>
        <p:spPr>
          <a:xfrm>
            <a:off x="4389120" y="2194560"/>
            <a:ext cx="3291120" cy="11325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001"/>
              </a:spcAft>
            </a:pPr>
            <a:r>
              <a:rPr lang="en-US" sz="1200" b="0" u="none" strike="noStrike">
                <a:solidFill>
                  <a:srgbClr val="475569"/>
                </a:solidFill>
                <a:effectLst/>
                <a:uFillTx/>
                <a:latin typeface="JetBrains Mono"/>
              </a:rPr>
              <a:t>RÉALISÉ</a:t>
            </a:r>
            <a:endParaRPr lang="en-US" sz="1200" b="0" u="none" strike="noStrike">
              <a:solidFill>
                <a:srgbClr val="000000"/>
              </a:solidFill>
              <a:effectLst/>
              <a:uFillTx/>
              <a:latin typeface="Arial"/>
            </a:endParaRPr>
          </a:p>
          <a:p>
            <a:pPr defTabSz="457200">
              <a:lnSpc>
                <a:spcPct val="100000"/>
              </a:lnSpc>
            </a:pPr>
            <a:r>
              <a:rPr lang="en-US" sz="1350" b="0" u="none" strike="noStrike">
                <a:solidFill>
                  <a:srgbClr val="271811"/>
                </a:solidFill>
                <a:effectLst/>
                <a:uFillTx/>
                <a:latin typeface="JetBrains Mono"/>
              </a:rPr>
              <a:t>Une application web complète couvrant le cycle commercial, les activités, l'audit et les analytiques</a:t>
            </a:r>
            <a:endParaRPr lang="en-US" sz="1350" b="0" u="none" strike="noStrike">
              <a:solidFill>
                <a:srgbClr val="000000"/>
              </a:solidFill>
              <a:effectLst/>
              <a:uFillTx/>
              <a:latin typeface="Arial"/>
            </a:endParaRPr>
          </a:p>
        </p:txBody>
      </p:sp>
      <p:sp>
        <p:nvSpPr>
          <p:cNvPr id="292" name="Rectangle 8"/>
          <p:cNvSpPr/>
          <p:nvPr/>
        </p:nvSpPr>
        <p:spPr>
          <a:xfrm>
            <a:off x="8046720" y="2011680"/>
            <a:ext cx="3291120" cy="1296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31320" rIns="90000" bIns="-31320" anchor="ctr">
            <a:noAutofit/>
          </a:bodyPr>
          <a:p>
            <a:pPr/>
            <a:endParaRPr lang="en-US" sz="1800" b="0" u="none" strike="noStrike">
              <a:solidFill>
                <a:schemeClr val="lt1"/>
              </a:solidFill>
              <a:effectLst/>
              <a:uFillTx/>
              <a:latin typeface="Calibri"/>
            </a:endParaRPr>
          </a:p>
        </p:txBody>
      </p:sp>
      <p:sp>
        <p:nvSpPr>
          <p:cNvPr id="293" name="TextBox 9"/>
          <p:cNvSpPr/>
          <p:nvPr/>
        </p:nvSpPr>
        <p:spPr>
          <a:xfrm>
            <a:off x="8046720" y="2194560"/>
            <a:ext cx="3291120" cy="92700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001"/>
              </a:spcAft>
            </a:pPr>
            <a:r>
              <a:rPr lang="en-US" sz="1200" b="0" u="none" strike="noStrike">
                <a:solidFill>
                  <a:srgbClr val="EB0025"/>
                </a:solidFill>
                <a:effectLst/>
                <a:uFillTx/>
                <a:latin typeface="JetBrains Mono"/>
              </a:rPr>
              <a:t>OBTENU</a:t>
            </a:r>
            <a:endParaRPr lang="en-US" sz="1200" b="0" u="none" strike="noStrike">
              <a:solidFill>
                <a:srgbClr val="000000"/>
              </a:solidFill>
              <a:effectLst/>
              <a:uFillTx/>
              <a:latin typeface="Arial"/>
            </a:endParaRPr>
          </a:p>
          <a:p>
            <a:pPr defTabSz="457200">
              <a:lnSpc>
                <a:spcPct val="100000"/>
              </a:lnSpc>
            </a:pPr>
            <a:r>
              <a:rPr lang="en-US" sz="1350" b="0" u="none" strike="noStrike">
                <a:solidFill>
                  <a:srgbClr val="271811"/>
                </a:solidFill>
                <a:effectLst/>
                <a:uFillTx/>
                <a:latin typeface="JetBrains Mono"/>
              </a:rPr>
              <a:t>Quatre objectifs techniques atteints et démontrables, objectifs métier outillés</a:t>
            </a:r>
            <a:endParaRPr lang="en-US" sz="1350" b="0" u="none" strike="noStrike">
              <a:solidFill>
                <a:srgbClr val="000000"/>
              </a:solidFill>
              <a:effectLst/>
              <a:uFillTx/>
              <a:latin typeface="Arial"/>
            </a:endParaRPr>
          </a:p>
        </p:txBody>
      </p:sp>
      <p:sp>
        <p:nvSpPr>
          <p:cNvPr id="294" name="TextBox 10"/>
          <p:cNvSpPr/>
          <p:nvPr/>
        </p:nvSpPr>
        <p:spPr>
          <a:xfrm>
            <a:off x="731520" y="4206240"/>
            <a:ext cx="10514880" cy="1005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Valeur ajoutée : un module intégré à un écosystème existant, hébergé en Algérie, porté par une architecture qui absorbera les évolutions sans être réécrite.</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95" name="TextBox 1"/>
          <p:cNvSpPr/>
          <p:nvPr/>
        </p:nvSpPr>
        <p:spPr>
          <a:xfrm>
            <a:off x="731520" y="640080"/>
            <a:ext cx="6746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BILAN</a:t>
            </a:r>
            <a:endParaRPr lang="en-US" sz="1300" b="0" u="none" strike="noStrike">
              <a:solidFill>
                <a:srgbClr val="000000"/>
              </a:solidFill>
              <a:effectLst/>
              <a:uFillTx/>
              <a:latin typeface="Arial"/>
            </a:endParaRPr>
          </a:p>
        </p:txBody>
      </p:sp>
      <p:sp>
        <p:nvSpPr>
          <p:cNvPr id="296" name="TextBox 2"/>
          <p:cNvSpPr/>
          <p:nvPr/>
        </p:nvSpPr>
        <p:spPr>
          <a:xfrm>
            <a:off x="731520" y="960120"/>
            <a:ext cx="3472560" cy="3646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1" u="none" strike="noStrike">
                <a:solidFill>
                  <a:srgbClr val="271811"/>
                </a:solidFill>
                <a:effectLst/>
                <a:uFillTx/>
                <a:latin typeface="JetBrains Mono"/>
              </a:rPr>
              <a:t>Difficultés rencontrées </a:t>
            </a:r>
            <a:endParaRPr lang="en-US" sz="1800" b="0" u="none" strike="noStrike">
              <a:solidFill>
                <a:srgbClr val="000000"/>
              </a:solidFill>
              <a:effectLst/>
              <a:uFillTx/>
              <a:latin typeface="Arial"/>
            </a:endParaRPr>
          </a:p>
        </p:txBody>
      </p:sp>
      <p:sp>
        <p:nvSpPr>
          <p:cNvPr id="297" name="TextBox 3"/>
          <p:cNvSpPr/>
          <p:nvPr/>
        </p:nvSpPr>
        <p:spPr>
          <a:xfrm>
            <a:off x="731520" y="2845800"/>
            <a:ext cx="5178240" cy="14983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500" b="0" u="none" strike="noStrike">
                <a:solidFill>
                  <a:srgbClr val="EB0025"/>
                </a:solidFill>
                <a:effectLst/>
                <a:uFillTx/>
                <a:latin typeface="JetBrains Mono"/>
              </a:rPr>
              <a:t>Difficulté 1</a:t>
            </a:r>
            <a:endParaRPr lang="en-US" sz="1500" b="0" u="none" strike="noStrike">
              <a:solidFill>
                <a:srgbClr val="000000"/>
              </a:solidFill>
              <a:effectLst/>
              <a:uFillTx/>
              <a:latin typeface="Arial"/>
            </a:endParaRPr>
          </a:p>
          <a:p>
            <a:pPr defTabSz="457200">
              <a:lnSpc>
                <a:spcPct val="100000"/>
              </a:lnSpc>
              <a:spcAft>
                <a:spcPts val="799"/>
              </a:spcAft>
            </a:pPr>
            <a:r>
              <a:rPr lang="en-US" sz="2200" b="1" u="none" strike="noStrike">
                <a:solidFill>
                  <a:srgbClr val="271811"/>
                </a:solidFill>
                <a:effectLst/>
                <a:uFillTx/>
                <a:latin typeface="JetBrains Mono"/>
              </a:rPr>
              <a:t>Apprendre le stack</a:t>
            </a:r>
            <a:endParaRPr lang="en-US" sz="2200" b="0" u="none" strike="noStrike">
              <a:solidFill>
                <a:srgbClr val="000000"/>
              </a:solidFill>
              <a:effectLst/>
              <a:uFillTx/>
              <a:latin typeface="Arial"/>
            </a:endParaRPr>
          </a:p>
          <a:p>
            <a:pPr defTabSz="457200">
              <a:lnSpc>
                <a:spcPct val="100000"/>
              </a:lnSpc>
            </a:pPr>
            <a:r>
              <a:rPr lang="en-US" sz="1600" b="0" u="none" strike="noStrike">
                <a:solidFill>
                  <a:srgbClr val="64748B"/>
                </a:solidFill>
                <a:effectLst/>
                <a:uFillTx/>
                <a:latin typeface="JetBrains Mono"/>
              </a:rPr>
              <a:t>ITcomp a utilisé ABP et Angular, deux frameworks que j'ai dû apprendre pour réaliser le projet.</a:t>
            </a:r>
            <a:endParaRPr lang="en-US" sz="1600" b="0" u="none" strike="noStrike">
              <a:solidFill>
                <a:srgbClr val="000000"/>
              </a:solidFill>
              <a:effectLst/>
              <a:uFillTx/>
              <a:latin typeface="Arial"/>
            </a:endParaRPr>
          </a:p>
        </p:txBody>
      </p:sp>
      <p:sp>
        <p:nvSpPr>
          <p:cNvPr id="298" name="TextBox 4"/>
          <p:cNvSpPr/>
          <p:nvPr/>
        </p:nvSpPr>
        <p:spPr>
          <a:xfrm>
            <a:off x="6480000" y="2845800"/>
            <a:ext cx="5178240" cy="1832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500" b="0" u="none" strike="noStrike">
                <a:solidFill>
                  <a:srgbClr val="EB0025"/>
                </a:solidFill>
                <a:effectLst/>
                <a:uFillTx/>
                <a:latin typeface="JetBrains Mono"/>
              </a:rPr>
              <a:t>Difficulté 2</a:t>
            </a:r>
            <a:endParaRPr lang="en-US" sz="1500" b="0" u="none" strike="noStrike">
              <a:solidFill>
                <a:srgbClr val="000000"/>
              </a:solidFill>
              <a:effectLst/>
              <a:uFillTx/>
              <a:latin typeface="Arial"/>
            </a:endParaRPr>
          </a:p>
          <a:p>
            <a:pPr defTabSz="457200">
              <a:lnSpc>
                <a:spcPct val="100000"/>
              </a:lnSpc>
              <a:spcAft>
                <a:spcPts val="799"/>
              </a:spcAft>
            </a:pPr>
            <a:r>
              <a:rPr lang="en-US" sz="2200" b="1" u="none" strike="noStrike">
                <a:solidFill>
                  <a:srgbClr val="271811"/>
                </a:solidFill>
                <a:effectLst/>
                <a:uFillTx/>
                <a:latin typeface="JetBrains Mono"/>
              </a:rPr>
              <a:t>Le respect de les bonnes pratiques</a:t>
            </a:r>
            <a:endParaRPr lang="en-US" sz="2200" b="0" u="none" strike="noStrike">
              <a:solidFill>
                <a:srgbClr val="000000"/>
              </a:solidFill>
              <a:effectLst/>
              <a:uFillTx/>
              <a:latin typeface="Arial"/>
            </a:endParaRPr>
          </a:p>
          <a:p>
            <a:pPr defTabSz="457200">
              <a:lnSpc>
                <a:spcPct val="100000"/>
              </a:lnSpc>
            </a:pPr>
            <a:r>
              <a:rPr lang="en-US" sz="1600" b="0" u="none" strike="noStrike">
                <a:solidFill>
                  <a:srgbClr val="64748B"/>
                </a:solidFill>
                <a:effectLst/>
                <a:uFillTx/>
                <a:latin typeface="JetBrains Mono"/>
              </a:rPr>
              <a:t>ULa production d’un code propreutorité reconnue n'a pas pu être acquis dans le cadre du projet.</a:t>
            </a:r>
            <a:endParaRPr lang="en-US" sz="16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99" name="TextBox 1"/>
          <p:cNvSpPr/>
          <p:nvPr/>
        </p:nvSpPr>
        <p:spPr>
          <a:xfrm>
            <a:off x="731520" y="640080"/>
            <a:ext cx="674640" cy="2887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BILAN</a:t>
            </a:r>
            <a:endParaRPr lang="en-US" sz="1300" b="0" u="none" strike="noStrike">
              <a:solidFill>
                <a:srgbClr val="000000"/>
              </a:solidFill>
              <a:effectLst/>
              <a:uFillTx/>
              <a:latin typeface="Arial"/>
            </a:endParaRPr>
          </a:p>
        </p:txBody>
      </p:sp>
      <p:sp>
        <p:nvSpPr>
          <p:cNvPr id="300" name="TextBox 2"/>
          <p:cNvSpPr/>
          <p:nvPr/>
        </p:nvSpPr>
        <p:spPr>
          <a:xfrm>
            <a:off x="731520" y="960120"/>
            <a:ext cx="347256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Perspectives</a:t>
            </a:r>
            <a:endParaRPr lang="en-US" sz="3600" b="0" u="none" strike="noStrike">
              <a:solidFill>
                <a:srgbClr val="000000"/>
              </a:solidFill>
              <a:effectLst/>
              <a:uFillTx/>
              <a:latin typeface="Arial"/>
            </a:endParaRPr>
          </a:p>
        </p:txBody>
      </p:sp>
      <p:sp>
        <p:nvSpPr>
          <p:cNvPr id="301" name="Rectangle 3"/>
          <p:cNvSpPr/>
          <p:nvPr/>
        </p:nvSpPr>
        <p:spPr>
          <a:xfrm>
            <a:off x="731520" y="2514600"/>
            <a:ext cx="5241600" cy="3108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spcAft>
                <a:spcPts val="400"/>
              </a:spcAft>
            </a:pPr>
            <a:r>
              <a:rPr lang="en-US" sz="1200" b="0" u="none" strike="noStrike">
                <a:solidFill>
                  <a:srgbClr val="EB0025"/>
                </a:solidFill>
                <a:effectLst/>
                <a:uFillTx/>
                <a:latin typeface="JetBrains Mono"/>
              </a:rPr>
              <a:t>01</a:t>
            </a:r>
            <a:endParaRPr lang="en-US" sz="12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L'integration avec les réseaux sociaux</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Envoi en masse de messages personnalisés, offres ciblées, reconquête des clients inactifs</a:t>
            </a:r>
            <a:endParaRPr lang="en-US" sz="1250" b="0" u="none" strike="noStrike">
              <a:solidFill>
                <a:srgbClr val="000000"/>
              </a:solidFill>
              <a:effectLst/>
              <a:uFillTx/>
              <a:latin typeface="Arial"/>
            </a:endParaRPr>
          </a:p>
        </p:txBody>
      </p:sp>
      <p:sp>
        <p:nvSpPr>
          <p:cNvPr id="302" name="Rectangle 4"/>
          <p:cNvSpPr/>
          <p:nvPr/>
        </p:nvSpPr>
        <p:spPr>
          <a:xfrm>
            <a:off x="731520" y="2514600"/>
            <a:ext cx="5241600" cy="684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24120" rIns="90000" bIns="24120" anchor="ctr">
            <a:noAutofit/>
          </a:bodyPr>
          <a:p>
            <a:pPr/>
            <a:endParaRPr lang="en-US" sz="1800" b="0" u="none" strike="noStrike">
              <a:solidFill>
                <a:schemeClr val="lt1"/>
              </a:solidFill>
              <a:effectLst/>
              <a:uFillTx/>
              <a:latin typeface="Calibri"/>
            </a:endParaRPr>
          </a:p>
        </p:txBody>
      </p:sp>
      <p:sp>
        <p:nvSpPr>
          <p:cNvPr id="303" name="Rectangle 5"/>
          <p:cNvSpPr/>
          <p:nvPr/>
        </p:nvSpPr>
        <p:spPr>
          <a:xfrm>
            <a:off x="6217920" y="2514600"/>
            <a:ext cx="5241600" cy="31086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274320" tIns="182880" rIns="274320" bIns="182880" anchor="ctr">
            <a:noAutofit/>
          </a:bodyPr>
          <a:p>
            <a:pPr algn="ctr" defTabSz="457200">
              <a:lnSpc>
                <a:spcPct val="100000"/>
              </a:lnSpc>
              <a:spcAft>
                <a:spcPts val="400"/>
              </a:spcAft>
            </a:pPr>
            <a:r>
              <a:rPr lang="en-US" sz="1200" b="0" u="none" strike="noStrike">
                <a:solidFill>
                  <a:srgbClr val="EB0025"/>
                </a:solidFill>
                <a:effectLst/>
                <a:uFillTx/>
                <a:latin typeface="JetBrains Mono"/>
              </a:rPr>
              <a:t>02</a:t>
            </a:r>
            <a:endParaRPr lang="en-US" sz="12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Intelligence artificielle</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Identification des clients à traiter en priorité pour mieux répartir l'effort commercial</a:t>
            </a:r>
            <a:endParaRPr lang="en-US" sz="1250" b="0" u="none" strike="noStrike">
              <a:solidFill>
                <a:srgbClr val="000000"/>
              </a:solidFill>
              <a:effectLst/>
              <a:uFillTx/>
              <a:latin typeface="Arial"/>
            </a:endParaRPr>
          </a:p>
        </p:txBody>
      </p:sp>
      <p:sp>
        <p:nvSpPr>
          <p:cNvPr id="304" name="Rectangle 6"/>
          <p:cNvSpPr/>
          <p:nvPr/>
        </p:nvSpPr>
        <p:spPr>
          <a:xfrm>
            <a:off x="6217920" y="2514600"/>
            <a:ext cx="5241600" cy="68400"/>
          </a:xfrm>
          <a:prstGeom prst="rect">
            <a:avLst/>
          </a:prstGeom>
          <a:solidFill>
            <a:schemeClr val="accent1"/>
          </a:solidFill>
          <a:ln w="9360">
            <a:noFill/>
          </a:ln>
          <a:effectLst>
            <a:outerShdw dist="23040" dir="5400000" blurRad="39960" rotWithShape="0">
              <a:srgbClr val="000000">
                <a:alpha val="35000"/>
              </a:srgbClr>
            </a:outerShdw>
          </a:effectLst>
        </p:spPr>
        <p:style>
          <a:lnRef idx="0"/>
          <a:fillRef idx="0"/>
          <a:effectRef idx="0"/>
          <a:fontRef idx="minor"/>
        </p:style>
        <p:txBody>
          <a:bodyPr lIns="90000" tIns="24120" rIns="90000" bIns="2412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167</TotalTime>
  <Application>LibreOffice/26.8.0.3$Linux_X86_64 LibreOffice_project/680$Build-3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2026-10-07T06:44:32Z</dcterms:modified>
  <cp:revision>10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