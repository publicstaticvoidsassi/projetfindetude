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JetBrains Mono"/>
              </a:defRPr>
            </a:pPr>
            <a:r>
              <a:t>PROJET DE FIN D'ÉTUDES — SOUTENANCE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97280" cy="45720"/>
          </a:xfrm>
          <a:prstGeom prst="rect">
            <a:avLst/>
          </a:prstGeom>
          <a:solidFill>
            <a:srgbClr val="EB0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JetBrains Mono"/>
              </a:defRPr>
            </a:pPr>
            <a:r>
              <a:t>Conception et réalisation d'un module CRM pour la plateforme UniFlow-Suite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4A3B8"/>
                </a:solidFill>
                <a:latin typeface="JetBrains Mono"/>
              </a:defRPr>
            </a:pPr>
            <a:r>
              <a:t>Une solution SaaS de gestion de la relation client, hébergée en Algérie et intégrée à l'écosystème logiciel d'ITComp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JetBrains Mono"/>
              </a:defRPr>
            </a:pPr>
            <a:r>
              <a:t>Présenté par:</a:t>
            </a:r>
          </a:p>
          <a:p>
            <a:pPr>
              <a:defRPr sz="1200">
                <a:solidFill>
                  <a:srgbClr val="FFFFFF"/>
                </a:solidFill>
                <a:latin typeface="JetBrains Mono"/>
              </a:defRPr>
            </a:pPr>
            <a:r>
              <a:t>Aimen Sassi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51206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JetBrains Mono"/>
              </a:defRPr>
            </a:pPr>
            <a:r>
              <a:t>Encadreur:</a:t>
            </a:r>
          </a:p>
          <a:p>
            <a:pPr>
              <a:defRPr sz="1200">
                <a:solidFill>
                  <a:srgbClr val="FFFFFF"/>
                </a:solidFill>
                <a:latin typeface="JetBrains Mono"/>
              </a:defRPr>
            </a:pPr>
            <a:r>
              <a:t>Mr Farouk Belhoucine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51206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JetBrains Mono"/>
              </a:defRPr>
            </a:pPr>
            <a:r>
              <a:t>Promotrice:</a:t>
            </a:r>
          </a:p>
          <a:p>
            <a:pPr>
              <a:defRPr sz="1200">
                <a:solidFill>
                  <a:srgbClr val="FFFFFF"/>
                </a:solidFill>
                <a:latin typeface="JetBrains Mono"/>
              </a:defRPr>
            </a:pPr>
            <a:r>
              <a:t>Mme Faiza Allaoua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51206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JetBrains Mono"/>
              </a:defRPr>
            </a:pPr>
            <a:r>
              <a:t>Organisme d'accueil:</a:t>
            </a:r>
          </a:p>
          <a:p>
            <a:pPr>
              <a:defRPr sz="1200">
                <a:solidFill>
                  <a:srgbClr val="FFFFFF"/>
                </a:solidFill>
                <a:latin typeface="JetBrains Mono"/>
              </a:defRPr>
            </a:pPr>
            <a:r>
              <a:t>ITComp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51206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JetBrains Mono"/>
              </a:defRPr>
            </a:pPr>
            <a:r>
              <a:t>Année:</a:t>
            </a:r>
          </a:p>
          <a:p>
            <a:pPr>
              <a:defRPr sz="1200">
                <a:solidFill>
                  <a:srgbClr val="FFFFFF"/>
                </a:solidFill>
                <a:latin typeface="JetBrains Mono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SOMMAIRE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Plan de la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5120640" cy="1097280"/>
          </a:xfrm>
          <a:prstGeom prst="rect">
            <a:avLst/>
          </a:prstGeom>
          <a:noFill/>
        </p:spPr>
        <p:txBody>
          <a:bodyPr wrap="square" lIns="0" rIns="0" tIns="4572000" bIns="4572000">
            <a:spAutoFit/>
          </a:bodyPr>
          <a:lstStyle/>
          <a:p>
            <a:pPr>
              <a:spcAft>
                <a:spcPts val="400"/>
              </a:spcAft>
            </a:pPr>
            <a:r>
              <a:rPr b="1" sz="2000">
                <a:solidFill>
                  <a:srgbClr val="EB0025"/>
                </a:solidFill>
                <a:latin typeface="JetBrains Mono"/>
              </a:rPr>
              <a:t>01  </a:t>
            </a:r>
            <a:r>
              <a:rPr b="1" sz="2200">
                <a:solidFill>
                  <a:srgbClr val="271811"/>
                </a:solidFill>
                <a:latin typeface="JetBrains Mono"/>
              </a:rPr>
              <a:t>Étude préalable</a:t>
            </a:r>
          </a:p>
          <a:p>
            <a:pPr>
              <a:defRPr sz="1300">
                <a:solidFill>
                  <a:srgbClr val="64748B"/>
                </a:solidFill>
                <a:latin typeface="JetBrains Mono"/>
              </a:defRPr>
            </a:pPr>
            <a:r>
              <a:t>Contexte, problématique, objectifs, périmètre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2103120"/>
            <a:ext cx="5120640" cy="1097280"/>
          </a:xfrm>
          <a:prstGeom prst="rect">
            <a:avLst/>
          </a:prstGeom>
          <a:noFill/>
        </p:spPr>
        <p:txBody>
          <a:bodyPr wrap="square" lIns="0" rIns="0" tIns="4572000" bIns="4572000">
            <a:spAutoFit/>
          </a:bodyPr>
          <a:lstStyle/>
          <a:p>
            <a:pPr>
              <a:spcAft>
                <a:spcPts val="400"/>
              </a:spcAft>
            </a:pPr>
            <a:r>
              <a:rPr b="1" sz="2000">
                <a:solidFill>
                  <a:srgbClr val="EB0025"/>
                </a:solidFill>
                <a:latin typeface="JetBrains Mono"/>
              </a:rPr>
              <a:t>02  </a:t>
            </a:r>
            <a:r>
              <a:rPr b="1" sz="2200">
                <a:solidFill>
                  <a:srgbClr val="271811"/>
                </a:solidFill>
                <a:latin typeface="JetBrains Mono"/>
              </a:rPr>
              <a:t>Analyse des besoins</a:t>
            </a:r>
          </a:p>
          <a:p>
            <a:pPr>
              <a:defRPr sz="1300">
                <a:solidFill>
                  <a:srgbClr val="64748B"/>
                </a:solidFill>
                <a:latin typeface="JetBrains Mono"/>
              </a:defRPr>
            </a:pPr>
            <a:r>
              <a:t>Méthodologie UP, acteurs, processus métier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5120640" cy="1097280"/>
          </a:xfrm>
          <a:prstGeom prst="rect">
            <a:avLst/>
          </a:prstGeom>
          <a:noFill/>
        </p:spPr>
        <p:txBody>
          <a:bodyPr wrap="square" lIns="0" rIns="0" tIns="4572000" bIns="4572000">
            <a:spAutoFit/>
          </a:bodyPr>
          <a:lstStyle/>
          <a:p>
            <a:pPr>
              <a:spcAft>
                <a:spcPts val="400"/>
              </a:spcAft>
            </a:pPr>
            <a:r>
              <a:rPr b="1" sz="2000">
                <a:solidFill>
                  <a:srgbClr val="EB0025"/>
                </a:solidFill>
                <a:latin typeface="JetBrains Mono"/>
              </a:rPr>
              <a:t>03  </a:t>
            </a:r>
            <a:r>
              <a:rPr b="1" sz="2200">
                <a:solidFill>
                  <a:srgbClr val="271811"/>
                </a:solidFill>
                <a:latin typeface="JetBrains Mono"/>
              </a:rPr>
              <a:t>Conception</a:t>
            </a:r>
          </a:p>
          <a:p>
            <a:pPr>
              <a:defRPr sz="1300">
                <a:solidFill>
                  <a:srgbClr val="64748B"/>
                </a:solidFill>
                <a:latin typeface="JetBrains Mono"/>
              </a:defRPr>
            </a:pPr>
            <a:r>
              <a:t>Dictionnaire de données, modèle du domaine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474720"/>
            <a:ext cx="5120640" cy="1097280"/>
          </a:xfrm>
          <a:prstGeom prst="rect">
            <a:avLst/>
          </a:prstGeom>
          <a:noFill/>
        </p:spPr>
        <p:txBody>
          <a:bodyPr wrap="square" lIns="0" rIns="0" tIns="4572000" bIns="4572000">
            <a:spAutoFit/>
          </a:bodyPr>
          <a:lstStyle/>
          <a:p>
            <a:pPr>
              <a:spcAft>
                <a:spcPts val="400"/>
              </a:spcAft>
            </a:pPr>
            <a:r>
              <a:rPr b="1" sz="2000">
                <a:solidFill>
                  <a:srgbClr val="EB0025"/>
                </a:solidFill>
                <a:latin typeface="JetBrains Mono"/>
              </a:rPr>
              <a:t>04  </a:t>
            </a:r>
            <a:r>
              <a:rPr b="1" sz="2200">
                <a:solidFill>
                  <a:srgbClr val="271811"/>
                </a:solidFill>
                <a:latin typeface="JetBrains Mono"/>
              </a:rPr>
              <a:t>Réalisation</a:t>
            </a:r>
          </a:p>
          <a:p>
            <a:pPr>
              <a:defRPr sz="1300">
                <a:solidFill>
                  <a:srgbClr val="64748B"/>
                </a:solidFill>
                <a:latin typeface="JetBrains Mono"/>
              </a:defRPr>
            </a:pPr>
            <a:r>
              <a:t>Architecture, implémentation, application livrée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54680"/>
            <a:ext cx="5120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3154680"/>
            <a:ext cx="5120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188720"/>
            <a:ext cx="1097280" cy="45720"/>
          </a:xfrm>
          <a:prstGeom prst="rect">
            <a:avLst/>
          </a:prstGeom>
          <a:solidFill>
            <a:srgbClr val="EB0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800"/>
              </a:spcAft>
              <a:defRPr b="1" sz="4400">
                <a:solidFill>
                  <a:srgbClr val="FFFFFF"/>
                </a:solidFill>
                <a:latin typeface="JetBrains Mono"/>
              </a:defRPr>
            </a:pPr>
            <a:r>
              <a:t>Étude préalable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EB0025"/>
                </a:solidFill>
                <a:latin typeface="JetBrains Mono"/>
              </a:rPr>
              <a:t>•  </a:t>
            </a:r>
            <a:r>
              <a:rPr b="1" sz="1700">
                <a:solidFill>
                  <a:srgbClr val="FFFFFF"/>
                </a:solidFill>
                <a:latin typeface="JetBrains Mono"/>
              </a:rPr>
              <a:t>1: </a:t>
            </a:r>
            <a:r>
              <a:rPr sz="1600">
                <a:solidFill>
                  <a:srgbClr val="94A3B8"/>
                </a:solidFill>
                <a:latin typeface="JetBrains Mono"/>
              </a:rPr>
              <a:t>Presentation De L'Organisme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EB0025"/>
                </a:solidFill>
                <a:latin typeface="JetBrains Mono"/>
              </a:rPr>
              <a:t>•  </a:t>
            </a:r>
            <a:r>
              <a:rPr b="1" sz="1700">
                <a:solidFill>
                  <a:srgbClr val="FFFFFF"/>
                </a:solidFill>
                <a:latin typeface="JetBrains Mono"/>
              </a:rPr>
              <a:t>2: </a:t>
            </a:r>
            <a:r>
              <a:rPr sz="1600">
                <a:solidFill>
                  <a:srgbClr val="94A3B8"/>
                </a:solidFill>
                <a:latin typeface="JetBrains Mono"/>
              </a:rPr>
              <a:t>Le Problematique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EB0025"/>
                </a:solidFill>
                <a:latin typeface="JetBrains Mono"/>
              </a:rPr>
              <a:t>•  </a:t>
            </a:r>
            <a:r>
              <a:rPr b="1" sz="1700">
                <a:solidFill>
                  <a:srgbClr val="FFFFFF"/>
                </a:solidFill>
                <a:latin typeface="JetBrains Mono"/>
              </a:rPr>
              <a:t>3: </a:t>
            </a:r>
            <a:r>
              <a:rPr sz="1600">
                <a:solidFill>
                  <a:srgbClr val="94A3B8"/>
                </a:solidFill>
                <a:latin typeface="JetBrains Mono"/>
              </a:rPr>
              <a:t>Les Objectifs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EB0025"/>
                </a:solidFill>
                <a:latin typeface="JetBrains Mono"/>
              </a:rPr>
              <a:t>•  </a:t>
            </a:r>
            <a:r>
              <a:rPr b="1" sz="1700">
                <a:solidFill>
                  <a:srgbClr val="FFFFFF"/>
                </a:solidFill>
                <a:latin typeface="JetBrains Mono"/>
              </a:rPr>
              <a:t>4: </a:t>
            </a:r>
            <a:r>
              <a:rPr sz="1600">
                <a:solidFill>
                  <a:srgbClr val="94A3B8"/>
                </a:solidFill>
                <a:latin typeface="JetBrains Mono"/>
              </a:rPr>
              <a:t>Presentation De L'Organisme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ÉTUDE PRÉALABLE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L'organisme d'accueil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71811"/>
                </a:solidFill>
                <a:latin typeface="JetBrains Mono"/>
              </a:defRPr>
            </a:pPr>
            <a:r>
              <a:t>ITComp est une société de services informatiques algérienne. Son offre s'articule autour de quatre métiers.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600">
                <a:solidFill>
                  <a:srgbClr val="EB0025"/>
                </a:solidFill>
                <a:latin typeface="JetBrains Mono"/>
              </a:rPr>
              <a:t>01  </a:t>
            </a:r>
            <a:r>
              <a:rPr sz="1700">
                <a:solidFill>
                  <a:srgbClr val="271811"/>
                </a:solidFill>
                <a:latin typeface="JetBrains Mono"/>
              </a:rPr>
              <a:t>Conseil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EB0025"/>
                </a:solidFill>
                <a:latin typeface="JetBrains Mono"/>
              </a:rPr>
              <a:t>02  </a:t>
            </a:r>
            <a:r>
              <a:rPr sz="1700">
                <a:solidFill>
                  <a:srgbClr val="271811"/>
                </a:solidFill>
                <a:latin typeface="JetBrains Mono"/>
              </a:rPr>
              <a:t>Formation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EB0025"/>
                </a:solidFill>
                <a:latin typeface="JetBrains Mono"/>
              </a:rPr>
              <a:t>03  </a:t>
            </a:r>
            <a:r>
              <a:rPr sz="1700">
                <a:solidFill>
                  <a:srgbClr val="271811"/>
                </a:solidFill>
                <a:latin typeface="JetBrains Mono"/>
              </a:rPr>
              <a:t>Développement et intégration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EB0025"/>
                </a:solidFill>
                <a:latin typeface="JetBrains Mono"/>
              </a:rPr>
              <a:t>04  </a:t>
            </a:r>
            <a:r>
              <a:rPr sz="1700">
                <a:solidFill>
                  <a:srgbClr val="271811"/>
                </a:solidFill>
                <a:latin typeface="JetBrains Mono"/>
              </a:rPr>
              <a:t>Assistance technique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920240"/>
            <a:ext cx="521208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200">
                <a:solidFill>
                  <a:srgbClr val="64748B"/>
                </a:solidFill>
                <a:latin typeface="JetBrains Mono"/>
              </a:defRPr>
            </a:pPr>
            <a:r>
              <a:t>RESPONSABLES HIÉRARCHIQUES</a:t>
            </a:r>
          </a:p>
          <a:p>
            <a:pPr>
              <a:defRPr b="1" sz="1600">
                <a:solidFill>
                  <a:srgbClr val="271811"/>
                </a:solidFill>
                <a:latin typeface="JetBrains Mono"/>
              </a:defRPr>
            </a:pPr>
            <a:r>
              <a:t>Bachir Mihoubi</a:t>
            </a:r>
          </a:p>
          <a:p>
            <a:pPr>
              <a:spcAft>
                <a:spcPts val="1200"/>
              </a:spcAft>
              <a:defRPr sz="1200">
                <a:solidFill>
                  <a:srgbClr val="64748B"/>
                </a:solidFill>
                <a:latin typeface="JetBrains Mono"/>
              </a:defRPr>
            </a:pPr>
            <a:r>
              <a:t>Directeur Général</a:t>
            </a:r>
          </a:p>
          <a:p>
            <a:pPr>
              <a:defRPr b="1" sz="1600">
                <a:solidFill>
                  <a:srgbClr val="271811"/>
                </a:solidFill>
                <a:latin typeface="JetBrains Mono"/>
              </a:defRPr>
            </a:pPr>
            <a:r>
              <a:t>Lazhar Guendouz</a:t>
            </a:r>
          </a:p>
          <a:p>
            <a:pPr>
              <a:spcAft>
                <a:spcPts val="1200"/>
              </a:spcAft>
              <a:defRPr sz="1200">
                <a:solidFill>
                  <a:srgbClr val="64748B"/>
                </a:solidFill>
                <a:latin typeface="JetBrains Mono"/>
              </a:defRPr>
            </a:pPr>
            <a:r>
              <a:t>Directeur Commercial</a:t>
            </a:r>
          </a:p>
          <a:p>
            <a:pPr>
              <a:defRPr b="1" sz="1600">
                <a:solidFill>
                  <a:srgbClr val="271811"/>
                </a:solidFill>
                <a:latin typeface="JetBrains Mono"/>
              </a:defRPr>
            </a:pPr>
            <a:r>
              <a:t>Rachid Kaci</a:t>
            </a:r>
          </a:p>
          <a:p>
            <a:pPr>
              <a:spcAft>
                <a:spcPts val="1200"/>
              </a:spcAft>
              <a:defRPr sz="1200">
                <a:solidFill>
                  <a:srgbClr val="64748B"/>
                </a:solidFill>
                <a:latin typeface="JetBrains Mono"/>
              </a:defRPr>
            </a:pPr>
            <a:r>
              <a:t>Directeur Technique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ÉTUDE PRÉALABLE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71811"/>
                </a:solidFill>
                <a:latin typeface="JetBrains Mono"/>
              </a:defRPr>
            </a:pPr>
            <a:r>
              <a:t>L'information client est dispersée entre papier, fichiers Excel et échanges informels. Aucun outil transverse ne pilote la relation commerciale.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834640"/>
            <a:ext cx="1965960" cy="18288"/>
          </a:xfrm>
          <a:prstGeom prst="rect">
            <a:avLst/>
          </a:prstGeom>
          <a:solidFill>
            <a:srgbClr val="EB0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9659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JetBrains Mono"/>
              </a:defRPr>
            </a:pPr>
            <a:r>
              <a:t>01</a:t>
            </a:r>
          </a:p>
          <a:p>
            <a:pPr>
              <a:defRPr sz="1250">
                <a:solidFill>
                  <a:srgbClr val="271811"/>
                </a:solidFill>
                <a:latin typeface="JetBrains Mono"/>
              </a:defRPr>
            </a:pPr>
            <a:r>
              <a:t>Dispersion des informations sur des supports hétérogènes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916936" y="2834640"/>
            <a:ext cx="1965960" cy="18288"/>
          </a:xfrm>
          <a:prstGeom prst="rect">
            <a:avLst/>
          </a:prstGeom>
          <a:solidFill>
            <a:srgbClr val="EB0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16936" y="2971800"/>
            <a:ext cx="19659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JetBrains Mono"/>
              </a:defRPr>
            </a:pPr>
            <a:r>
              <a:t>02</a:t>
            </a:r>
          </a:p>
          <a:p>
            <a:pPr>
              <a:defRPr sz="1250">
                <a:solidFill>
                  <a:srgbClr val="271811"/>
                </a:solidFill>
                <a:latin typeface="JetBrains Mono"/>
              </a:defRPr>
            </a:pPr>
            <a:r>
              <a:t>Partage difficile entre commerciaux et intervenants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102352" y="2834640"/>
            <a:ext cx="1965960" cy="18288"/>
          </a:xfrm>
          <a:prstGeom prst="rect">
            <a:avLst/>
          </a:prstGeom>
          <a:solidFill>
            <a:srgbClr val="EB0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02352" y="2971800"/>
            <a:ext cx="19659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JetBrains Mono"/>
              </a:defRPr>
            </a:pPr>
            <a:r>
              <a:t>03</a:t>
            </a:r>
          </a:p>
          <a:p>
            <a:pPr>
              <a:defRPr sz="1250">
                <a:solidFill>
                  <a:srgbClr val="271811"/>
                </a:solidFill>
                <a:latin typeface="JetBrains Mono"/>
              </a:defRPr>
            </a:pPr>
            <a:r>
              <a:t>Historique des interactions client impossible à reconstituer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87768" y="2834640"/>
            <a:ext cx="1965960" cy="18288"/>
          </a:xfrm>
          <a:prstGeom prst="rect">
            <a:avLst/>
          </a:prstGeom>
          <a:solidFill>
            <a:srgbClr val="EB0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87768" y="2971800"/>
            <a:ext cx="19659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JetBrains Mono"/>
              </a:defRPr>
            </a:pPr>
            <a:r>
              <a:t>04</a:t>
            </a:r>
          </a:p>
          <a:p>
            <a:pPr>
              <a:defRPr sz="1250">
                <a:solidFill>
                  <a:srgbClr val="271811"/>
                </a:solidFill>
                <a:latin typeface="JetBrains Mono"/>
              </a:defRPr>
            </a:pPr>
            <a:r>
              <a:t>Oublis de relances, de rendez-vous et de tâches commerciales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73184" y="2834640"/>
            <a:ext cx="1965960" cy="18288"/>
          </a:xfrm>
          <a:prstGeom prst="rect">
            <a:avLst/>
          </a:prstGeom>
          <a:solidFill>
            <a:srgbClr val="EB0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73184" y="2971800"/>
            <a:ext cx="19659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JetBrains Mono"/>
              </a:defRPr>
            </a:pPr>
            <a:r>
              <a:t>05</a:t>
            </a:r>
          </a:p>
          <a:p>
            <a:pPr>
              <a:defRPr sz="1250">
                <a:solidFill>
                  <a:srgbClr val="271811"/>
                </a:solidFill>
                <a:latin typeface="JetBrains Mono"/>
              </a:defRPr>
            </a:pPr>
            <a:r>
              <a:t>Aucune visibilité sur l'avancement des opportunités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800600"/>
            <a:ext cx="10728655" cy="868680"/>
          </a:xfrm>
          <a:prstGeom prst="rect">
            <a:avLst/>
          </a:prstGeom>
          <a:solidFill>
            <a:srgbClr val="2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56032"/>
          <a:lstStyle/>
          <a:p>
            <a:pPr algn="ctr"/>
            <a:r>
              <a:rPr sz="1200">
                <a:solidFill>
                  <a:srgbClr val="94A3B8"/>
                </a:solidFill>
                <a:latin typeface="JetBrains Mono"/>
              </a:rPr>
              <a:t>CONSÉQUENCE   </a:t>
            </a:r>
            <a:r>
              <a:rPr sz="1600" b="1">
                <a:solidFill>
                  <a:srgbClr val="FFFFFF"/>
                </a:solidFill>
                <a:latin typeface="JetBrains Mono"/>
              </a:rPr>
              <a:t>Perte d'opportunités d'affaires par retard, oubli ou suivi insuffisant.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ÉTUDE PRÉALABLE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Objectifs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71811"/>
                </a:solidFill>
                <a:latin typeface="JetBrains Mono"/>
              </a:defRPr>
            </a:pPr>
            <a:r>
              <a:t>Doter UniFlow-Suite d'un module CRM moderne, sécurisé et évolutif, intégré aux autres modules de la plateforme.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515081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JetBrains Mono"/>
              </a:defRPr>
            </a:pPr>
            <a:r>
              <a:t>OBJECTIFS MÉTIER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54680"/>
            <a:ext cx="515081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5150815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EB0025"/>
                </a:solidFill>
                <a:latin typeface="JetBrains Mono"/>
              </a:rPr>
              <a:t>—  </a:t>
            </a:r>
            <a:r>
              <a:rPr sz="1400">
                <a:solidFill>
                  <a:srgbClr val="271811"/>
                </a:solidFill>
                <a:latin typeface="JetBrains Mono"/>
              </a:rPr>
              <a:t>Centraliser prospects, contacts et organisations dans une plateforme unique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EB0025"/>
                </a:solidFill>
                <a:latin typeface="JetBrains Mono"/>
              </a:rPr>
              <a:t>—  </a:t>
            </a:r>
            <a:r>
              <a:rPr sz="1400">
                <a:solidFill>
                  <a:srgbClr val="271811"/>
                </a:solidFill>
                <a:latin typeface="JetBrains Mono"/>
              </a:rPr>
              <a:t>Outiller le cycle commercial, de la qualification du prospect au suivi de l'opportunité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EB0025"/>
                </a:solidFill>
                <a:latin typeface="JetBrains Mono"/>
              </a:rPr>
              <a:t>—  </a:t>
            </a:r>
            <a:r>
              <a:rPr sz="1400">
                <a:solidFill>
                  <a:srgbClr val="271811"/>
                </a:solidFill>
                <a:latin typeface="JetBrains Mono"/>
              </a:rPr>
              <a:t>Tracer toutes les interactions pour une vision à 360° de chaque tiers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EB0025"/>
                </a:solidFill>
                <a:latin typeface="JetBrains Mono"/>
              </a:rPr>
              <a:t>—  </a:t>
            </a:r>
            <a:r>
              <a:rPr sz="1400">
                <a:solidFill>
                  <a:srgbClr val="271811"/>
                </a:solidFill>
                <a:latin typeface="JetBrains Mono"/>
              </a:rPr>
              <a:t>Fournir tableaux de bord et indicateurs d'aide à la décision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834640"/>
            <a:ext cx="515081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JetBrains Mono"/>
              </a:defRPr>
            </a:pPr>
            <a:r>
              <a:t>OBJECTIFS TECHNIQUES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154680"/>
            <a:ext cx="515081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3337560"/>
            <a:ext cx="5150815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EB0025"/>
                </a:solidFill>
                <a:latin typeface="JetBrains Mono"/>
              </a:rPr>
              <a:t>T1  </a:t>
            </a:r>
            <a:r>
              <a:rPr sz="1400">
                <a:solidFill>
                  <a:srgbClr val="271811"/>
                </a:solidFill>
                <a:latin typeface="JetBrains Mono"/>
              </a:rPr>
              <a:t>Sécurité générique par rôles et permissions (RBAC)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EB0025"/>
                </a:solidFill>
                <a:latin typeface="JetBrains Mono"/>
              </a:rPr>
              <a:t>T2  </a:t>
            </a:r>
            <a:r>
              <a:rPr sz="1400">
                <a:solidFill>
                  <a:srgbClr val="271811"/>
                </a:solidFill>
                <a:latin typeface="JetBrains Mono"/>
              </a:rPr>
              <a:t>Audit générique de toutes les créations, modifications et suppressions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EB0025"/>
                </a:solidFill>
                <a:latin typeface="JetBrains Mono"/>
              </a:rPr>
              <a:t>T3  </a:t>
            </a:r>
            <a:r>
              <a:rPr sz="1400">
                <a:solidFill>
                  <a:srgbClr val="271811"/>
                </a:solidFill>
                <a:latin typeface="JetBrains Mono"/>
              </a:rPr>
              <a:t>Architecture extensible à de nouveaux types de clients et d'activités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EB0025"/>
                </a:solidFill>
                <a:latin typeface="JetBrains Mono"/>
              </a:rPr>
              <a:t>T4  </a:t>
            </a:r>
            <a:r>
              <a:rPr sz="1400">
                <a:solidFill>
                  <a:srgbClr val="271811"/>
                </a:solidFill>
                <a:latin typeface="JetBrains Mono"/>
              </a:rPr>
              <a:t>Sécurité, cohérence et intégrité des données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188720"/>
            <a:ext cx="1097280" cy="45720"/>
          </a:xfrm>
          <a:prstGeom prst="rect">
            <a:avLst/>
          </a:prstGeom>
          <a:solidFill>
            <a:srgbClr val="EB0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800"/>
              </a:spcAft>
              <a:defRPr b="1" sz="4400">
                <a:solidFill>
                  <a:srgbClr val="FFFFFF"/>
                </a:solidFill>
                <a:latin typeface="JetBrains Mono"/>
              </a:defRPr>
            </a:pPr>
            <a:r>
              <a:t>Analyse des besoins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EB0025"/>
                </a:solidFill>
                <a:latin typeface="JetBrains Mono"/>
              </a:rPr>
              <a:t>•  </a:t>
            </a:r>
            <a:r>
              <a:rPr b="1" sz="1700">
                <a:solidFill>
                  <a:srgbClr val="FFFFFF"/>
                </a:solidFill>
                <a:latin typeface="JetBrains Mono"/>
              </a:rPr>
              <a:t>1 : </a:t>
            </a:r>
            <a:r>
              <a:rPr sz="1600">
                <a:solidFill>
                  <a:srgbClr val="94A3B8"/>
                </a:solidFill>
                <a:latin typeface="JetBrains Mono"/>
              </a:rPr>
              <a:t>Les Diagrammes De Cas D'Utilisation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EB0025"/>
                </a:solidFill>
                <a:latin typeface="JetBrains Mono"/>
              </a:rPr>
              <a:t>•  </a:t>
            </a:r>
            <a:r>
              <a:rPr b="1" sz="1700">
                <a:solidFill>
                  <a:srgbClr val="FFFFFF"/>
                </a:solidFill>
                <a:latin typeface="JetBrains Mono"/>
              </a:rPr>
              <a:t>2 : </a:t>
            </a:r>
            <a:r>
              <a:rPr sz="1600">
                <a:solidFill>
                  <a:srgbClr val="94A3B8"/>
                </a:solidFill>
                <a:latin typeface="JetBrains Mono"/>
              </a:rPr>
              <a:t>Les Diagrammes D'Activites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188720"/>
            <a:ext cx="1097280" cy="45720"/>
          </a:xfrm>
          <a:prstGeom prst="rect">
            <a:avLst/>
          </a:prstGeom>
          <a:solidFill>
            <a:srgbClr val="EB0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b="1" sz="4400">
                <a:solidFill>
                  <a:srgbClr val="FFFFFF"/>
                </a:solidFill>
                <a:latin typeface="JetBrains Mono"/>
              </a:defRPr>
            </a:pPr>
            <a:r>
              <a:t>Les Diagrammes De Cas D'Utilisation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L'Analyse Des Besoins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Global</a:t>
            </a:r>
          </a:p>
        </p:txBody>
      </p:sp>
      <p:pic>
        <p:nvPicPr>
          <p:cNvPr id="4" name="Picture 3" descr="global!global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L'Analyse Des Besoins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Authentification</a:t>
            </a:r>
          </a:p>
        </p:txBody>
      </p:sp>
      <p:pic>
        <p:nvPicPr>
          <p:cNvPr id="4" name="Picture 3" descr="authentification!authentification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L'Analyse Des Besoins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Clients</a:t>
            </a:r>
          </a:p>
        </p:txBody>
      </p:sp>
      <p:pic>
        <p:nvPicPr>
          <p:cNvPr id="4" name="Picture 3" descr="clients!clients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L'Analyse Des Besoins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Activities</a:t>
            </a:r>
          </a:p>
        </p:txBody>
      </p:sp>
      <p:pic>
        <p:nvPicPr>
          <p:cNvPr id="4" name="Picture 3" descr="activities!activities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L'Analyse Des Besoins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Opportunites</a:t>
            </a:r>
          </a:p>
        </p:txBody>
      </p:sp>
      <p:pic>
        <p:nvPicPr>
          <p:cNvPr id="4" name="Picture 3" descr="opportunites!opportunites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L'Analyse Des Besoins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Campagnes</a:t>
            </a:r>
          </a:p>
        </p:txBody>
      </p:sp>
      <p:pic>
        <p:nvPicPr>
          <p:cNvPr id="4" name="Picture 3" descr="campagne!campagnr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L'Analyse Des Besoins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Analytiques</a:t>
            </a:r>
          </a:p>
        </p:txBody>
      </p:sp>
      <p:pic>
        <p:nvPicPr>
          <p:cNvPr id="4" name="Picture 3" descr="analytics!analytics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L'Analyse Des Besoins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Administration</a:t>
            </a:r>
          </a:p>
        </p:txBody>
      </p:sp>
      <p:pic>
        <p:nvPicPr>
          <p:cNvPr id="4" name="Picture 3" descr="administration!administration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188720"/>
            <a:ext cx="1097280" cy="45720"/>
          </a:xfrm>
          <a:prstGeom prst="rect">
            <a:avLst/>
          </a:prstGeom>
          <a:solidFill>
            <a:srgbClr val="EB0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b="1" sz="4400">
                <a:solidFill>
                  <a:srgbClr val="FFFFFF"/>
                </a:solidFill>
                <a:latin typeface="JetBrains Mono"/>
              </a:defRPr>
            </a:pPr>
            <a:r>
              <a:t>Les Diagrammes D'Activite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L'Analyse Des Besoins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Authentification</a:t>
            </a:r>
          </a:p>
        </p:txBody>
      </p:sp>
      <p:pic>
        <p:nvPicPr>
          <p:cNvPr id="4" name="Picture 3" descr="a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L'Analyse Des Besoins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Modification de Prospect</a:t>
            </a:r>
          </a:p>
        </p:txBody>
      </p:sp>
      <p:pic>
        <p:nvPicPr>
          <p:cNvPr id="4" name="Picture 3" descr="prospect-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L'Analyse Des Besoins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Qualification de Prospect</a:t>
            </a:r>
          </a:p>
        </p:txBody>
      </p:sp>
      <p:pic>
        <p:nvPicPr>
          <p:cNvPr id="4" name="Picture 3" descr="leadq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L'Analyse Des Besoins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Conversion de Prospect</a:t>
            </a:r>
          </a:p>
        </p:txBody>
      </p:sp>
      <p:pic>
        <p:nvPicPr>
          <p:cNvPr id="4" name="Picture 3" descr="leadconv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L'Analyse Des Besoins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Cloture D'Opportunite</a:t>
            </a:r>
          </a:p>
        </p:txBody>
      </p:sp>
      <p:pic>
        <p:nvPicPr>
          <p:cNvPr id="4" name="Picture 3" descr="opportunity-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L'Analyse Des Besoins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Modification de Note</a:t>
            </a:r>
          </a:p>
        </p:txBody>
      </p:sp>
      <p:pic>
        <p:nvPicPr>
          <p:cNvPr id="4" name="Picture 3" descr="notes-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L'Analyse Des Besoins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Modification D'Opportunite</a:t>
            </a:r>
          </a:p>
        </p:txBody>
      </p:sp>
      <p:pic>
        <p:nvPicPr>
          <p:cNvPr id="4" name="Picture 3" descr="opportunity-mod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L'Analyse Des Besoins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Activation De Campagne</a:t>
            </a:r>
          </a:p>
        </p:txBody>
      </p:sp>
      <p:pic>
        <p:nvPicPr>
          <p:cNvPr id="4" name="Picture 3" descr="campagne-activ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L'Analyse Des Besoins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Disactivation De Campagne</a:t>
            </a:r>
          </a:p>
        </p:txBody>
      </p:sp>
      <p:pic>
        <p:nvPicPr>
          <p:cNvPr id="4" name="Picture 3" descr="campagne-dea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L'Analyse Des Besoins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Creation D'une Tache</a:t>
            </a:r>
          </a:p>
        </p:txBody>
      </p:sp>
      <p:pic>
        <p:nvPicPr>
          <p:cNvPr id="4" name="Picture 3" descr="task-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L'Analyse Des Besoins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Envoi de Mail</a:t>
            </a:r>
          </a:p>
        </p:txBody>
      </p:sp>
      <p:pic>
        <p:nvPicPr>
          <p:cNvPr id="4" name="Picture 3" descr="email-s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L'Analyse Des Besoins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Affectation Des Roles</a:t>
            </a:r>
          </a:p>
        </p:txBody>
      </p:sp>
      <p:pic>
        <p:nvPicPr>
          <p:cNvPr id="4" name="Picture 3" descr="role-as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L'Analyse Des Besoins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Affectation Des Permissions</a:t>
            </a:r>
          </a:p>
        </p:txBody>
      </p:sp>
      <p:pic>
        <p:nvPicPr>
          <p:cNvPr id="4" name="Picture 3" descr="perms-as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L'Analyse Des Besoins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Analytiques De Prospect</a:t>
            </a:r>
          </a:p>
        </p:txBody>
      </p:sp>
      <p:pic>
        <p:nvPicPr>
          <p:cNvPr id="4" name="Picture 3" descr="analytics-prosp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L'Analyse Des Besoins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Analytiques De Contacts</a:t>
            </a:r>
          </a:p>
        </p:txBody>
      </p:sp>
      <p:pic>
        <p:nvPicPr>
          <p:cNvPr id="4" name="Picture 3" descr="analytics-cont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L'Analyse Des Besoins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Analytiques De Compte</a:t>
            </a:r>
          </a:p>
        </p:txBody>
      </p:sp>
      <p:pic>
        <p:nvPicPr>
          <p:cNvPr id="4" name="Picture 3" descr="analytics-ac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L'Analyse Des Besoins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analytiques D'Opportunite</a:t>
            </a:r>
          </a:p>
        </p:txBody>
      </p:sp>
      <p:pic>
        <p:nvPicPr>
          <p:cNvPr id="4" name="Picture 3" descr="analytics-o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L'Analyse Des Besoins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Analytiques De Campagne</a:t>
            </a:r>
          </a:p>
        </p:txBody>
      </p:sp>
      <p:pic>
        <p:nvPicPr>
          <p:cNvPr id="4" name="Picture 3" descr="analytics-campag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188720"/>
            <a:ext cx="1097280" cy="45720"/>
          </a:xfrm>
          <a:prstGeom prst="rect">
            <a:avLst/>
          </a:prstGeom>
          <a:solidFill>
            <a:srgbClr val="EB0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800"/>
              </a:spcAft>
              <a:defRPr b="1" sz="4400">
                <a:solidFill>
                  <a:srgbClr val="FFFFFF"/>
                </a:solidFill>
                <a:latin typeface="JetBrains Mono"/>
              </a:defRPr>
            </a:pPr>
            <a:r>
              <a:t>Conception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EB0025"/>
                </a:solidFill>
                <a:latin typeface="JetBrains Mono"/>
              </a:rPr>
              <a:t>•  </a:t>
            </a:r>
            <a:r>
              <a:rPr b="1" sz="1700">
                <a:solidFill>
                  <a:srgbClr val="FFFFFF"/>
                </a:solidFill>
                <a:latin typeface="JetBrains Mono"/>
              </a:rPr>
              <a:t>1 : </a:t>
            </a:r>
            <a:r>
              <a:rPr sz="1600">
                <a:solidFill>
                  <a:srgbClr val="94A3B8"/>
                </a:solidFill>
                <a:latin typeface="JetBrains Mono"/>
              </a:rPr>
              <a:t>Les Diagrammes De Sequence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EB0025"/>
                </a:solidFill>
                <a:latin typeface="JetBrains Mono"/>
              </a:rPr>
              <a:t>•  </a:t>
            </a:r>
            <a:r>
              <a:rPr b="1" sz="1700">
                <a:solidFill>
                  <a:srgbClr val="FFFFFF"/>
                </a:solidFill>
                <a:latin typeface="JetBrains Mono"/>
              </a:rPr>
              <a:t>2 : </a:t>
            </a:r>
            <a:r>
              <a:rPr sz="1600">
                <a:solidFill>
                  <a:srgbClr val="94A3B8"/>
                </a:solidFill>
                <a:latin typeface="JetBrains Mono"/>
              </a:rPr>
              <a:t>Le Diagramme De Classe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EB0025"/>
                </a:solidFill>
                <a:latin typeface="JetBrains Mono"/>
              </a:rPr>
              <a:t>•  </a:t>
            </a:r>
            <a:r>
              <a:rPr b="1" sz="1700">
                <a:solidFill>
                  <a:srgbClr val="FFFFFF"/>
                </a:solidFill>
                <a:latin typeface="JetBrains Mono"/>
              </a:rPr>
              <a:t>3 : </a:t>
            </a:r>
            <a:r>
              <a:rPr sz="1600">
                <a:solidFill>
                  <a:srgbClr val="94A3B8"/>
                </a:solidFill>
                <a:latin typeface="JetBrains Mono"/>
              </a:rPr>
              <a:t>Model Logique Des Donnees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188720"/>
            <a:ext cx="1097280" cy="45720"/>
          </a:xfrm>
          <a:prstGeom prst="rect">
            <a:avLst/>
          </a:prstGeom>
          <a:solidFill>
            <a:srgbClr val="EB0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b="1" sz="4400">
                <a:solidFill>
                  <a:srgbClr val="FFFFFF"/>
                </a:solidFill>
                <a:latin typeface="JetBrains Mono"/>
              </a:defRPr>
            </a:pPr>
            <a:r>
              <a:t>Les Diagrammes De Sequence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L'Inscription</a:t>
            </a:r>
          </a:p>
        </p:txBody>
      </p:sp>
      <p:pic>
        <p:nvPicPr>
          <p:cNvPr id="4" name="Picture 3" descr="sig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Authentification</a:t>
            </a:r>
          </a:p>
        </p:txBody>
      </p:sp>
      <p:pic>
        <p:nvPicPr>
          <p:cNvPr id="4" name="Picture 3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Consultation Du Profile</a:t>
            </a:r>
          </a:p>
        </p:txBody>
      </p:sp>
      <p:pic>
        <p:nvPicPr>
          <p:cNvPr id="4" name="Picture 3" descr="account-s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Modifier Profile</a:t>
            </a:r>
          </a:p>
        </p:txBody>
      </p:sp>
      <p:pic>
        <p:nvPicPr>
          <p:cNvPr id="4" name="Picture 3" descr="account-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Comptes</a:t>
            </a:r>
          </a:p>
        </p:txBody>
      </p:sp>
      <p:pic>
        <p:nvPicPr>
          <p:cNvPr id="4" name="Picture 3" descr="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Prospects</a:t>
            </a:r>
          </a:p>
        </p:txBody>
      </p:sp>
      <p:pic>
        <p:nvPicPr>
          <p:cNvPr id="4" name="Picture 3" descr="l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Qualification Des Prospects</a:t>
            </a:r>
          </a:p>
        </p:txBody>
      </p:sp>
      <p:pic>
        <p:nvPicPr>
          <p:cNvPr id="4" name="Picture 3" descr="lead-qual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Conversion Des Prospects</a:t>
            </a:r>
          </a:p>
        </p:txBody>
      </p:sp>
      <p:pic>
        <p:nvPicPr>
          <p:cNvPr id="4" name="Picture 3" descr="lead-conv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Contacts</a:t>
            </a:r>
          </a:p>
        </p:txBody>
      </p:sp>
      <p:pic>
        <p:nvPicPr>
          <p:cNvPr id="4" name="Picture 3" descr="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Opportunites</a:t>
            </a:r>
          </a:p>
        </p:txBody>
      </p:sp>
      <p:pic>
        <p:nvPicPr>
          <p:cNvPr id="4" name="Picture 3" descr="o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Cloture Des Opportunites</a:t>
            </a:r>
          </a:p>
        </p:txBody>
      </p:sp>
      <p:pic>
        <p:nvPicPr>
          <p:cNvPr id="4" name="Picture 3" descr="opp-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Campagne</a:t>
            </a:r>
          </a:p>
        </p:txBody>
      </p:sp>
      <p:pic>
        <p:nvPicPr>
          <p:cNvPr id="4" name="Picture 3" descr="campag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Activation Des Campagnes</a:t>
            </a:r>
          </a:p>
        </p:txBody>
      </p:sp>
      <p:pic>
        <p:nvPicPr>
          <p:cNvPr id="4" name="Picture 3" descr="campagne-ac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Taches</a:t>
            </a:r>
          </a:p>
        </p:txBody>
      </p:sp>
      <p:pic>
        <p:nvPicPr>
          <p:cNvPr id="4" name="Picture 3" descr="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Appels</a:t>
            </a:r>
          </a:p>
        </p:txBody>
      </p:sp>
      <p:pic>
        <p:nvPicPr>
          <p:cNvPr id="4" name="Picture 3" descr="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Reunions</a:t>
            </a:r>
          </a:p>
        </p:txBody>
      </p:sp>
      <p:pic>
        <p:nvPicPr>
          <p:cNvPr id="4" name="Picture 3" descr="me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Notes</a:t>
            </a:r>
          </a:p>
        </p:txBody>
      </p:sp>
      <p:pic>
        <p:nvPicPr>
          <p:cNvPr id="4" name="Picture 3" descr="no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Emails</a:t>
            </a:r>
          </a:p>
        </p:txBody>
      </p:sp>
      <p:pic>
        <p:nvPicPr>
          <p:cNvPr id="4" name="Picture 3" descr="em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Envoi De Mails</a:t>
            </a:r>
          </a:p>
        </p:txBody>
      </p:sp>
      <p:pic>
        <p:nvPicPr>
          <p:cNvPr id="4" name="Picture 3" descr="email-s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Utilisateurs</a:t>
            </a:r>
          </a:p>
        </p:txBody>
      </p:sp>
      <p:pic>
        <p:nvPicPr>
          <p:cNvPr id="4" name="Picture 3" descr="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Roles</a:t>
            </a:r>
          </a:p>
        </p:txBody>
      </p:sp>
      <p:pic>
        <p:nvPicPr>
          <p:cNvPr id="4" name="Picture 3" descr="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Affectation Des Permissions</a:t>
            </a:r>
          </a:p>
        </p:txBody>
      </p:sp>
      <p:pic>
        <p:nvPicPr>
          <p:cNvPr id="4" name="Picture 3" descr="permission-as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Le Diagramme De Classe</a:t>
            </a:r>
          </a:p>
        </p:txBody>
      </p:sp>
      <p:pic>
        <p:nvPicPr>
          <p:cNvPr id="4" name="Picture 3" descr="main class 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</a:p>
        </p:txBody>
      </p:sp>
      <p:pic>
        <p:nvPicPr>
          <p:cNvPr id="4" name="Picture 3" descr="main class 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188720"/>
            <a:ext cx="1097280" cy="45720"/>
          </a:xfrm>
          <a:prstGeom prst="rect">
            <a:avLst/>
          </a:prstGeom>
          <a:solidFill>
            <a:srgbClr val="EB0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b="1" sz="4400">
                <a:solidFill>
                  <a:srgbClr val="FFFFFF"/>
                </a:solidFill>
                <a:latin typeface="JetBrains Mono"/>
              </a:defRPr>
            </a:pPr>
            <a:r>
              <a:t>Le Model Logique Des Donnees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Model Logique Des Donnees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>
                <a:solidFill>
                  <a:srgbClr val="271811"/>
                </a:solidFill>
                <a:latin typeface="JetBrains Mono"/>
              </a:defRPr>
            </a:pPr>
            <a:r>
              <a:t>Leads (Id PK, FirstName, LastName, Description, Status, Source, Phone, Email, UserID, AccountID, CampaignID, CreationTime, CreatorId, LastModificationTime, LastModifierId, IsDeleted, DeleterId, DeletionTime );</a:t>
            </a:r>
            <a:br/>
            <a:r>
              <a:t>Accounts (Id PK, Name, Description, Phone, Fax, Email, Website, Street, City, Country, PostalCode, Type, Industry, IncomeValue, IncomeCurrency, Employees, UserID, CampaignID , CreationTime, CreatorId, LastModificationTime, LastModifierId, IsDeleted, DeleterId, DeletionTime );</a:t>
            </a:r>
            <a:br/>
            <a:r>
              <a:t>Contacts (Id PK, FirstName, MiddleName, LastName, Description, Status, Source, Phone, Fax, Email, Website, Street, City, Country, PostalCode, Job, Department, AccountID, LeadID, UserID,  CampaignID, CreationTime, CreatorId, LastModificationTime, LastModifierId, IsDeleted, DeleterId, DeletionTime );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Model Logique Des Donnees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>
                <a:solidFill>
                  <a:srgbClr val="271811"/>
                </a:solidFill>
                <a:latin typeface="JetBrains Mono"/>
              </a:defRPr>
            </a:pPr>
            <a:r>
              <a:t>Opportunities (Id PK, Name, Description, AmountValue, AmountCurrency, Stage, Type, Probability, NextStep, ClosedAt, AccountID, ContactID, LeadID, OwnerID, CampaignID,  CreationTime, CreatorId, LastModificationTime, LastModifierId, IsDeleted, DeleterId, DeletionTime );</a:t>
            </a:r>
            <a:br/>
            <a:r>
              <a:t>Campaign (Id PK, Name, Description, Status, Budget, CostSoFar, ExpectedAccounts, ExpectedLeads, ExpectedContacts, ExpectedOpportunities, StartDate, EndDate, OwnerID, CreationTime, CreatorId, LastModificationTime, LastModifierId, IsDeleted, DeleterId, DeletionTime)</a:t>
            </a:r>
            <a:br/>
            <a:r>
              <a:t>        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Model Logique Des Donnees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>
                <a:solidFill>
                  <a:srgbClr val="271811"/>
                </a:solidFill>
                <a:latin typeface="JetBrains Mono"/>
              </a:defRPr>
            </a:pPr>
            <a:r>
              <a:t>Calls (Id PK, Name, Description, Status, Direction, StartTime, EndTime, Duration, PhoneNumber, AccountID, ContactID, OpportunityID, LeadID, OwnerID, CreationTime, CreatorId, LastModificationTime, LastModifierId, IsDeleted, DeleterId, DeletionTime );</a:t>
            </a:r>
            <a:br/>
            <a:r>
              <a:t>Meetings (Id, PK Name, Description, Status, StartTime, EndTime, Location, AccountID, ContactID, OpportunityID, LeadID, OwnerID, CreationTime, CreatorId, LastModificationTime, LastModifierId, IsDeleted, DeleterId, DeletionTime );</a:t>
            </a:r>
            <a:br/>
            <a:r>
              <a:t>Tasks (Id PK, Name, Description, Status, Priority, StartTime, EndTime, CompletedAt, AccountID, ContactID, OpportunityID, LeadID, OwnerID, CreationTime, CreatorId, LastModificationTime, LastModifierId, IsDeleted, DeleterId, DeletionTime );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Model Logique Des Donnees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>
                <a:solidFill>
                  <a:srgbClr val="271811"/>
                </a:solidFill>
                <a:latin typeface="JetBrains Mono"/>
              </a:defRPr>
            </a:pPr>
            <a:r>
              <a:t>Notes (Id PK, Title, Content, Type, AccountID, ContactID, OpportunityID, LeadID, OwnerID, CreationTime, CreatorId, LastModificationTime, LastModifierId, IsDeleted, DeleterId, DeletionTime );</a:t>
            </a:r>
            <a:br/>
            <a:r>
              <a:t>emails (Id PK, Subject, Body, Status, From, To, Cc, Bcc, SentAt, IsHtml, AccountID, ContactID, OpportunityID, LeadID, OwnerID, CreationTime, CreatorId, LastModificationTime, LastModifierId, IsDeleted, DeleterId, DeletionTime);</a:t>
            </a:r>
            <a:br/>
            <a:r>
              <a:t>        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La Conception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Model Logique Des Donnees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>
                <a:solidFill>
                  <a:srgbClr val="271811"/>
                </a:solidFill>
                <a:latin typeface="JetBrains Mono"/>
              </a:defRPr>
            </a:pPr>
            <a:r>
              <a:t>User (Id PK, username, passwordhash, name, surname, email, phone, CreationTime, CreatorId, LastModificationTime, LastModifierId, IsDeleted, DeleterId, DeletionTime);</a:t>
            </a:r>
            <a:br/>
            <a:r>
              <a:t>Role (Id PK, name);</a:t>
            </a:r>
            <a:br/>
            <a:r>
              <a:t>Permission (Id PK, name);</a:t>
            </a:r>
            <a:br/>
            <a:r>
              <a:t>RoleUser(IdRole PK, IdUser PK)</a:t>
            </a:r>
            <a:br/>
            <a:r>
              <a:t>PermissionGrants(IdPermission PK,IdRole PK,IdUser PK)</a:t>
            </a:r>
            <a:br/>
            <a:r>
              <a:t>    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188720"/>
            <a:ext cx="1097280" cy="45720"/>
          </a:xfrm>
          <a:prstGeom prst="rect">
            <a:avLst/>
          </a:prstGeom>
          <a:solidFill>
            <a:srgbClr val="EB0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800"/>
              </a:spcAft>
              <a:defRPr b="1" sz="4400">
                <a:solidFill>
                  <a:srgbClr val="FFFFFF"/>
                </a:solidFill>
                <a:latin typeface="JetBrains Mono"/>
              </a:defRPr>
            </a:pPr>
            <a:r>
              <a:t>Réalisation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EB0025"/>
                </a:solidFill>
                <a:latin typeface="JetBrains Mono"/>
              </a:rPr>
              <a:t>•  </a:t>
            </a:r>
            <a:r>
              <a:rPr b="1" sz="1700">
                <a:solidFill>
                  <a:srgbClr val="FFFFFF"/>
                </a:solidFill>
                <a:latin typeface="JetBrains Mono"/>
              </a:rPr>
              <a:t>1 : </a:t>
            </a:r>
            <a:r>
              <a:rPr sz="1600">
                <a:solidFill>
                  <a:srgbClr val="94A3B8"/>
                </a:solidFill>
                <a:latin typeface="JetBrains Mono"/>
              </a:rPr>
              <a:t>Les Languages De Programmation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EB0025"/>
                </a:solidFill>
                <a:latin typeface="JetBrains Mono"/>
              </a:rPr>
              <a:t>•  </a:t>
            </a:r>
            <a:r>
              <a:rPr b="1" sz="1700">
                <a:solidFill>
                  <a:srgbClr val="FFFFFF"/>
                </a:solidFill>
                <a:latin typeface="JetBrains Mono"/>
              </a:rPr>
              <a:t>2 : </a:t>
            </a:r>
            <a:r>
              <a:rPr sz="1600">
                <a:solidFill>
                  <a:srgbClr val="94A3B8"/>
                </a:solidFill>
                <a:latin typeface="JetBrains Mono"/>
              </a:rPr>
              <a:t>Les IDEs Utilisees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EB0025"/>
                </a:solidFill>
                <a:latin typeface="JetBrains Mono"/>
              </a:rPr>
              <a:t>•  </a:t>
            </a:r>
            <a:r>
              <a:rPr b="1" sz="1700">
                <a:solidFill>
                  <a:srgbClr val="FFFFFF"/>
                </a:solidFill>
                <a:latin typeface="JetBrains Mono"/>
              </a:rPr>
              <a:t>3 : </a:t>
            </a:r>
            <a:r>
              <a:rPr sz="1600">
                <a:solidFill>
                  <a:srgbClr val="94A3B8"/>
                </a:solidFill>
                <a:latin typeface="JetBrains Mono"/>
              </a:rPr>
              <a:t>Le SGBD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EB0025"/>
                </a:solidFill>
                <a:latin typeface="JetBrains Mono"/>
              </a:rPr>
              <a:t>•  </a:t>
            </a:r>
            <a:r>
              <a:rPr b="1" sz="1700">
                <a:solidFill>
                  <a:srgbClr val="FFFFFF"/>
                </a:solidFill>
                <a:latin typeface="JetBrains Mono"/>
              </a:rPr>
              <a:t>4 : </a:t>
            </a:r>
            <a:r>
              <a:rPr sz="1600">
                <a:solidFill>
                  <a:srgbClr val="94A3B8"/>
                </a:solidFill>
                <a:latin typeface="JetBrains Mono"/>
              </a:rPr>
              <a:t>L'Architecture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EB0025"/>
                </a:solidFill>
                <a:latin typeface="JetBrains Mono"/>
              </a:rPr>
              <a:t>•  </a:t>
            </a:r>
            <a:r>
              <a:rPr b="1" sz="1700">
                <a:solidFill>
                  <a:srgbClr val="FFFFFF"/>
                </a:solidFill>
                <a:latin typeface="JetBrains Mono"/>
              </a:rPr>
              <a:t>5 : </a:t>
            </a:r>
            <a:r>
              <a:rPr sz="1600">
                <a:solidFill>
                  <a:srgbClr val="94A3B8"/>
                </a:solidFill>
                <a:latin typeface="JetBrains Mono"/>
              </a:rPr>
              <a:t>Les Captures D'Ecran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188720"/>
            <a:ext cx="1097280" cy="45720"/>
          </a:xfrm>
          <a:prstGeom prst="rect">
            <a:avLst/>
          </a:prstGeom>
          <a:solidFill>
            <a:srgbClr val="EB0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b="1" sz="4400">
                <a:solidFill>
                  <a:srgbClr val="FFFFFF"/>
                </a:solidFill>
                <a:latin typeface="JetBrains Mono"/>
              </a:defRPr>
            </a:pPr>
            <a:r>
              <a:t>Les Captures D'Ecran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Accueil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Accueil</a:t>
            </a:r>
          </a:p>
        </p:txBody>
      </p:sp>
      <p:pic>
        <p:nvPicPr>
          <p:cNvPr id="4" name="Picture 3" descr="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Comptes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Details D'un compte</a:t>
            </a:r>
          </a:p>
        </p:txBody>
      </p:sp>
      <p:pic>
        <p:nvPicPr>
          <p:cNvPr id="4" name="Picture 3" descr="account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Comptes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List Des Comptes</a:t>
            </a:r>
          </a:p>
        </p:txBody>
      </p:sp>
      <p:pic>
        <p:nvPicPr>
          <p:cNvPr id="4" name="Picture 3" descr="account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Prospects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List Des Prospects</a:t>
            </a:r>
          </a:p>
        </p:txBody>
      </p:sp>
      <p:pic>
        <p:nvPicPr>
          <p:cNvPr id="4" name="Picture 3" descr="prospects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Prospects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La Qualification D'un Prospect</a:t>
            </a:r>
          </a:p>
        </p:txBody>
      </p:sp>
      <p:pic>
        <p:nvPicPr>
          <p:cNvPr id="4" name="Picture 3" descr="qualifyingaprosp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Prospects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La Conversion D'un Prospect</a:t>
            </a:r>
          </a:p>
        </p:txBody>
      </p:sp>
      <p:pic>
        <p:nvPicPr>
          <p:cNvPr id="4" name="Picture 3" descr="convertingaprosp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Contacts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List Des Contacts</a:t>
            </a:r>
          </a:p>
        </p:txBody>
      </p:sp>
      <p:pic>
        <p:nvPicPr>
          <p:cNvPr id="4" name="Picture 3" descr="contact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Opportunites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La Creation D'Une Opportunite</a:t>
            </a:r>
          </a:p>
        </p:txBody>
      </p:sp>
      <p:pic>
        <p:nvPicPr>
          <p:cNvPr id="4" name="Picture 3" descr="creatinganopport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Opportunites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Les Details D'Une Opportunite</a:t>
            </a:r>
          </a:p>
        </p:txBody>
      </p:sp>
      <p:pic>
        <p:nvPicPr>
          <p:cNvPr id="4" name="Picture 3" descr="op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Opportunites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Le Cloture D'Une Oppotunite</a:t>
            </a:r>
          </a:p>
        </p:txBody>
      </p:sp>
      <p:pic>
        <p:nvPicPr>
          <p:cNvPr id="4" name="Picture 3" descr="closinganopport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855878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188720"/>
            <a:ext cx="1097280" cy="45720"/>
          </a:xfrm>
          <a:prstGeom prst="rect">
            <a:avLst/>
          </a:prstGeom>
          <a:solidFill>
            <a:srgbClr val="EB0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800"/>
              </a:spcAft>
              <a:defRPr b="1" sz="4400">
                <a:solidFill>
                  <a:srgbClr val="FFFFFF"/>
                </a:solidFill>
                <a:latin typeface="JetBrains Mono"/>
              </a:defRPr>
            </a:pPr>
            <a:r>
              <a:t>Conclusion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EB0025"/>
                </a:solidFill>
                <a:latin typeface="JetBrains Mono"/>
              </a:rPr>
              <a:t>•  </a:t>
            </a:r>
            <a:r>
              <a:rPr b="1" sz="1700">
                <a:solidFill>
                  <a:srgbClr val="FFFFFF"/>
                </a:solidFill>
                <a:latin typeface="JetBrains Mono"/>
              </a:rPr>
              <a:t>1 : </a:t>
            </a:r>
            <a:r>
              <a:rPr sz="1600">
                <a:solidFill>
                  <a:srgbClr val="94A3B8"/>
                </a:solidFill>
                <a:latin typeface="JetBrains Mono"/>
              </a:rPr>
              <a:t>Ce que ce projet apporte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EB0025"/>
                </a:solidFill>
                <a:latin typeface="JetBrains Mono"/>
              </a:rPr>
              <a:t>•  </a:t>
            </a:r>
            <a:r>
              <a:rPr b="1" sz="1700">
                <a:solidFill>
                  <a:srgbClr val="FFFFFF"/>
                </a:solidFill>
                <a:latin typeface="JetBrains Mono"/>
              </a:rPr>
              <a:t>2 : </a:t>
            </a:r>
            <a:r>
              <a:rPr sz="1600">
                <a:solidFill>
                  <a:srgbClr val="94A3B8"/>
                </a:solidFill>
                <a:latin typeface="JetBrains Mono"/>
              </a:rPr>
              <a:t>Difficultés rencontrées</a:t>
            </a:r>
          </a:p>
          <a:p>
            <a:pPr>
              <a:spcAft>
                <a:spcPts val="1600"/>
              </a:spcAft>
            </a:pPr>
            <a:r>
              <a:rPr b="1" sz="1800">
                <a:solidFill>
                  <a:srgbClr val="EB0025"/>
                </a:solidFill>
                <a:latin typeface="JetBrains Mono"/>
              </a:rPr>
              <a:t>•  </a:t>
            </a:r>
            <a:r>
              <a:rPr b="1" sz="1700">
                <a:solidFill>
                  <a:srgbClr val="FFFFFF"/>
                </a:solidFill>
                <a:latin typeface="JetBrains Mono"/>
              </a:rPr>
              <a:t>3 : </a:t>
            </a:r>
            <a:r>
              <a:rPr sz="1600">
                <a:solidFill>
                  <a:srgbClr val="94A3B8"/>
                </a:solidFill>
                <a:latin typeface="JetBrains Mono"/>
              </a:rPr>
              <a:t>Prespective Futur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Ce que ce projet apporte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291840" cy="1371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2918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JetBrains Mono"/>
              </a:defRPr>
            </a:pPr>
            <a:r>
              <a:t>CHERCHÉ À FAIRE</a:t>
            </a:r>
          </a:p>
          <a:p>
            <a:pPr>
              <a:defRPr sz="1350">
                <a:solidFill>
                  <a:srgbClr val="271811"/>
                </a:solidFill>
                <a:latin typeface="JetBrains Mono"/>
              </a:defRPr>
            </a:pPr>
            <a:r>
              <a:t>Doter UniFlow-Suite d'un CRM moderne, sécurisé et évolutif, hébergeable en Algérie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749040"/>
            <a:ext cx="1371600" cy="27432"/>
          </a:xfrm>
          <a:prstGeom prst="rect">
            <a:avLst/>
          </a:prstGeom>
          <a:solidFill>
            <a:srgbClr val="EB0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2011680"/>
            <a:ext cx="3291840" cy="1371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194560"/>
            <a:ext cx="32918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JetBrains Mono"/>
              </a:defRPr>
            </a:pPr>
            <a:r>
              <a:t>RÉALISÉ</a:t>
            </a:r>
          </a:p>
          <a:p>
            <a:pPr>
              <a:defRPr sz="1350">
                <a:solidFill>
                  <a:srgbClr val="271811"/>
                </a:solidFill>
                <a:latin typeface="JetBrains Mono"/>
              </a:defRPr>
            </a:pPr>
            <a:r>
              <a:t>Une application web complète couvrant le cycle commercial, les activités, l'audit et les analytiques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2011680"/>
            <a:ext cx="3291840" cy="13716"/>
          </a:xfrm>
          <a:prstGeom prst="rect">
            <a:avLst/>
          </a:prstGeom>
          <a:solidFill>
            <a:srgbClr val="EB0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194560"/>
            <a:ext cx="32918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EB0025"/>
                </a:solidFill>
                <a:latin typeface="JetBrains Mono"/>
              </a:defRPr>
            </a:pPr>
            <a:r>
              <a:t>OBTENU</a:t>
            </a:r>
          </a:p>
          <a:p>
            <a:pPr>
              <a:defRPr sz="1350">
                <a:solidFill>
                  <a:srgbClr val="271811"/>
                </a:solidFill>
                <a:latin typeface="JetBrains Mono"/>
              </a:defRPr>
            </a:pPr>
            <a:r>
              <a:t>Quatre objectifs techniques atteints et démontrables, objectifs métier outillés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0624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>
                <a:solidFill>
                  <a:srgbClr val="271811"/>
                </a:solidFill>
                <a:latin typeface="JetBrains Mono"/>
              </a:defRPr>
            </a:pPr>
            <a:r>
              <a:t>Valeur ajoutée : un module intégré à un écosystème existant, hébergé en Algérie, porté par une architecture qui absorbera les évolutions sans être réécrite.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BILAN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Difficultés rencontrées et arbitrages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3328416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B0025"/>
                </a:solidFill>
                <a:latin typeface="JetBrains Mono"/>
              </a:defRPr>
            </a:pPr>
            <a:r>
              <a:t>Difficulté 1</a:t>
            </a:r>
          </a:p>
          <a:p>
            <a:pPr>
              <a:spcAft>
                <a:spcPts val="800"/>
              </a:spcAft>
              <a:defRPr b="1" sz="1800">
                <a:solidFill>
                  <a:srgbClr val="271811"/>
                </a:solidFill>
                <a:latin typeface="JetBrains Mono"/>
              </a:defRPr>
            </a:pPr>
            <a:r>
              <a:t>Diversité des canaux de communication</a:t>
            </a:r>
          </a:p>
          <a:p>
            <a:pPr>
              <a:defRPr sz="1300">
                <a:solidFill>
                  <a:srgbClr val="64748B"/>
                </a:solidFill>
                <a:latin typeface="JetBrains Mono"/>
              </a:defRPr>
            </a:pPr>
            <a:r>
              <a:t>Téléphone, e-mail, réseaux sociaux, messagerie : les préférences des clients varient fortement.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114800"/>
            <a:ext cx="3328416" cy="13716"/>
          </a:xfrm>
          <a:prstGeom prst="rect">
            <a:avLst/>
          </a:prstGeom>
          <a:solidFill>
            <a:srgbClr val="EB0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332841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JetBrains Mono"/>
              </a:defRPr>
            </a:pPr>
            <a:r>
              <a:t>ARBITRAGE</a:t>
            </a:r>
          </a:p>
          <a:p>
            <a:pPr>
              <a:defRPr sz="1300">
                <a:solidFill>
                  <a:srgbClr val="271811"/>
                </a:solidFill>
                <a:latin typeface="JetBrains Mono"/>
              </a:defRPr>
            </a:pPr>
            <a:r>
              <a:t>Application réservée aux équipes marketing : le client garde son canal, l'outil centralise le suivi.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5696" y="1920240"/>
            <a:ext cx="3328416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B0025"/>
                </a:solidFill>
                <a:latin typeface="JetBrains Mono"/>
              </a:defRPr>
            </a:pPr>
            <a:r>
              <a:t>Difficulté 2</a:t>
            </a:r>
          </a:p>
          <a:p>
            <a:pPr>
              <a:spcAft>
                <a:spcPts val="800"/>
              </a:spcAft>
              <a:defRPr b="1" sz="1800">
                <a:solidFill>
                  <a:srgbClr val="271811"/>
                </a:solidFill>
                <a:latin typeface="JetBrains Mono"/>
              </a:defRPr>
            </a:pPr>
            <a:r>
              <a:t>Certificat HTTPS de production</a:t>
            </a:r>
          </a:p>
          <a:p>
            <a:pPr>
              <a:defRPr sz="1300">
                <a:solidFill>
                  <a:srgbClr val="64748B"/>
                </a:solidFill>
                <a:latin typeface="JetBrains Mono"/>
              </a:defRPr>
            </a:pPr>
            <a:r>
              <a:t>Un certificat délivré par une autorité reconnue n'a pas pu être acquis dans le cadre du projet.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5696" y="4114800"/>
            <a:ext cx="3328416" cy="13716"/>
          </a:xfrm>
          <a:prstGeom prst="rect">
            <a:avLst/>
          </a:prstGeom>
          <a:solidFill>
            <a:srgbClr val="EB0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5696" y="4297680"/>
            <a:ext cx="332841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JetBrains Mono"/>
              </a:defRPr>
            </a:pPr>
            <a:r>
              <a:t>ARBITRAGE</a:t>
            </a:r>
          </a:p>
          <a:p>
            <a:pPr>
              <a:defRPr sz="1300">
                <a:solidFill>
                  <a:srgbClr val="271811"/>
                </a:solidFill>
                <a:latin typeface="JetBrains Mono"/>
              </a:defRPr>
            </a:pPr>
            <a:r>
              <a:t>Certificat auto-signé : les échanges sont chiffrés, mais le navigateur affiche un avertissement.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9872" y="1920240"/>
            <a:ext cx="3328416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EB0025"/>
                </a:solidFill>
                <a:latin typeface="JetBrains Mono"/>
              </a:defRPr>
            </a:pPr>
            <a:r>
              <a:t>Difficulté 3</a:t>
            </a:r>
          </a:p>
          <a:p>
            <a:pPr>
              <a:spcAft>
                <a:spcPts val="800"/>
              </a:spcAft>
              <a:defRPr b="1" sz="1800">
                <a:solidFill>
                  <a:srgbClr val="271811"/>
                </a:solidFill>
                <a:latin typeface="JetBrains Mono"/>
              </a:defRPr>
            </a:pPr>
            <a:r>
              <a:t>Service d'envoi d'e-mails</a:t>
            </a:r>
          </a:p>
          <a:p>
            <a:pPr>
              <a:defRPr sz="1300">
                <a:solidFill>
                  <a:srgbClr val="64748B"/>
                </a:solidFill>
                <a:latin typeface="JetBrains Mono"/>
              </a:defRPr>
            </a:pPr>
            <a:r>
              <a:t>Une adresse par utilisateur exigerait que chacun possède et configure un compte Google.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9872" y="4114800"/>
            <a:ext cx="3328416" cy="13716"/>
          </a:xfrm>
          <a:prstGeom prst="rect">
            <a:avLst/>
          </a:prstGeom>
          <a:solidFill>
            <a:srgbClr val="EB0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4297680"/>
            <a:ext cx="332841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JetBrains Mono"/>
              </a:defRPr>
            </a:pPr>
            <a:r>
              <a:t>ARBITRAGE</a:t>
            </a:r>
          </a:p>
          <a:p>
            <a:pPr>
              <a:defRPr sz="1300">
                <a:solidFill>
                  <a:srgbClr val="271811"/>
                </a:solidFill>
                <a:latin typeface="JetBrains Mono"/>
              </a:defRPr>
            </a:pPr>
            <a:r>
              <a:t>Une seule adresse Gmail dédiée à l'application pour l'ensemble des envois.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0025"/>
                </a:solidFill>
                <a:latin typeface="JetBrains Mono"/>
              </a:defRPr>
            </a:pPr>
            <a:r>
              <a:t>BILAN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271811"/>
                </a:solidFill>
                <a:latin typeface="JetBrains Mono"/>
              </a:defRPr>
            </a:pPr>
            <a:r>
              <a:t>Perspectives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5242255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Aft>
                <a:spcPts val="400"/>
              </a:spcAft>
              <a:defRPr sz="1200">
                <a:solidFill>
                  <a:srgbClr val="EB0025"/>
                </a:solidFill>
                <a:latin typeface="JetBrains Mono"/>
              </a:defRPr>
            </a:pPr>
            <a:r>
              <a:t>01</a:t>
            </a:r>
          </a:p>
          <a:p>
            <a:pPr>
              <a:spcAft>
                <a:spcPts val="600"/>
              </a:spcAft>
              <a:defRPr b="1" sz="1600">
                <a:solidFill>
                  <a:srgbClr val="271811"/>
                </a:solidFill>
                <a:latin typeface="JetBrains Mono"/>
              </a:defRPr>
            </a:pPr>
            <a:r>
              <a:t>Automatisation des campagnes d'e-mails</a:t>
            </a:r>
          </a:p>
          <a:p>
            <a:pPr>
              <a:defRPr sz="1250">
                <a:solidFill>
                  <a:srgbClr val="64748B"/>
                </a:solidFill>
                <a:latin typeface="JetBrains Mono"/>
              </a:defRPr>
            </a:pPr>
            <a:r>
              <a:t>Envoi en masse de messages personnalisés, offres ciblées, reconquête des clients inactifs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242255" cy="36576"/>
          </a:xfrm>
          <a:prstGeom prst="rect">
            <a:avLst/>
          </a:prstGeom>
          <a:solidFill>
            <a:srgbClr val="EB0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920240"/>
            <a:ext cx="5242255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Aft>
                <a:spcPts val="400"/>
              </a:spcAft>
              <a:defRPr sz="1200">
                <a:solidFill>
                  <a:srgbClr val="EB0025"/>
                </a:solidFill>
                <a:latin typeface="JetBrains Mono"/>
              </a:defRPr>
            </a:pPr>
            <a:r>
              <a:t>02</a:t>
            </a:r>
          </a:p>
          <a:p>
            <a:pPr>
              <a:spcAft>
                <a:spcPts val="600"/>
              </a:spcAft>
              <a:defRPr b="1" sz="1600">
                <a:solidFill>
                  <a:srgbClr val="271811"/>
                </a:solidFill>
                <a:latin typeface="JetBrains Mono"/>
              </a:defRPr>
            </a:pPr>
            <a:r>
              <a:t>Intelligence artificielle</a:t>
            </a:r>
          </a:p>
          <a:p>
            <a:pPr>
              <a:defRPr sz="1250">
                <a:solidFill>
                  <a:srgbClr val="64748B"/>
                </a:solidFill>
                <a:latin typeface="JetBrains Mono"/>
              </a:defRPr>
            </a:pPr>
            <a:r>
              <a:t>Identification des clients à traiter en priorité pour mieux répartir l'effort commercial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920240"/>
            <a:ext cx="5242255" cy="36576"/>
          </a:xfrm>
          <a:prstGeom prst="rect">
            <a:avLst/>
          </a:prstGeom>
          <a:solidFill>
            <a:srgbClr val="EB0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794760"/>
            <a:ext cx="5242255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Aft>
                <a:spcPts val="400"/>
              </a:spcAft>
              <a:defRPr sz="1200">
                <a:solidFill>
                  <a:srgbClr val="EB0025"/>
                </a:solidFill>
                <a:latin typeface="JetBrains Mono"/>
              </a:defRPr>
            </a:pPr>
            <a:r>
              <a:t>03</a:t>
            </a:r>
          </a:p>
          <a:p>
            <a:pPr>
              <a:spcAft>
                <a:spcPts val="600"/>
              </a:spcAft>
              <a:defRPr b="1" sz="1600">
                <a:solidFill>
                  <a:srgbClr val="271811"/>
                </a:solidFill>
                <a:latin typeface="JetBrains Mono"/>
              </a:defRPr>
            </a:pPr>
            <a:r>
              <a:t>Analyse décisionnelle</a:t>
            </a:r>
          </a:p>
          <a:p>
            <a:pPr>
              <a:defRPr sz="1250">
                <a:solidFill>
                  <a:srgbClr val="64748B"/>
                </a:solidFill>
                <a:latin typeface="JetBrains Mono"/>
              </a:defRPr>
            </a:pPr>
            <a:r>
              <a:t>SQL Server Analysis Services et Power BI : rapports détaillés et analyses multidimensionnelles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794760"/>
            <a:ext cx="5242255" cy="36576"/>
          </a:xfrm>
          <a:prstGeom prst="rect">
            <a:avLst/>
          </a:prstGeom>
          <a:solidFill>
            <a:srgbClr val="EB0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3794760"/>
            <a:ext cx="5242255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Aft>
                <a:spcPts val="400"/>
              </a:spcAft>
              <a:defRPr sz="1200">
                <a:solidFill>
                  <a:srgbClr val="EB0025"/>
                </a:solidFill>
                <a:latin typeface="JetBrains Mono"/>
              </a:defRPr>
            </a:pPr>
            <a:r>
              <a:t>04</a:t>
            </a:r>
          </a:p>
          <a:p>
            <a:pPr>
              <a:spcAft>
                <a:spcPts val="600"/>
              </a:spcAft>
              <a:defRPr b="1" sz="1600">
                <a:solidFill>
                  <a:srgbClr val="271811"/>
                </a:solidFill>
                <a:latin typeface="JetBrains Mono"/>
              </a:defRPr>
            </a:pPr>
            <a:r>
              <a:t>Infrastructure de communication et de sécurité</a:t>
            </a:r>
          </a:p>
          <a:p>
            <a:pPr>
              <a:defRPr sz="1250">
                <a:solidFill>
                  <a:srgbClr val="64748B"/>
                </a:solidFill>
                <a:latin typeface="JetBrains Mono"/>
              </a:defRPr>
            </a:pPr>
            <a:r>
              <a:t>Serveur SMTP propre et certificat SSL délivré par une autorité reconnue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794760"/>
            <a:ext cx="5242255" cy="36576"/>
          </a:xfrm>
          <a:prstGeom prst="rect">
            <a:avLst/>
          </a:prstGeom>
          <a:solidFill>
            <a:srgbClr val="EB0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